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connects a model's language-generation ability to a maintained, task-specific knowledge base. It is especially useful when answers must reflect current or organization-specific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Similarity thresholds are heuristics. Grounding improves traceability, but it does not itself establish factual correctness or prevent prompt injection. Local mode returns “I don't know” when no passage meets its configured threshold; it does not call the generation model for an empty result. Konnect mode uses the AI RAG Injector plugin to retrieve and inject context.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paths are alternatives, not consecutive stages. Local OSS uses ordinary proxy routes. Konnect mode connects a self-managed Kong data plane to a Konnect control plane. Compose and Terraform in this repository run on a local Docker environment; Terraform is not currently a cloud-platform deployment.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Spring sends chat-completion requests to Kong through configured routes; the application does not call the model provider directly. In local mode, Kong OSS proxies chat and embedding HTTP requests to Ollama using declarative, DB-less configuration in kong/local.yaml. In Konnect mode, Kong Gateway routes traffic through the configured AI Proxy Advanced and AI RAG Injector plugins. The local proxy is real Kong traffic routing, but local retrieval is implemented in Spring. Do not describe the OSS configuration as having the Konnect AI plugins enabled.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bootstrap script registers the data-plane client certificate and upserts this project's OpenAI service, RAG/support routes, AI Proxy Advanced plugin, and AI RAG Injector plugin. The configured RAG plugin uses OpenAI embeddings and a Redis Stack vector index; the AI Proxy sends grounded chat requests to the configured OpenAI model. Bootstrap automates project-scoped Konnect configuration; it is not a substitute for account setup, licensing, approved data handling, or credential management.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ChatController handles HTTP requests; ChatService selects the RAG or support instructions and calls the gateway client. KongAiGatewayClient handles the HTTP request to Kong and reports gateway failures rather than silently returning an empty answer. Local mode adds startup indexing and question-time retrieval through a KnowledgeContextProvider; gateway mode delegates retrieval to Kong. The application enforces request validation and includes source titles in locally retrieved context.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Markdown/text files are mounted read-only from knowledge/. At startup, Spring chunks and embeds the documents through Kong's embedding route to Ollama, then builds an in-memory vector index. For each question, Spring embeds the query, ranks passages by cosine similarity, and supplies the best matches to Kong's chat route. Kong proxies to the local Ollama chat model; the answer can cite the source document title. An unavailable/empty knowledge corpus or failed embedding prevents startup; the vector index is intentionally not a persistent, production-scale store. `make up` starts the local stack and provisions its models; `make smoke` exercises representative requests.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files describe local and Konnect container stacks; kong/local.yaml describes the local gateway routes. Terraform declares Docker networks, images, containers, volumes, ports, and mode-specific configuration in terraform/. The local/konnect variable selects which resources and settings are provisioned; terraform plan previews changes before apply. Declarative configuration makes setup reproducible, reviewable, and easier to change consistently than manual container and gateway setup. make terraform-up applies the configuration and waits for API readiness; make terraform-down removes Terraform-managed resources. IaC makes the implemented local Docker setup repeatable, but does not automatically make it production-ready.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 published ports bind to loopback; Kong's Admin API and the Redis service are not published to the host in the provided stacks. Konnect mode sends provider credentials to Kong configuration and sends documents to the external embedding provider during ingestion. Only use data approved for those services. Keep generated credentials, certificates, and Terraform state private; Terraform state contains the Redis password. This is a development/reference deployment. Before exposing it, add authentication/authorization, tenant-scoped retrieval, access controls, TLS, secret management, monitoring, backups, retention policy, and capacity planning. System instructions and similarity thresholds are not security boundaries; the support prompt is not a moderation/guardrail plugin.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highlighting the architecture's central design choice: keep the client API consistent while making retrieval and model connectivity selectable by deployment mode. Suggested demo: start with `make up`, ask about the release checklist via `POST /api/rag/chat`, then contrast the local and Konnect architecture. Sample request: {"message":"What is the project release checklist?"}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extBox 1"/>
          <p:cNvSpPr txBox="1"/>
          <p:nvPr/>
        </p:nvSpPr>
        <p:spPr>
          <a:xfrm>
            <a:off x="566928" y="320040"/>
            <a:ext cx="4937760" cy="256032"/>
          </a:xfrm>
          <a:prstGeom prst="rect">
            <a:avLst/>
          </a:prstGeom>
          <a:noFill/>
        </p:spPr>
        <p:txBody>
          <a:bodyPr wrap="square" lIns="36576" rIns="36576" tIns="36576" bIns="36576" anchor="t">
            <a:spAutoFit/>
          </a:bodyPr>
          <a:lstStyle/>
          <a:p>
            <a:pPr algn="l">
              <a:spcAft>
                <a:spcPts val="400"/>
              </a:spcAft>
              <a:defRPr sz="1000" b="1" i="0">
                <a:solidFill>
                  <a:srgbClr val="42D3E6"/>
                </a:solidFill>
                <a:latin typeface="Aptos"/>
              </a:defRPr>
            </a:pPr>
            <a:r>
              <a:t>01 • FOUNDATIONS</a:t>
            </a:r>
          </a:p>
        </p:txBody>
      </p:sp>
      <p:sp>
        <p:nvSpPr>
          <p:cNvPr id="3" name="TextBox 2"/>
          <p:cNvSpPr txBox="1"/>
          <p:nvPr/>
        </p:nvSpPr>
        <p:spPr>
          <a:xfrm>
            <a:off x="566928" y="658368"/>
            <a:ext cx="10972800" cy="502920"/>
          </a:xfrm>
          <a:prstGeom prst="rect">
            <a:avLst/>
          </a:prstGeom>
          <a:noFill/>
        </p:spPr>
        <p:txBody>
          <a:bodyPr wrap="square" lIns="36576" rIns="36576" tIns="36576" bIns="36576" anchor="t">
            <a:spAutoFit/>
          </a:bodyPr>
          <a:lstStyle/>
          <a:p>
            <a:pPr algn="l">
              <a:spcAft>
                <a:spcPts val="400"/>
              </a:spcAft>
              <a:defRPr sz="2700" b="1" i="0">
                <a:solidFill>
                  <a:srgbClr val="F4F7FF"/>
                </a:solidFill>
                <a:latin typeface="Aptos"/>
              </a:defRPr>
            </a:pPr>
            <a:r>
              <a:t>RAG: give an LLM relevant knowledge</a:t>
            </a:r>
          </a:p>
        </p:txBody>
      </p:sp>
      <p:sp>
        <p:nvSpPr>
          <p:cNvPr id="4" name="TextBox 3"/>
          <p:cNvSpPr txBox="1"/>
          <p:nvPr/>
        </p:nvSpPr>
        <p:spPr>
          <a:xfrm>
            <a:off x="585216" y="1197864"/>
            <a:ext cx="10972800" cy="384048"/>
          </a:xfrm>
          <a:prstGeom prst="rect">
            <a:avLst/>
          </a:prstGeom>
          <a:noFill/>
        </p:spPr>
        <p:txBody>
          <a:bodyPr wrap="square" lIns="36576" rIns="36576" tIns="36576" bIns="36576" anchor="t">
            <a:spAutoFit/>
          </a:bodyPr>
          <a:lstStyle/>
          <a:p>
            <a:pPr algn="l">
              <a:spcAft>
                <a:spcPts val="400"/>
              </a:spcAft>
              <a:defRPr sz="1200" b="0" i="0">
                <a:solidFill>
                  <a:srgbClr val="AEBBD3"/>
                </a:solidFill>
                <a:latin typeface="Aptos"/>
              </a:defRPr>
            </a:pPr>
            <a:r>
              <a:t>Connect language generation to a maintained, task-specific knowledge base.</a:t>
            </a:r>
          </a:p>
        </p:txBody>
      </p:sp>
      <p:sp>
        <p:nvSpPr>
          <p:cNvPr id="5" name="Rectangle 4"/>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6510528"/>
            <a:ext cx="6400800" cy="164592"/>
          </a:xfrm>
          <a:prstGeom prst="rect">
            <a:avLst/>
          </a:prstGeom>
          <a:noFill/>
        </p:spPr>
        <p:txBody>
          <a:bodyPr wrap="square" lIns="36576" rIns="36576" tIns="36576" bIns="36576" anchor="t">
            <a:spAutoFit/>
          </a:bodyPr>
          <a:lstStyle/>
          <a:p>
            <a:pPr algn="l">
              <a:spcAft>
                <a:spcPts val="400"/>
              </a:spcAft>
              <a:defRPr sz="800" b="1" i="0">
                <a:solidFill>
                  <a:srgbClr val="AEBBD3"/>
                </a:solidFill>
                <a:latin typeface="Aptos"/>
              </a:defRPr>
            </a:pPr>
            <a:r>
              <a:t>KONG CHATBOT ARCHITECTURE   •   01 / 10</a:t>
            </a:r>
          </a:p>
        </p:txBody>
      </p:sp>
      <p:sp>
        <p:nvSpPr>
          <p:cNvPr id="7" name="Rounded Rectangle 6"/>
          <p:cNvSpPr/>
          <p:nvPr/>
        </p:nvSpPr>
        <p:spPr>
          <a:xfrm>
            <a:off x="594360" y="1965960"/>
            <a:ext cx="6446520" cy="3977639"/>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31720"/>
            <a:ext cx="5852160" cy="3200400"/>
          </a:xfrm>
          <a:prstGeom prst="rect">
            <a:avLst/>
          </a:prstGeom>
          <a:noFill/>
        </p:spPr>
        <p:txBody>
          <a:bodyPr wrap="square" lIns="45720" rIns="45720" tIns="27432" bIns="27432">
            <a:spAutoFit/>
          </a:bodyPr>
          <a:lstStyle/>
          <a:p>
            <a:pPr>
              <a:spcAft>
                <a:spcPts val="1800"/>
              </a:spcAft>
              <a:defRPr sz="1700">
                <a:solidFill>
                  <a:srgbClr val="F4F7FF"/>
                </a:solidFill>
                <a:latin typeface="Aptos"/>
              </a:defRPr>
            </a:pPr>
            <a:r>
              <a:rPr sz="1600">
                <a:solidFill>
                  <a:srgbClr val="42D3E6"/>
                </a:solidFill>
              </a:rPr>
              <a:t>●  </a:t>
            </a:r>
            <a:r>
              <a:rPr b="1" sz="1700">
                <a:solidFill>
                  <a:srgbClr val="F4F7FF"/>
                </a:solidFill>
              </a:rPr>
              <a:t>Retrieve relevant passages. </a:t>
            </a:r>
            <a:r>
              <a:rPr sz="1700">
                <a:solidFill>
                  <a:srgbClr val="F4F7FF"/>
                </a:solidFill>
              </a:rPr>
              <a:t>Search a knowledge source and add the best excerpts to the user's question.</a:t>
            </a:r>
          </a:p>
          <a:p>
            <a:pPr>
              <a:spcAft>
                <a:spcPts val="1800"/>
              </a:spcAft>
              <a:defRPr sz="1700">
                <a:solidFill>
                  <a:srgbClr val="F4F7FF"/>
                </a:solidFill>
                <a:latin typeface="Aptos"/>
              </a:defRPr>
            </a:pPr>
            <a:r>
              <a:rPr sz="1600">
                <a:solidFill>
                  <a:srgbClr val="42D3E6"/>
                </a:solidFill>
              </a:rPr>
              <a:t>●  </a:t>
            </a:r>
            <a:r>
              <a:rPr b="1" sz="1700">
                <a:solidFill>
                  <a:srgbClr val="F4F7FF"/>
                </a:solidFill>
              </a:rPr>
              <a:t>Bring your own knowledge. </a:t>
            </a:r>
            <a:r>
              <a:rPr sz="1700">
                <a:solidFill>
                  <a:srgbClr val="F4F7FF"/>
                </a:solidFill>
              </a:rPr>
              <a:t>The model can use project-specific material that was not in its original training data.</a:t>
            </a:r>
          </a:p>
          <a:p>
            <a:pPr>
              <a:spcAft>
                <a:spcPts val="1800"/>
              </a:spcAft>
              <a:defRPr sz="1700">
                <a:solidFill>
                  <a:srgbClr val="F4F7FF"/>
                </a:solidFill>
                <a:latin typeface="Aptos"/>
              </a:defRPr>
            </a:pPr>
            <a:r>
              <a:rPr sz="1600">
                <a:solidFill>
                  <a:srgbClr val="42D3E6"/>
                </a:solidFill>
              </a:rPr>
              <a:t>●  </a:t>
            </a:r>
            <a:r>
              <a:rPr b="1" sz="1700">
                <a:solidFill>
                  <a:srgbClr val="F4F7FF"/>
                </a:solidFill>
              </a:rPr>
              <a:t>Ground the response. </a:t>
            </a:r>
            <a:r>
              <a:rPr sz="1700">
                <a:solidFill>
                  <a:srgbClr val="F4F7FF"/>
                </a:solidFill>
              </a:rPr>
              <a:t>In this project, Markdown and text files under `knowledge/` supply the context.</a:t>
            </a:r>
          </a:p>
        </p:txBody>
      </p:sp>
      <p:sp>
        <p:nvSpPr>
          <p:cNvPr id="9" name="Rounded Rectangle 8"/>
          <p:cNvSpPr/>
          <p:nvPr/>
        </p:nvSpPr>
        <p:spPr>
          <a:xfrm>
            <a:off x="7315200" y="1965960"/>
            <a:ext cx="4251960" cy="3977639"/>
          </a:xfrm>
          <a:prstGeom prst="roundRect">
            <a:avLst/>
          </a:prstGeom>
          <a:solidFill>
            <a:srgbClr val="111C30"/>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635240" y="2304288"/>
            <a:ext cx="1508760" cy="292608"/>
          </a:xfrm>
          <a:prstGeom prst="roundRect">
            <a:avLst/>
          </a:prstGeom>
          <a:solidFill>
            <a:srgbClr val="48E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1815" y="2322576"/>
            <a:ext cx="1435607"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THE CORE IDEA</a:t>
            </a:r>
          </a:p>
        </p:txBody>
      </p:sp>
      <p:sp>
        <p:nvSpPr>
          <p:cNvPr id="12" name="Rounded Rectangle 11"/>
          <p:cNvSpPr/>
          <p:nvPr/>
        </p:nvSpPr>
        <p:spPr>
          <a:xfrm>
            <a:off x="7699248" y="2971800"/>
            <a:ext cx="1325880" cy="841248"/>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400" b="1">
                <a:solidFill>
                  <a:srgbClr val="F4F7FF"/>
                </a:solidFill>
                <a:latin typeface="Aptos"/>
              </a:defRPr>
            </a:pPr>
            <a:r>
              <a:t>Project</a:t>
            </a:r>
            <a:br/>
            <a:r>
              <a:t>knowledge</a:t>
            </a:r>
          </a:p>
        </p:txBody>
      </p:sp>
      <p:sp>
        <p:nvSpPr>
          <p:cNvPr id="13" name="Rounded Rectangle 12"/>
          <p:cNvSpPr/>
          <p:nvPr/>
        </p:nvSpPr>
        <p:spPr>
          <a:xfrm>
            <a:off x="9646920" y="2971800"/>
            <a:ext cx="1325880" cy="841248"/>
          </a:xfrm>
          <a:prstGeom prst="roundRect">
            <a:avLst/>
          </a:prstGeom>
          <a:solidFill>
            <a:srgbClr val="1A2641"/>
          </a:solidFill>
          <a:ln w="17780">
            <a:solidFill>
              <a:srgbClr val="42D3E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400" b="1">
                <a:solidFill>
                  <a:srgbClr val="F4F7FF"/>
                </a:solidFill>
                <a:latin typeface="Aptos"/>
              </a:defRPr>
            </a:pPr>
            <a:r>
              <a:t>Relevant</a:t>
            </a:r>
            <a:br/>
            <a:r>
              <a:t>context</a:t>
            </a:r>
          </a:p>
        </p:txBody>
      </p:sp>
      <p:cxnSp>
        <p:nvCxnSpPr>
          <p:cNvPr id="14" name="Connector 13"/>
          <p:cNvCxnSpPr/>
          <p:nvPr/>
        </p:nvCxnSpPr>
        <p:spPr>
          <a:xfrm>
            <a:off x="9052560" y="3392424"/>
            <a:ext cx="521208" cy="0"/>
          </a:xfrm>
          <a:prstGeom prst="line">
            <a:avLst/>
          </a:prstGeom>
          <a:ln w="25400">
            <a:solidFill>
              <a:srgbClr val="48E0B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668512" y="4315968"/>
            <a:ext cx="1325880" cy="685800"/>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800" b="1">
                <a:solidFill>
                  <a:srgbClr val="F4F7FF"/>
                </a:solidFill>
                <a:latin typeface="Aptos"/>
              </a:defRPr>
            </a:pPr>
            <a:r>
              <a:t>LLM</a:t>
            </a:r>
          </a:p>
        </p:txBody>
      </p:sp>
      <p:cxnSp>
        <p:nvCxnSpPr>
          <p:cNvPr id="16" name="Connector 15"/>
          <p:cNvCxnSpPr/>
          <p:nvPr/>
        </p:nvCxnSpPr>
        <p:spPr>
          <a:xfrm flipH="1">
            <a:off x="9646920" y="3877056"/>
            <a:ext cx="640080" cy="374904"/>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635240" y="5257800"/>
            <a:ext cx="3611880" cy="457200"/>
          </a:xfrm>
          <a:prstGeom prst="rect">
            <a:avLst/>
          </a:prstGeom>
          <a:noFill/>
        </p:spPr>
        <p:txBody>
          <a:bodyPr wrap="square" lIns="36576" rIns="36576" tIns="36576" bIns="36576" anchor="t">
            <a:spAutoFit/>
          </a:bodyPr>
          <a:lstStyle/>
          <a:p>
            <a:pPr algn="ctr">
              <a:spcAft>
                <a:spcPts val="400"/>
              </a:spcAft>
              <a:defRPr sz="1300" b="0" i="0">
                <a:solidFill>
                  <a:srgbClr val="AEBBD3"/>
                </a:solidFill>
                <a:latin typeface="Aptos"/>
              </a:defRPr>
            </a:pPr>
            <a:r>
              <a:t>More useful, evidence-grounded answers — not a guarantee of correctness.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extBox 1"/>
          <p:cNvSpPr txBox="1"/>
          <p:nvPr/>
        </p:nvSpPr>
        <p:spPr>
          <a:xfrm>
            <a:off x="566928" y="320040"/>
            <a:ext cx="4937760" cy="256032"/>
          </a:xfrm>
          <a:prstGeom prst="rect">
            <a:avLst/>
          </a:prstGeom>
          <a:noFill/>
        </p:spPr>
        <p:txBody>
          <a:bodyPr wrap="square" lIns="36576" rIns="36576" tIns="36576" bIns="36576" anchor="t">
            <a:spAutoFit/>
          </a:bodyPr>
          <a:lstStyle/>
          <a:p>
            <a:pPr algn="l">
              <a:spcAft>
                <a:spcPts val="400"/>
              </a:spcAft>
              <a:defRPr sz="1000" b="1" i="0">
                <a:solidFill>
                  <a:srgbClr val="42D3E6"/>
                </a:solidFill>
                <a:latin typeface="Aptos"/>
              </a:defRPr>
            </a:pPr>
            <a:r>
              <a:t>02 • HOW IT WORKS</a:t>
            </a:r>
          </a:p>
        </p:txBody>
      </p:sp>
      <p:sp>
        <p:nvSpPr>
          <p:cNvPr id="3" name="TextBox 2"/>
          <p:cNvSpPr txBox="1"/>
          <p:nvPr/>
        </p:nvSpPr>
        <p:spPr>
          <a:xfrm>
            <a:off x="566928" y="658368"/>
            <a:ext cx="10972800" cy="502920"/>
          </a:xfrm>
          <a:prstGeom prst="rect">
            <a:avLst/>
          </a:prstGeom>
          <a:noFill/>
        </p:spPr>
        <p:txBody>
          <a:bodyPr wrap="square" lIns="36576" rIns="36576" tIns="36576" bIns="36576" anchor="t">
            <a:spAutoFit/>
          </a:bodyPr>
          <a:lstStyle/>
          <a:p>
            <a:pPr algn="l">
              <a:spcAft>
                <a:spcPts val="400"/>
              </a:spcAft>
              <a:defRPr sz="2700" b="1" i="0">
                <a:solidFill>
                  <a:srgbClr val="F4F7FF"/>
                </a:solidFill>
                <a:latin typeface="Aptos"/>
              </a:defRPr>
            </a:pPr>
            <a:r>
              <a:t>The RAG cycle: retrieve, ground, generate</a:t>
            </a:r>
          </a:p>
        </p:txBody>
      </p:sp>
      <p:sp>
        <p:nvSpPr>
          <p:cNvPr id="4" name="TextBox 3"/>
          <p:cNvSpPr txBox="1"/>
          <p:nvPr/>
        </p:nvSpPr>
        <p:spPr>
          <a:xfrm>
            <a:off x="585216" y="1197864"/>
            <a:ext cx="10972800" cy="384048"/>
          </a:xfrm>
          <a:prstGeom prst="rect">
            <a:avLst/>
          </a:prstGeom>
          <a:noFill/>
        </p:spPr>
        <p:txBody>
          <a:bodyPr wrap="square" lIns="36576" rIns="36576" tIns="36576" bIns="36576" anchor="t">
            <a:spAutoFit/>
          </a:bodyPr>
          <a:lstStyle/>
          <a:p>
            <a:pPr algn="l">
              <a:spcAft>
                <a:spcPts val="400"/>
              </a:spcAft>
              <a:defRPr sz="1200" b="0" i="0">
                <a:solidFill>
                  <a:srgbClr val="AEBBD3"/>
                </a:solidFill>
                <a:latin typeface="Aptos"/>
              </a:defRPr>
            </a:pPr>
            <a:r>
              <a:t>A repeatable pipeline turns documents into context for each question.</a:t>
            </a:r>
          </a:p>
        </p:txBody>
      </p:sp>
      <p:sp>
        <p:nvSpPr>
          <p:cNvPr id="5" name="Rectangle 4"/>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6510528"/>
            <a:ext cx="6400800" cy="164592"/>
          </a:xfrm>
          <a:prstGeom prst="rect">
            <a:avLst/>
          </a:prstGeom>
          <a:noFill/>
        </p:spPr>
        <p:txBody>
          <a:bodyPr wrap="square" lIns="36576" rIns="36576" tIns="36576" bIns="36576" anchor="t">
            <a:spAutoFit/>
          </a:bodyPr>
          <a:lstStyle/>
          <a:p>
            <a:pPr algn="l">
              <a:spcAft>
                <a:spcPts val="400"/>
              </a:spcAft>
              <a:defRPr sz="800" b="1" i="0">
                <a:solidFill>
                  <a:srgbClr val="AEBBD3"/>
                </a:solidFill>
                <a:latin typeface="Aptos"/>
              </a:defRPr>
            </a:pPr>
            <a:r>
              <a:t>KONG CHATBOT ARCHITECTURE   •   02 / 10</a:t>
            </a:r>
          </a:p>
        </p:txBody>
      </p:sp>
      <p:sp>
        <p:nvSpPr>
          <p:cNvPr id="7" name="Rounded Rectangle 6"/>
          <p:cNvSpPr/>
          <p:nvPr/>
        </p:nvSpPr>
        <p:spPr>
          <a:xfrm>
            <a:off x="621792" y="2331720"/>
            <a:ext cx="2267712" cy="242316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86384" y="2542032"/>
            <a:ext cx="475488" cy="292608"/>
          </a:xfrm>
          <a:prstGeom prst="round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560320"/>
            <a:ext cx="402336"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01</a:t>
            </a:r>
          </a:p>
        </p:txBody>
      </p:sp>
      <p:sp>
        <p:nvSpPr>
          <p:cNvPr id="10" name="TextBox 9"/>
          <p:cNvSpPr txBox="1"/>
          <p:nvPr/>
        </p:nvSpPr>
        <p:spPr>
          <a:xfrm>
            <a:off x="786384" y="2990088"/>
            <a:ext cx="1901952" cy="320040"/>
          </a:xfrm>
          <a:prstGeom prst="rect">
            <a:avLst/>
          </a:prstGeom>
          <a:noFill/>
        </p:spPr>
        <p:txBody>
          <a:bodyPr wrap="square" lIns="36576" rIns="36576" tIns="36576" bIns="36576" anchor="t">
            <a:spAutoFit/>
          </a:bodyPr>
          <a:lstStyle/>
          <a:p>
            <a:pPr algn="l">
              <a:spcAft>
                <a:spcPts val="400"/>
              </a:spcAft>
              <a:defRPr sz="1600" b="1" i="0">
                <a:solidFill>
                  <a:srgbClr val="42D3E6"/>
                </a:solidFill>
                <a:latin typeface="Aptos"/>
              </a:defRPr>
            </a:pPr>
            <a:r>
              <a:t>PREPARE</a:t>
            </a:r>
          </a:p>
        </p:txBody>
      </p:sp>
      <p:sp>
        <p:nvSpPr>
          <p:cNvPr id="11" name="TextBox 10"/>
          <p:cNvSpPr txBox="1"/>
          <p:nvPr/>
        </p:nvSpPr>
        <p:spPr>
          <a:xfrm>
            <a:off x="786384" y="3456432"/>
            <a:ext cx="1901952" cy="1005840"/>
          </a:xfrm>
          <a:prstGeom prst="rect">
            <a:avLst/>
          </a:prstGeom>
          <a:noFill/>
        </p:spPr>
        <p:txBody>
          <a:bodyPr wrap="square" lIns="36576" rIns="36576" tIns="36576" bIns="36576" anchor="t">
            <a:spAutoFit/>
          </a:bodyPr>
          <a:lstStyle/>
          <a:p>
            <a:pPr algn="l">
              <a:spcAft>
                <a:spcPts val="400"/>
              </a:spcAft>
              <a:defRPr sz="1200" b="0" i="0">
                <a:solidFill>
                  <a:srgbClr val="F4F7FF"/>
                </a:solidFill>
                <a:latin typeface="Aptos"/>
              </a:defRPr>
            </a:pPr>
            <a:r>
              <a:t>Split documents into overlapping chunks; calculate an embedding vector for each chunk.</a:t>
            </a:r>
          </a:p>
        </p:txBody>
      </p:sp>
      <p:sp>
        <p:nvSpPr>
          <p:cNvPr id="12" name="Rounded Rectangle 11"/>
          <p:cNvSpPr/>
          <p:nvPr/>
        </p:nvSpPr>
        <p:spPr>
          <a:xfrm>
            <a:off x="3520440" y="2331720"/>
            <a:ext cx="2267712" cy="242316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85032" y="2542032"/>
            <a:ext cx="475488" cy="292608"/>
          </a:xfrm>
          <a:prstGeom prst="roundRect">
            <a:avLst/>
          </a:prstGeom>
          <a:solidFill>
            <a:srgbClr val="48E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21608" y="2560320"/>
            <a:ext cx="402336"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02</a:t>
            </a:r>
          </a:p>
        </p:txBody>
      </p:sp>
      <p:sp>
        <p:nvSpPr>
          <p:cNvPr id="15" name="TextBox 14"/>
          <p:cNvSpPr txBox="1"/>
          <p:nvPr/>
        </p:nvSpPr>
        <p:spPr>
          <a:xfrm>
            <a:off x="3685032" y="2990088"/>
            <a:ext cx="1901952" cy="320040"/>
          </a:xfrm>
          <a:prstGeom prst="rect">
            <a:avLst/>
          </a:prstGeom>
          <a:noFill/>
        </p:spPr>
        <p:txBody>
          <a:bodyPr wrap="square" lIns="36576" rIns="36576" tIns="36576" bIns="36576" anchor="t">
            <a:spAutoFit/>
          </a:bodyPr>
          <a:lstStyle/>
          <a:p>
            <a:pPr algn="l">
              <a:spcAft>
                <a:spcPts val="400"/>
              </a:spcAft>
              <a:defRPr sz="1600" b="1" i="0">
                <a:solidFill>
                  <a:srgbClr val="48E0B8"/>
                </a:solidFill>
                <a:latin typeface="Aptos"/>
              </a:defRPr>
            </a:pPr>
            <a:r>
              <a:t>RETRIEVE</a:t>
            </a:r>
          </a:p>
        </p:txBody>
      </p:sp>
      <p:sp>
        <p:nvSpPr>
          <p:cNvPr id="16" name="TextBox 15"/>
          <p:cNvSpPr txBox="1"/>
          <p:nvPr/>
        </p:nvSpPr>
        <p:spPr>
          <a:xfrm>
            <a:off x="3685032" y="3456432"/>
            <a:ext cx="1901952" cy="1005840"/>
          </a:xfrm>
          <a:prstGeom prst="rect">
            <a:avLst/>
          </a:prstGeom>
          <a:noFill/>
        </p:spPr>
        <p:txBody>
          <a:bodyPr wrap="square" lIns="36576" rIns="36576" tIns="36576" bIns="36576" anchor="t">
            <a:spAutoFit/>
          </a:bodyPr>
          <a:lstStyle/>
          <a:p>
            <a:pPr algn="l">
              <a:spcAft>
                <a:spcPts val="400"/>
              </a:spcAft>
              <a:defRPr sz="1200" b="0" i="0">
                <a:solidFill>
                  <a:srgbClr val="F4F7FF"/>
                </a:solidFill>
                <a:latin typeface="Aptos"/>
              </a:defRPr>
            </a:pPr>
            <a:r>
              <a:t>Embed the question and rank chunks by vector similarity.</a:t>
            </a:r>
          </a:p>
        </p:txBody>
      </p:sp>
      <p:sp>
        <p:nvSpPr>
          <p:cNvPr id="17" name="Rounded Rectangle 16"/>
          <p:cNvSpPr/>
          <p:nvPr/>
        </p:nvSpPr>
        <p:spPr>
          <a:xfrm>
            <a:off x="6419088" y="2331720"/>
            <a:ext cx="2267712" cy="242316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3679" y="2542032"/>
            <a:ext cx="475488" cy="292608"/>
          </a:xfrm>
          <a:prstGeom prst="roundRect">
            <a:avLst/>
          </a:prstGeom>
          <a:solidFill>
            <a:srgbClr val="A07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20255" y="2560320"/>
            <a:ext cx="402336"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03</a:t>
            </a:r>
          </a:p>
        </p:txBody>
      </p:sp>
      <p:sp>
        <p:nvSpPr>
          <p:cNvPr id="20" name="TextBox 19"/>
          <p:cNvSpPr txBox="1"/>
          <p:nvPr/>
        </p:nvSpPr>
        <p:spPr>
          <a:xfrm>
            <a:off x="6583679" y="2990088"/>
            <a:ext cx="1901952" cy="320040"/>
          </a:xfrm>
          <a:prstGeom prst="rect">
            <a:avLst/>
          </a:prstGeom>
          <a:noFill/>
        </p:spPr>
        <p:txBody>
          <a:bodyPr wrap="square" lIns="36576" rIns="36576" tIns="36576" bIns="36576" anchor="t">
            <a:spAutoFit/>
          </a:bodyPr>
          <a:lstStyle/>
          <a:p>
            <a:pPr algn="l">
              <a:spcAft>
                <a:spcPts val="400"/>
              </a:spcAft>
              <a:defRPr sz="1600" b="1" i="0">
                <a:solidFill>
                  <a:srgbClr val="A07DFF"/>
                </a:solidFill>
                <a:latin typeface="Aptos"/>
              </a:defRPr>
            </a:pPr>
            <a:r>
              <a:t>GROUND</a:t>
            </a:r>
          </a:p>
        </p:txBody>
      </p:sp>
      <p:sp>
        <p:nvSpPr>
          <p:cNvPr id="21" name="TextBox 20"/>
          <p:cNvSpPr txBox="1"/>
          <p:nvPr/>
        </p:nvSpPr>
        <p:spPr>
          <a:xfrm>
            <a:off x="6583679" y="3456432"/>
            <a:ext cx="1901952" cy="1005840"/>
          </a:xfrm>
          <a:prstGeom prst="rect">
            <a:avLst/>
          </a:prstGeom>
          <a:noFill/>
        </p:spPr>
        <p:txBody>
          <a:bodyPr wrap="square" lIns="36576" rIns="36576" tIns="36576" bIns="36576" anchor="t">
            <a:spAutoFit/>
          </a:bodyPr>
          <a:lstStyle/>
          <a:p>
            <a:pPr algn="l">
              <a:spcAft>
                <a:spcPts val="400"/>
              </a:spcAft>
              <a:defRPr sz="1200" b="0" i="0">
                <a:solidFill>
                  <a:srgbClr val="F4F7FF"/>
                </a:solidFill>
                <a:latin typeface="Aptos"/>
              </a:defRPr>
            </a:pPr>
            <a:r>
              <a:t>Add the best excerpts and source titles to the model request.</a:t>
            </a:r>
          </a:p>
        </p:txBody>
      </p:sp>
      <p:sp>
        <p:nvSpPr>
          <p:cNvPr id="22" name="Rounded Rectangle 21"/>
          <p:cNvSpPr/>
          <p:nvPr/>
        </p:nvSpPr>
        <p:spPr>
          <a:xfrm>
            <a:off x="9317736" y="2331720"/>
            <a:ext cx="2267712" cy="242316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482328" y="2542032"/>
            <a:ext cx="475488" cy="292608"/>
          </a:xfrm>
          <a:prstGeom prst="roundRect">
            <a:avLst/>
          </a:prstGeom>
          <a:solidFill>
            <a:srgbClr val="FFB5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18903" y="2560320"/>
            <a:ext cx="402336"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04</a:t>
            </a:r>
          </a:p>
        </p:txBody>
      </p:sp>
      <p:sp>
        <p:nvSpPr>
          <p:cNvPr id="25" name="TextBox 24"/>
          <p:cNvSpPr txBox="1"/>
          <p:nvPr/>
        </p:nvSpPr>
        <p:spPr>
          <a:xfrm>
            <a:off x="9482328" y="2990088"/>
            <a:ext cx="1901952" cy="320040"/>
          </a:xfrm>
          <a:prstGeom prst="rect">
            <a:avLst/>
          </a:prstGeom>
          <a:noFill/>
        </p:spPr>
        <p:txBody>
          <a:bodyPr wrap="square" lIns="36576" rIns="36576" tIns="36576" bIns="36576" anchor="t">
            <a:spAutoFit/>
          </a:bodyPr>
          <a:lstStyle/>
          <a:p>
            <a:pPr algn="l">
              <a:spcAft>
                <a:spcPts val="400"/>
              </a:spcAft>
              <a:defRPr sz="1600" b="1" i="0">
                <a:solidFill>
                  <a:srgbClr val="FFB55B"/>
                </a:solidFill>
                <a:latin typeface="Aptos"/>
              </a:defRPr>
            </a:pPr>
            <a:r>
              <a:t>GENERATE</a:t>
            </a:r>
          </a:p>
        </p:txBody>
      </p:sp>
      <p:sp>
        <p:nvSpPr>
          <p:cNvPr id="26" name="TextBox 25"/>
          <p:cNvSpPr txBox="1"/>
          <p:nvPr/>
        </p:nvSpPr>
        <p:spPr>
          <a:xfrm>
            <a:off x="9482328" y="3456432"/>
            <a:ext cx="1901952" cy="1005840"/>
          </a:xfrm>
          <a:prstGeom prst="rect">
            <a:avLst/>
          </a:prstGeom>
          <a:noFill/>
        </p:spPr>
        <p:txBody>
          <a:bodyPr wrap="square" lIns="36576" rIns="36576" tIns="36576" bIns="36576" anchor="t">
            <a:spAutoFit/>
          </a:bodyPr>
          <a:lstStyle/>
          <a:p>
            <a:pPr algn="l">
              <a:spcAft>
                <a:spcPts val="400"/>
              </a:spcAft>
              <a:defRPr sz="1200" b="0" i="0">
                <a:solidFill>
                  <a:srgbClr val="F4F7FF"/>
                </a:solidFill>
                <a:latin typeface="Aptos"/>
              </a:defRPr>
            </a:pPr>
            <a:r>
              <a:t>Ask the model to answer from those excerpts and cite relevant source titles.</a:t>
            </a:r>
          </a:p>
        </p:txBody>
      </p:sp>
      <p:cxnSp>
        <p:nvCxnSpPr>
          <p:cNvPr id="27" name="Connector 26"/>
          <p:cNvCxnSpPr/>
          <p:nvPr/>
        </p:nvCxnSpPr>
        <p:spPr>
          <a:xfrm>
            <a:off x="2953512" y="3520440"/>
            <a:ext cx="438912" cy="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52160" y="3520440"/>
            <a:ext cx="438912" cy="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750808" y="3520440"/>
            <a:ext cx="438912" cy="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621792" y="5102352"/>
            <a:ext cx="10972800" cy="777240"/>
          </a:xfrm>
          <a:prstGeom prst="roundRect">
            <a:avLst/>
          </a:prstGeom>
          <a:solidFill>
            <a:srgbClr val="251E2B"/>
          </a:solidFill>
          <a:ln w="12700">
            <a:solidFill>
              <a:srgbClr val="644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8680" y="5321808"/>
            <a:ext cx="1143000" cy="228600"/>
          </a:xfrm>
          <a:prstGeom prst="rect">
            <a:avLst/>
          </a:prstGeom>
          <a:noFill/>
        </p:spPr>
        <p:txBody>
          <a:bodyPr wrap="square" lIns="36576" rIns="36576" tIns="36576" bIns="36576" anchor="t">
            <a:spAutoFit/>
          </a:bodyPr>
          <a:lstStyle/>
          <a:p>
            <a:pPr algn="l">
              <a:spcAft>
                <a:spcPts val="400"/>
              </a:spcAft>
              <a:defRPr sz="1000" b="1" i="0">
                <a:solidFill>
                  <a:srgbClr val="FFB55B"/>
                </a:solidFill>
                <a:latin typeface="Aptos"/>
              </a:defRPr>
            </a:pPr>
            <a:r>
              <a:t>IMPORTANT</a:t>
            </a:r>
          </a:p>
        </p:txBody>
      </p:sp>
      <p:sp>
        <p:nvSpPr>
          <p:cNvPr id="32" name="TextBox 31"/>
          <p:cNvSpPr txBox="1"/>
          <p:nvPr/>
        </p:nvSpPr>
        <p:spPr>
          <a:xfrm>
            <a:off x="1920240" y="5257800"/>
            <a:ext cx="9235440" cy="384048"/>
          </a:xfrm>
          <a:prstGeom prst="rect">
            <a:avLst/>
          </a:prstGeom>
          <a:noFill/>
        </p:spPr>
        <p:txBody>
          <a:bodyPr wrap="square" lIns="36576" rIns="36576" tIns="36576" bIns="36576" anchor="t">
            <a:spAutoFit/>
          </a:bodyPr>
          <a:lstStyle/>
          <a:p>
            <a:pPr algn="l">
              <a:spcAft>
                <a:spcPts val="400"/>
              </a:spcAft>
              <a:defRPr sz="1300" b="0" i="0">
                <a:solidFill>
                  <a:srgbClr val="F4F7FF"/>
                </a:solidFill>
                <a:latin typeface="Aptos"/>
              </a:defRPr>
            </a:pPr>
            <a:r>
              <a:t>Similarity thresholds are heuristics. Grounding helps traceability; it does not prove facts or prevent prompt injection.</a:t>
            </a:r>
          </a:p>
        </p:txBody>
      </p:sp>
      <p:sp>
        <p:nvSpPr>
          <p:cNvPr id="33" name="TextBox 32"/>
          <p:cNvSpPr txBox="1"/>
          <p:nvPr/>
        </p:nvSpPr>
        <p:spPr>
          <a:xfrm>
            <a:off x="731520" y="6053328"/>
            <a:ext cx="10881360" cy="256032"/>
          </a:xfrm>
          <a:prstGeom prst="rect">
            <a:avLst/>
          </a:prstGeom>
          <a:noFill/>
        </p:spPr>
        <p:txBody>
          <a:bodyPr wrap="square" lIns="36576" rIns="36576" tIns="36576" bIns="36576" anchor="t">
            <a:spAutoFit/>
          </a:bodyPr>
          <a:lstStyle/>
          <a:p>
            <a:pPr algn="l">
              <a:spcAft>
                <a:spcPts val="400"/>
              </a:spcAft>
              <a:defRPr sz="1000" b="0" i="0">
                <a:solidFill>
                  <a:srgbClr val="AEBBD3"/>
                </a:solidFill>
                <a:latin typeface="Aptos"/>
              </a:defRPr>
            </a:pPr>
            <a:r>
              <a:t>LOCAL: empty / below-threshold result → “I don't know” (no generation call)     •     KONNECT: AI RAG Injector supplies context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extBox 1"/>
          <p:cNvSpPr txBox="1"/>
          <p:nvPr/>
        </p:nvSpPr>
        <p:spPr>
          <a:xfrm>
            <a:off x="566928" y="320040"/>
            <a:ext cx="4937760" cy="256032"/>
          </a:xfrm>
          <a:prstGeom prst="rect">
            <a:avLst/>
          </a:prstGeom>
          <a:noFill/>
        </p:spPr>
        <p:txBody>
          <a:bodyPr wrap="square" lIns="36576" rIns="36576" tIns="36576" bIns="36576" anchor="t">
            <a:spAutoFit/>
          </a:bodyPr>
          <a:lstStyle/>
          <a:p>
            <a:pPr algn="l">
              <a:spcAft>
                <a:spcPts val="400"/>
              </a:spcAft>
              <a:defRPr sz="1000" b="1" i="0">
                <a:solidFill>
                  <a:srgbClr val="42D3E6"/>
                </a:solidFill>
                <a:latin typeface="Aptos"/>
              </a:defRPr>
            </a:pPr>
            <a:r>
              <a:t>03 • DEPLOYMENT CHOICES</a:t>
            </a:r>
          </a:p>
        </p:txBody>
      </p:sp>
      <p:sp>
        <p:nvSpPr>
          <p:cNvPr id="3" name="TextBox 2"/>
          <p:cNvSpPr txBox="1"/>
          <p:nvPr/>
        </p:nvSpPr>
        <p:spPr>
          <a:xfrm>
            <a:off x="566928" y="658368"/>
            <a:ext cx="10972800" cy="502920"/>
          </a:xfrm>
          <a:prstGeom prst="rect">
            <a:avLst/>
          </a:prstGeom>
          <a:noFill/>
        </p:spPr>
        <p:txBody>
          <a:bodyPr wrap="square" lIns="36576" rIns="36576" tIns="36576" bIns="36576" anchor="t">
            <a:spAutoFit/>
          </a:bodyPr>
          <a:lstStyle/>
          <a:p>
            <a:pPr algn="l">
              <a:spcAft>
                <a:spcPts val="400"/>
              </a:spcAft>
              <a:defRPr sz="2700" b="1" i="0">
                <a:solidFill>
                  <a:srgbClr val="F4F7FF"/>
                </a:solidFill>
                <a:latin typeface="Aptos"/>
              </a:defRPr>
            </a:pPr>
            <a:r>
              <a:t>One chatbot API, two deployment modes</a:t>
            </a:r>
          </a:p>
        </p:txBody>
      </p:sp>
      <p:sp>
        <p:nvSpPr>
          <p:cNvPr id="4" name="TextBox 3"/>
          <p:cNvSpPr txBox="1"/>
          <p:nvPr/>
        </p:nvSpPr>
        <p:spPr>
          <a:xfrm>
            <a:off x="585216" y="1197864"/>
            <a:ext cx="10972800" cy="384048"/>
          </a:xfrm>
          <a:prstGeom prst="rect">
            <a:avLst/>
          </a:prstGeom>
          <a:noFill/>
        </p:spPr>
        <p:txBody>
          <a:bodyPr wrap="square" lIns="36576" rIns="36576" tIns="36576" bIns="36576" anchor="t">
            <a:spAutoFit/>
          </a:bodyPr>
          <a:lstStyle/>
          <a:p>
            <a:pPr algn="l">
              <a:spcAft>
                <a:spcPts val="400"/>
              </a:spcAft>
              <a:defRPr sz="1200" b="0" i="0">
                <a:solidFill>
                  <a:srgbClr val="AEBBD3"/>
                </a:solidFill>
                <a:latin typeface="Aptos"/>
              </a:defRPr>
            </a:pPr>
            <a:r>
              <a:t>RAG_MODE selects where retrieval happens; the Spring-facing API stays consistent.</a:t>
            </a:r>
          </a:p>
        </p:txBody>
      </p:sp>
      <p:sp>
        <p:nvSpPr>
          <p:cNvPr id="5" name="Rectangle 4"/>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6510528"/>
            <a:ext cx="6400800" cy="164592"/>
          </a:xfrm>
          <a:prstGeom prst="rect">
            <a:avLst/>
          </a:prstGeom>
          <a:noFill/>
        </p:spPr>
        <p:txBody>
          <a:bodyPr wrap="square" lIns="36576" rIns="36576" tIns="36576" bIns="36576" anchor="t">
            <a:spAutoFit/>
          </a:bodyPr>
          <a:lstStyle/>
          <a:p>
            <a:pPr algn="l">
              <a:spcAft>
                <a:spcPts val="400"/>
              </a:spcAft>
              <a:defRPr sz="800" b="1" i="0">
                <a:solidFill>
                  <a:srgbClr val="AEBBD3"/>
                </a:solidFill>
                <a:latin typeface="Aptos"/>
              </a:defRPr>
            </a:pPr>
            <a:r>
              <a:t>KONG CHATBOT ARCHITECTURE   •   03 / 10</a:t>
            </a:r>
          </a:p>
        </p:txBody>
      </p:sp>
      <p:sp>
        <p:nvSpPr>
          <p:cNvPr id="7" name="Rounded Rectangle 6"/>
          <p:cNvSpPr/>
          <p:nvPr/>
        </p:nvSpPr>
        <p:spPr>
          <a:xfrm>
            <a:off x="4983480" y="1847088"/>
            <a:ext cx="1920240" cy="502920"/>
          </a:xfrm>
          <a:prstGeom prst="roundRect">
            <a:avLst/>
          </a:prstGeom>
          <a:solidFill>
            <a:srgbClr val="1A2641"/>
          </a:solidFill>
          <a:ln w="17780">
            <a:solidFill>
              <a:srgbClr val="F4F7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400" b="1">
                <a:solidFill>
                  <a:srgbClr val="F4F7FF"/>
                </a:solidFill>
                <a:latin typeface="Aptos"/>
              </a:defRPr>
            </a:pPr>
            <a:r>
              <a:t>Client</a:t>
            </a:r>
          </a:p>
        </p:txBody>
      </p:sp>
      <p:sp>
        <p:nvSpPr>
          <p:cNvPr id="8" name="Rounded Rectangle 7"/>
          <p:cNvSpPr/>
          <p:nvPr/>
        </p:nvSpPr>
        <p:spPr>
          <a:xfrm>
            <a:off x="4709160" y="2670048"/>
            <a:ext cx="2468880" cy="713232"/>
          </a:xfrm>
          <a:prstGeom prst="roundRect">
            <a:avLst/>
          </a:prstGeom>
          <a:solidFill>
            <a:srgbClr val="1A2641"/>
          </a:solidFill>
          <a:ln w="17780">
            <a:solidFill>
              <a:srgbClr val="42D3E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500" b="1">
                <a:solidFill>
                  <a:srgbClr val="F4F7FF"/>
                </a:solidFill>
                <a:latin typeface="Aptos"/>
              </a:defRPr>
            </a:pPr>
            <a:r>
              <a:t>Spring Boot API</a:t>
            </a:r>
            <a:br/>
            <a:r>
              <a:t>:8080</a:t>
            </a:r>
          </a:p>
        </p:txBody>
      </p:sp>
      <p:cxnSp>
        <p:nvCxnSpPr>
          <p:cNvPr id="9" name="Connector 8"/>
          <p:cNvCxnSpPr/>
          <p:nvPr/>
        </p:nvCxnSpPr>
        <p:spPr>
          <a:xfrm>
            <a:off x="5943600" y="2359152"/>
            <a:ext cx="0" cy="27432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3108960" y="3401568"/>
            <a:ext cx="2377440" cy="484632"/>
          </a:xfrm>
          <a:prstGeom prst="line">
            <a:avLst/>
          </a:prstGeom>
          <a:ln w="25400">
            <a:solidFill>
              <a:srgbClr val="48E0B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400800" y="3401568"/>
            <a:ext cx="2651760" cy="484632"/>
          </a:xfrm>
          <a:prstGeom prst="line">
            <a:avLst/>
          </a:prstGeom>
          <a:ln w="25400">
            <a:solidFill>
              <a:srgbClr val="A07DF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68680" y="3611880"/>
            <a:ext cx="1005840" cy="292608"/>
          </a:xfrm>
          <a:prstGeom prst="roundRect">
            <a:avLst/>
          </a:prstGeom>
          <a:solidFill>
            <a:srgbClr val="48E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630168"/>
            <a:ext cx="932688"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LOCAL</a:t>
            </a:r>
          </a:p>
        </p:txBody>
      </p:sp>
      <p:sp>
        <p:nvSpPr>
          <p:cNvPr id="14" name="Rounded Rectangle 13"/>
          <p:cNvSpPr/>
          <p:nvPr/>
        </p:nvSpPr>
        <p:spPr>
          <a:xfrm>
            <a:off x="7818120" y="3611880"/>
            <a:ext cx="1234440" cy="292608"/>
          </a:xfrm>
          <a:prstGeom prst="roundRect">
            <a:avLst/>
          </a:prstGeom>
          <a:solidFill>
            <a:srgbClr val="A07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54696" y="3630168"/>
            <a:ext cx="1161288"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KONNECT</a:t>
            </a:r>
          </a:p>
        </p:txBody>
      </p:sp>
      <p:sp>
        <p:nvSpPr>
          <p:cNvPr id="16" name="Rounded Rectangle 15"/>
          <p:cNvSpPr/>
          <p:nvPr/>
        </p:nvSpPr>
        <p:spPr>
          <a:xfrm>
            <a:off x="594360" y="3977639"/>
            <a:ext cx="5074920" cy="1993392"/>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8680" y="4407408"/>
            <a:ext cx="1234440" cy="658368"/>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200" b="1">
                <a:solidFill>
                  <a:srgbClr val="F4F7FF"/>
                </a:solidFill>
                <a:latin typeface="Aptos"/>
              </a:defRPr>
            </a:pPr>
            <a:r>
              <a:t>Kong OSS</a:t>
            </a:r>
            <a:br/>
            <a:r>
              <a:t>:8000</a:t>
            </a:r>
          </a:p>
        </p:txBody>
      </p:sp>
      <p:sp>
        <p:nvSpPr>
          <p:cNvPr id="18" name="Rounded Rectangle 17"/>
          <p:cNvSpPr/>
          <p:nvPr/>
        </p:nvSpPr>
        <p:spPr>
          <a:xfrm>
            <a:off x="2514600" y="4407408"/>
            <a:ext cx="1325880" cy="658368"/>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200" b="1">
                <a:solidFill>
                  <a:srgbClr val="F4F7FF"/>
                </a:solidFill>
                <a:latin typeface="Aptos"/>
              </a:defRPr>
            </a:pPr>
            <a:r>
              <a:t>Ollama chat</a:t>
            </a:r>
            <a:br/>
            <a:r>
              <a:t>+ embeddings</a:t>
            </a:r>
          </a:p>
        </p:txBody>
      </p:sp>
      <p:sp>
        <p:nvSpPr>
          <p:cNvPr id="19" name="Rounded Rectangle 18"/>
          <p:cNvSpPr/>
          <p:nvPr/>
        </p:nvSpPr>
        <p:spPr>
          <a:xfrm>
            <a:off x="4096512" y="4407408"/>
            <a:ext cx="1298448" cy="658368"/>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100" b="1">
                <a:solidFill>
                  <a:srgbClr val="F4F7FF"/>
                </a:solidFill>
                <a:latin typeface="Aptos"/>
              </a:defRPr>
            </a:pPr>
            <a:r>
              <a:t>Spring in-memory</a:t>
            </a:r>
            <a:br/>
            <a:r>
              <a:t>vector index</a:t>
            </a:r>
          </a:p>
        </p:txBody>
      </p:sp>
      <p:cxnSp>
        <p:nvCxnSpPr>
          <p:cNvPr id="20" name="Connector 19"/>
          <p:cNvCxnSpPr/>
          <p:nvPr/>
        </p:nvCxnSpPr>
        <p:spPr>
          <a:xfrm>
            <a:off x="2130552" y="4736592"/>
            <a:ext cx="329184" cy="0"/>
          </a:xfrm>
          <a:prstGeom prst="line">
            <a:avLst/>
          </a:prstGeom>
          <a:ln w="25400">
            <a:solidFill>
              <a:srgbClr val="48E0B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867912" y="4736592"/>
            <a:ext cx="173736" cy="0"/>
          </a:xfrm>
          <a:prstGeom prst="line">
            <a:avLst/>
          </a:prstGeom>
          <a:ln w="25400">
            <a:solidFill>
              <a:srgbClr val="48E0B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68680" y="5330952"/>
            <a:ext cx="4526280" cy="365760"/>
          </a:xfrm>
          <a:prstGeom prst="rect">
            <a:avLst/>
          </a:prstGeom>
          <a:noFill/>
        </p:spPr>
        <p:txBody>
          <a:bodyPr wrap="square" lIns="36576" rIns="36576" tIns="36576" bIns="36576" anchor="t">
            <a:spAutoFit/>
          </a:bodyPr>
          <a:lstStyle/>
          <a:p>
            <a:pPr algn="l">
              <a:spcAft>
                <a:spcPts val="400"/>
              </a:spcAft>
              <a:defRPr sz="1000" b="0" i="0">
                <a:solidFill>
                  <a:srgbClr val="AEBBD3"/>
                </a:solidFill>
                <a:latin typeface="Aptos"/>
              </a:defRPr>
            </a:pPr>
            <a:r>
              <a:t>Local development • no Kong account or external model credentials</a:t>
            </a:r>
          </a:p>
        </p:txBody>
      </p:sp>
      <p:sp>
        <p:nvSpPr>
          <p:cNvPr id="23" name="Rounded Rectangle 22"/>
          <p:cNvSpPr/>
          <p:nvPr/>
        </p:nvSpPr>
        <p:spPr>
          <a:xfrm>
            <a:off x="6492240" y="3977639"/>
            <a:ext cx="5074920" cy="1993392"/>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748272" y="4407408"/>
            <a:ext cx="1371600" cy="658368"/>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100" b="1">
                <a:solidFill>
                  <a:srgbClr val="F4F7FF"/>
                </a:solidFill>
                <a:latin typeface="Aptos"/>
              </a:defRPr>
            </a:pPr>
            <a:r>
              <a:t>Kong Gateway</a:t>
            </a:r>
            <a:br/>
            <a:r>
              <a:t>data plane :8000</a:t>
            </a:r>
          </a:p>
        </p:txBody>
      </p:sp>
      <p:sp>
        <p:nvSpPr>
          <p:cNvPr id="25" name="Rounded Rectangle 24"/>
          <p:cNvSpPr/>
          <p:nvPr/>
        </p:nvSpPr>
        <p:spPr>
          <a:xfrm>
            <a:off x="8430768" y="4407408"/>
            <a:ext cx="1051560" cy="658368"/>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200" b="1">
                <a:solidFill>
                  <a:srgbClr val="F4F7FF"/>
                </a:solidFill>
                <a:latin typeface="Aptos"/>
              </a:defRPr>
            </a:pPr>
            <a:r>
              <a:t>AI RAG</a:t>
            </a:r>
            <a:br/>
            <a:r>
              <a:t>Injector</a:t>
            </a:r>
          </a:p>
        </p:txBody>
      </p:sp>
      <p:sp>
        <p:nvSpPr>
          <p:cNvPr id="26" name="Rounded Rectangle 25"/>
          <p:cNvSpPr/>
          <p:nvPr/>
        </p:nvSpPr>
        <p:spPr>
          <a:xfrm>
            <a:off x="9802368" y="4407408"/>
            <a:ext cx="1325880" cy="658368"/>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100" b="1">
                <a:solidFill>
                  <a:srgbClr val="F4F7FF"/>
                </a:solidFill>
                <a:latin typeface="Aptos"/>
              </a:defRPr>
            </a:pPr>
            <a:r>
              <a:t>Redis Stack</a:t>
            </a:r>
            <a:br/>
            <a:r>
              <a:t>vector index</a:t>
            </a:r>
          </a:p>
        </p:txBody>
      </p:sp>
      <p:cxnSp>
        <p:nvCxnSpPr>
          <p:cNvPr id="27" name="Connector 26"/>
          <p:cNvCxnSpPr/>
          <p:nvPr/>
        </p:nvCxnSpPr>
        <p:spPr>
          <a:xfrm>
            <a:off x="8156448" y="4736592"/>
            <a:ext cx="219456" cy="0"/>
          </a:xfrm>
          <a:prstGeom prst="line">
            <a:avLst/>
          </a:prstGeom>
          <a:ln w="25400">
            <a:solidFill>
              <a:srgbClr val="A07D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500616" y="4736592"/>
            <a:ext cx="246888" cy="0"/>
          </a:xfrm>
          <a:prstGeom prst="line">
            <a:avLst/>
          </a:prstGeom>
          <a:ln w="25400">
            <a:solidFill>
              <a:srgbClr val="A07DF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66560" y="5330952"/>
            <a:ext cx="4480560" cy="365760"/>
          </a:xfrm>
          <a:prstGeom prst="rect">
            <a:avLst/>
          </a:prstGeom>
          <a:noFill/>
        </p:spPr>
        <p:txBody>
          <a:bodyPr wrap="square" lIns="36576" rIns="36576" tIns="36576" bIns="36576" anchor="t">
            <a:spAutoFit/>
          </a:bodyPr>
          <a:lstStyle/>
          <a:p>
            <a:pPr algn="l">
              <a:spcAft>
                <a:spcPts val="400"/>
              </a:spcAft>
              <a:defRPr sz="1000" b="0" i="0">
                <a:solidFill>
                  <a:srgbClr val="AEBBD3"/>
                </a:solidFill>
                <a:latin typeface="Aptos"/>
              </a:defRPr>
            </a:pPr>
            <a:r>
              <a:t>Konnect control plane manages config • AI Proxy → OpenAI</a:t>
            </a:r>
          </a:p>
        </p:txBody>
      </p:sp>
      <p:sp>
        <p:nvSpPr>
          <p:cNvPr id="30" name="TextBox 29"/>
          <p:cNvSpPr txBox="1"/>
          <p:nvPr/>
        </p:nvSpPr>
        <p:spPr>
          <a:xfrm>
            <a:off x="1097280" y="6144768"/>
            <a:ext cx="9966960" cy="201168"/>
          </a:xfrm>
          <a:prstGeom prst="rect">
            <a:avLst/>
          </a:prstGeom>
          <a:noFill/>
        </p:spPr>
        <p:txBody>
          <a:bodyPr wrap="square" lIns="36576" rIns="36576" tIns="36576" bIns="36576" anchor="t">
            <a:spAutoFit/>
          </a:bodyPr>
          <a:lstStyle/>
          <a:p>
            <a:pPr algn="ctr">
              <a:spcAft>
                <a:spcPts val="400"/>
              </a:spcAft>
              <a:defRPr sz="1000" b="1" i="0">
                <a:solidFill>
                  <a:srgbClr val="FFB55B"/>
                </a:solidFill>
                <a:latin typeface="Aptos"/>
              </a:defRPr>
            </a:pPr>
            <a:r>
              <a:t>Compose + Terraform provision a local Docker environment — not a cloud-platform deployment.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extBox 1"/>
          <p:cNvSpPr txBox="1"/>
          <p:nvPr/>
        </p:nvSpPr>
        <p:spPr>
          <a:xfrm>
            <a:off x="566928" y="320040"/>
            <a:ext cx="4937760" cy="256032"/>
          </a:xfrm>
          <a:prstGeom prst="rect">
            <a:avLst/>
          </a:prstGeom>
          <a:noFill/>
        </p:spPr>
        <p:txBody>
          <a:bodyPr wrap="square" lIns="36576" rIns="36576" tIns="36576" bIns="36576" anchor="t">
            <a:spAutoFit/>
          </a:bodyPr>
          <a:lstStyle/>
          <a:p>
            <a:pPr algn="l">
              <a:spcAft>
                <a:spcPts val="400"/>
              </a:spcAft>
              <a:defRPr sz="1000" b="1" i="0">
                <a:solidFill>
                  <a:srgbClr val="42D3E6"/>
                </a:solidFill>
                <a:latin typeface="Aptos"/>
              </a:defRPr>
            </a:pPr>
            <a:r>
              <a:t>04 • GATEWAY BOUNDARY</a:t>
            </a:r>
          </a:p>
        </p:txBody>
      </p:sp>
      <p:sp>
        <p:nvSpPr>
          <p:cNvPr id="3" name="TextBox 2"/>
          <p:cNvSpPr txBox="1"/>
          <p:nvPr/>
        </p:nvSpPr>
        <p:spPr>
          <a:xfrm>
            <a:off x="566928" y="658368"/>
            <a:ext cx="10972800" cy="502920"/>
          </a:xfrm>
          <a:prstGeom prst="rect">
            <a:avLst/>
          </a:prstGeom>
          <a:noFill/>
        </p:spPr>
        <p:txBody>
          <a:bodyPr wrap="square" lIns="36576" rIns="36576" tIns="36576" bIns="36576" anchor="t">
            <a:spAutoFit/>
          </a:bodyPr>
          <a:lstStyle/>
          <a:p>
            <a:pPr algn="l">
              <a:spcAft>
                <a:spcPts val="400"/>
              </a:spcAft>
              <a:defRPr sz="2700" b="1" i="0">
                <a:solidFill>
                  <a:srgbClr val="F4F7FF"/>
                </a:solidFill>
                <a:latin typeface="Aptos"/>
              </a:defRPr>
            </a:pPr>
            <a:r>
              <a:t>Kong Gateway: the model-traffic boundary</a:t>
            </a:r>
          </a:p>
        </p:txBody>
      </p:sp>
      <p:sp>
        <p:nvSpPr>
          <p:cNvPr id="4" name="TextBox 3"/>
          <p:cNvSpPr txBox="1"/>
          <p:nvPr/>
        </p:nvSpPr>
        <p:spPr>
          <a:xfrm>
            <a:off x="585216" y="1197864"/>
            <a:ext cx="10972800" cy="384048"/>
          </a:xfrm>
          <a:prstGeom prst="rect">
            <a:avLst/>
          </a:prstGeom>
          <a:noFill/>
        </p:spPr>
        <p:txBody>
          <a:bodyPr wrap="square" lIns="36576" rIns="36576" tIns="36576" bIns="36576" anchor="t">
            <a:spAutoFit/>
          </a:bodyPr>
          <a:lstStyle/>
          <a:p>
            <a:pPr algn="l">
              <a:spcAft>
                <a:spcPts val="400"/>
              </a:spcAft>
              <a:defRPr sz="1200" b="0" i="0">
                <a:solidFill>
                  <a:srgbClr val="AEBBD3"/>
                </a:solidFill>
                <a:latin typeface="Aptos"/>
              </a:defRPr>
            </a:pPr>
            <a:r>
              <a:t>The application talks to Kong; Kong routes model traffic according to the selected mode.</a:t>
            </a:r>
          </a:p>
        </p:txBody>
      </p:sp>
      <p:sp>
        <p:nvSpPr>
          <p:cNvPr id="5" name="Rectangle 4"/>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6510528"/>
            <a:ext cx="6400800" cy="164592"/>
          </a:xfrm>
          <a:prstGeom prst="rect">
            <a:avLst/>
          </a:prstGeom>
          <a:noFill/>
        </p:spPr>
        <p:txBody>
          <a:bodyPr wrap="square" lIns="36576" rIns="36576" tIns="36576" bIns="36576" anchor="t">
            <a:spAutoFit/>
          </a:bodyPr>
          <a:lstStyle/>
          <a:p>
            <a:pPr algn="l">
              <a:spcAft>
                <a:spcPts val="400"/>
              </a:spcAft>
              <a:defRPr sz="800" b="1" i="0">
                <a:solidFill>
                  <a:srgbClr val="AEBBD3"/>
                </a:solidFill>
                <a:latin typeface="Aptos"/>
              </a:defRPr>
            </a:pPr>
            <a:r>
              <a:t>KONG CHATBOT ARCHITECTURE   •   04 / 10</a:t>
            </a:r>
          </a:p>
        </p:txBody>
      </p:sp>
      <p:sp>
        <p:nvSpPr>
          <p:cNvPr id="7" name="Rounded Rectangle 6"/>
          <p:cNvSpPr/>
          <p:nvPr/>
        </p:nvSpPr>
        <p:spPr>
          <a:xfrm>
            <a:off x="621792" y="1993392"/>
            <a:ext cx="5321808" cy="361188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14400" y="2286000"/>
            <a:ext cx="1691640" cy="292608"/>
          </a:xfrm>
          <a:prstGeom prst="roundRect">
            <a:avLst/>
          </a:prstGeom>
          <a:solidFill>
            <a:srgbClr val="48E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304288"/>
            <a:ext cx="1618488"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LOCAL • KONG OSS</a:t>
            </a:r>
          </a:p>
        </p:txBody>
      </p:sp>
      <p:sp>
        <p:nvSpPr>
          <p:cNvPr id="10" name="Rounded Rectangle 9"/>
          <p:cNvSpPr/>
          <p:nvPr/>
        </p:nvSpPr>
        <p:spPr>
          <a:xfrm>
            <a:off x="960120" y="3035808"/>
            <a:ext cx="1417320" cy="694944"/>
          </a:xfrm>
          <a:prstGeom prst="roundRect">
            <a:avLst/>
          </a:prstGeom>
          <a:solidFill>
            <a:srgbClr val="1A2641"/>
          </a:solidFill>
          <a:ln w="17780">
            <a:solidFill>
              <a:srgbClr val="42D3E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300" b="1">
                <a:solidFill>
                  <a:srgbClr val="F4F7FF"/>
                </a:solidFill>
                <a:latin typeface="Aptos"/>
              </a:defRPr>
            </a:pPr>
            <a:r>
              <a:t>Spring Boot</a:t>
            </a:r>
          </a:p>
        </p:txBody>
      </p:sp>
      <p:sp>
        <p:nvSpPr>
          <p:cNvPr id="11" name="Rounded Rectangle 10"/>
          <p:cNvSpPr/>
          <p:nvPr/>
        </p:nvSpPr>
        <p:spPr>
          <a:xfrm>
            <a:off x="2743200" y="3035808"/>
            <a:ext cx="1417320" cy="694944"/>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300" b="1">
                <a:solidFill>
                  <a:srgbClr val="F4F7FF"/>
                </a:solidFill>
                <a:latin typeface="Aptos"/>
              </a:defRPr>
            </a:pPr>
            <a:r>
              <a:t>Kong OSS</a:t>
            </a:r>
            <a:br/>
            <a:r>
              <a:t>DB-less routes</a:t>
            </a:r>
          </a:p>
        </p:txBody>
      </p:sp>
      <p:sp>
        <p:nvSpPr>
          <p:cNvPr id="12" name="Rounded Rectangle 11"/>
          <p:cNvSpPr/>
          <p:nvPr/>
        </p:nvSpPr>
        <p:spPr>
          <a:xfrm>
            <a:off x="4526280" y="3035808"/>
            <a:ext cx="1005840" cy="694944"/>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300" b="1">
                <a:solidFill>
                  <a:srgbClr val="F4F7FF"/>
                </a:solidFill>
                <a:latin typeface="Aptos"/>
              </a:defRPr>
            </a:pPr>
            <a:r>
              <a:t>Ollama</a:t>
            </a:r>
          </a:p>
        </p:txBody>
      </p:sp>
      <p:cxnSp>
        <p:nvCxnSpPr>
          <p:cNvPr id="13" name="Connector 12"/>
          <p:cNvCxnSpPr/>
          <p:nvPr/>
        </p:nvCxnSpPr>
        <p:spPr>
          <a:xfrm>
            <a:off x="2414016" y="3383280"/>
            <a:ext cx="274320" cy="0"/>
          </a:xfrm>
          <a:prstGeom prst="line">
            <a:avLst/>
          </a:prstGeom>
          <a:ln w="25400">
            <a:solidFill>
              <a:srgbClr val="48E0B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97096" y="3383280"/>
            <a:ext cx="274320" cy="0"/>
          </a:xfrm>
          <a:prstGeom prst="line">
            <a:avLst/>
          </a:prstGeom>
          <a:ln w="25400">
            <a:solidFill>
              <a:srgbClr val="48E0B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32688" y="4160520"/>
            <a:ext cx="4617720" cy="594360"/>
          </a:xfrm>
          <a:prstGeom prst="rect">
            <a:avLst/>
          </a:prstGeom>
          <a:noFill/>
        </p:spPr>
        <p:txBody>
          <a:bodyPr wrap="square" lIns="36576" rIns="36576" tIns="36576" bIns="36576" anchor="t">
            <a:spAutoFit/>
          </a:bodyPr>
          <a:lstStyle/>
          <a:p>
            <a:pPr algn="l">
              <a:spcAft>
                <a:spcPts val="400"/>
              </a:spcAft>
              <a:defRPr sz="1300" b="0" i="0">
                <a:solidFill>
                  <a:srgbClr val="AEBBD3"/>
                </a:solidFill>
                <a:latin typeface="Aptos"/>
              </a:defRPr>
            </a:pPr>
            <a:r>
              <a:t>Chat + embedding HTTP requests are proxied to local models.</a:t>
            </a:r>
          </a:p>
        </p:txBody>
      </p:sp>
      <p:sp>
        <p:nvSpPr>
          <p:cNvPr id="16" name="TextBox 15"/>
          <p:cNvSpPr txBox="1"/>
          <p:nvPr/>
        </p:nvSpPr>
        <p:spPr>
          <a:xfrm>
            <a:off x="932688" y="4983480"/>
            <a:ext cx="4389120" cy="256032"/>
          </a:xfrm>
          <a:prstGeom prst="rect">
            <a:avLst/>
          </a:prstGeom>
          <a:noFill/>
        </p:spPr>
        <p:txBody>
          <a:bodyPr wrap="square" lIns="36576" rIns="36576" tIns="36576" bIns="36576" anchor="t">
            <a:spAutoFit/>
          </a:bodyPr>
          <a:lstStyle/>
          <a:p>
            <a:pPr algn="l">
              <a:spcAft>
                <a:spcPts val="400"/>
              </a:spcAft>
              <a:defRPr sz="1000" b="1" i="0">
                <a:solidFill>
                  <a:srgbClr val="48E0B8"/>
                </a:solidFill>
                <a:latin typeface="Aptos"/>
              </a:defRPr>
            </a:pPr>
            <a:r>
              <a:t>Configured in kong/local.yaml</a:t>
            </a:r>
          </a:p>
        </p:txBody>
      </p:sp>
      <p:sp>
        <p:nvSpPr>
          <p:cNvPr id="17" name="Rounded Rectangle 16"/>
          <p:cNvSpPr/>
          <p:nvPr/>
        </p:nvSpPr>
        <p:spPr>
          <a:xfrm>
            <a:off x="6236208" y="1993392"/>
            <a:ext cx="5321808" cy="361188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37960" y="2286000"/>
            <a:ext cx="1965960" cy="292608"/>
          </a:xfrm>
          <a:prstGeom prst="roundRect">
            <a:avLst/>
          </a:prstGeom>
          <a:solidFill>
            <a:srgbClr val="A07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74536" y="2304288"/>
            <a:ext cx="1892807"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KONNECT • AI GATEWAY</a:t>
            </a:r>
          </a:p>
        </p:txBody>
      </p:sp>
      <p:sp>
        <p:nvSpPr>
          <p:cNvPr id="20" name="Rounded Rectangle 19"/>
          <p:cNvSpPr/>
          <p:nvPr/>
        </p:nvSpPr>
        <p:spPr>
          <a:xfrm>
            <a:off x="6537960" y="3035808"/>
            <a:ext cx="1234440" cy="694944"/>
          </a:xfrm>
          <a:prstGeom prst="roundRect">
            <a:avLst/>
          </a:prstGeom>
          <a:solidFill>
            <a:srgbClr val="1A2641"/>
          </a:solidFill>
          <a:ln w="17780">
            <a:solidFill>
              <a:srgbClr val="42D3E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300" b="1">
                <a:solidFill>
                  <a:srgbClr val="F4F7FF"/>
                </a:solidFill>
                <a:latin typeface="Aptos"/>
              </a:defRPr>
            </a:pPr>
            <a:r>
              <a:t>Spring Boot</a:t>
            </a:r>
          </a:p>
        </p:txBody>
      </p:sp>
      <p:sp>
        <p:nvSpPr>
          <p:cNvPr id="21" name="Rounded Rectangle 20"/>
          <p:cNvSpPr/>
          <p:nvPr/>
        </p:nvSpPr>
        <p:spPr>
          <a:xfrm>
            <a:off x="8138160" y="3035808"/>
            <a:ext cx="1280160" cy="694944"/>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300" b="1">
                <a:solidFill>
                  <a:srgbClr val="F4F7FF"/>
                </a:solidFill>
                <a:latin typeface="Aptos"/>
              </a:defRPr>
            </a:pPr>
            <a:r>
              <a:t>Kong Gateway</a:t>
            </a:r>
          </a:p>
        </p:txBody>
      </p:sp>
      <p:sp>
        <p:nvSpPr>
          <p:cNvPr id="22" name="Rounded Rectangle 21"/>
          <p:cNvSpPr/>
          <p:nvPr/>
        </p:nvSpPr>
        <p:spPr>
          <a:xfrm>
            <a:off x="9738360" y="2852928"/>
            <a:ext cx="1280160" cy="640080"/>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100" b="1">
                <a:solidFill>
                  <a:srgbClr val="F4F7FF"/>
                </a:solidFill>
                <a:latin typeface="Aptos"/>
              </a:defRPr>
            </a:pPr>
            <a:r>
              <a:t>AI Proxy</a:t>
            </a:r>
            <a:br/>
            <a:r>
              <a:t>Advanced</a:t>
            </a:r>
          </a:p>
        </p:txBody>
      </p:sp>
      <p:sp>
        <p:nvSpPr>
          <p:cNvPr id="23" name="Rounded Rectangle 22"/>
          <p:cNvSpPr/>
          <p:nvPr/>
        </p:nvSpPr>
        <p:spPr>
          <a:xfrm>
            <a:off x="9738360" y="3593592"/>
            <a:ext cx="1280160" cy="640080"/>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100" b="1">
                <a:solidFill>
                  <a:srgbClr val="F4F7FF"/>
                </a:solidFill>
                <a:latin typeface="Aptos"/>
              </a:defRPr>
            </a:pPr>
            <a:r>
              <a:t>AI RAG</a:t>
            </a:r>
            <a:br/>
            <a:r>
              <a:t>Injector</a:t>
            </a:r>
          </a:p>
        </p:txBody>
      </p:sp>
      <p:cxnSp>
        <p:nvCxnSpPr>
          <p:cNvPr id="24" name="Connector 23"/>
          <p:cNvCxnSpPr/>
          <p:nvPr/>
        </p:nvCxnSpPr>
        <p:spPr>
          <a:xfrm>
            <a:off x="7808975" y="3383280"/>
            <a:ext cx="274321" cy="0"/>
          </a:xfrm>
          <a:prstGeom prst="line">
            <a:avLst/>
          </a:prstGeom>
          <a:ln w="25400">
            <a:solidFill>
              <a:srgbClr val="A07DF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9454896" y="3163824"/>
            <a:ext cx="228600" cy="82296"/>
          </a:xfrm>
          <a:prstGeom prst="line">
            <a:avLst/>
          </a:prstGeom>
          <a:ln w="25400">
            <a:solidFill>
              <a:srgbClr val="A07DF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454896" y="3520440"/>
            <a:ext cx="228600" cy="356616"/>
          </a:xfrm>
          <a:prstGeom prst="line">
            <a:avLst/>
          </a:prstGeom>
          <a:ln w="25400">
            <a:solidFill>
              <a:srgbClr val="A07DF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537960" y="4526280"/>
            <a:ext cx="4526280" cy="658368"/>
          </a:xfrm>
          <a:prstGeom prst="rect">
            <a:avLst/>
          </a:prstGeom>
          <a:noFill/>
        </p:spPr>
        <p:txBody>
          <a:bodyPr wrap="square" lIns="36576" rIns="36576" tIns="36576" bIns="36576" anchor="t">
            <a:spAutoFit/>
          </a:bodyPr>
          <a:lstStyle/>
          <a:p>
            <a:pPr algn="l">
              <a:spcAft>
                <a:spcPts val="400"/>
              </a:spcAft>
              <a:defRPr sz="1200" b="0" i="0">
                <a:solidFill>
                  <a:srgbClr val="AEBBD3"/>
                </a:solidFill>
                <a:latin typeface="Aptos"/>
              </a:defRPr>
            </a:pPr>
            <a:r>
              <a:t>Centralizes provider connectivity, credentials, routing and AI policies as the platform evolves.</a:t>
            </a:r>
          </a:p>
        </p:txBody>
      </p:sp>
      <p:sp>
        <p:nvSpPr>
          <p:cNvPr id="28" name="Rounded Rectangle 27"/>
          <p:cNvSpPr/>
          <p:nvPr/>
        </p:nvSpPr>
        <p:spPr>
          <a:xfrm>
            <a:off x="1188720" y="5833872"/>
            <a:ext cx="9829800" cy="438912"/>
          </a:xfrm>
          <a:prstGeom prst="roundRect">
            <a:avLst/>
          </a:prstGeom>
          <a:solidFill>
            <a:srgbClr val="231E2C"/>
          </a:solidFill>
          <a:ln w="12700">
            <a:solidFill>
              <a:srgbClr val="504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71600" y="5925312"/>
            <a:ext cx="9464040" cy="201168"/>
          </a:xfrm>
          <a:prstGeom prst="rect">
            <a:avLst/>
          </a:prstGeom>
          <a:noFill/>
        </p:spPr>
        <p:txBody>
          <a:bodyPr wrap="square" lIns="36576" rIns="36576" tIns="36576" bIns="36576" anchor="t">
            <a:spAutoFit/>
          </a:bodyPr>
          <a:lstStyle/>
          <a:p>
            <a:pPr algn="ctr">
              <a:spcAft>
                <a:spcPts val="400"/>
              </a:spcAft>
              <a:defRPr sz="1100" b="1" i="0">
                <a:solidFill>
                  <a:srgbClr val="FFB55B"/>
                </a:solidFill>
                <a:latin typeface="Aptos"/>
              </a:defRPr>
            </a:pPr>
            <a:r>
              <a:t>Local mode uses ordinary OSS routes — the proprietary Konnect AI plugins are not enabled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extBox 1"/>
          <p:cNvSpPr txBox="1"/>
          <p:nvPr/>
        </p:nvSpPr>
        <p:spPr>
          <a:xfrm>
            <a:off x="566928" y="320040"/>
            <a:ext cx="4937760" cy="256032"/>
          </a:xfrm>
          <a:prstGeom prst="rect">
            <a:avLst/>
          </a:prstGeom>
          <a:noFill/>
        </p:spPr>
        <p:txBody>
          <a:bodyPr wrap="square" lIns="36576" rIns="36576" tIns="36576" bIns="36576" anchor="t">
            <a:spAutoFit/>
          </a:bodyPr>
          <a:lstStyle/>
          <a:p>
            <a:pPr algn="l">
              <a:spcAft>
                <a:spcPts val="400"/>
              </a:spcAft>
              <a:defRPr sz="1000" b="1" i="0">
                <a:solidFill>
                  <a:srgbClr val="42D3E6"/>
                </a:solidFill>
                <a:latin typeface="Aptos"/>
              </a:defRPr>
            </a:pPr>
            <a:r>
              <a:t>05 • MANAGED CONFIGURATION</a:t>
            </a:r>
          </a:p>
        </p:txBody>
      </p:sp>
      <p:sp>
        <p:nvSpPr>
          <p:cNvPr id="3" name="TextBox 2"/>
          <p:cNvSpPr txBox="1"/>
          <p:nvPr/>
        </p:nvSpPr>
        <p:spPr>
          <a:xfrm>
            <a:off x="566928" y="658368"/>
            <a:ext cx="10972800" cy="502920"/>
          </a:xfrm>
          <a:prstGeom prst="rect">
            <a:avLst/>
          </a:prstGeom>
          <a:noFill/>
        </p:spPr>
        <p:txBody>
          <a:bodyPr wrap="square" lIns="36576" rIns="36576" tIns="36576" bIns="36576" anchor="t">
            <a:spAutoFit/>
          </a:bodyPr>
          <a:lstStyle/>
          <a:p>
            <a:pPr algn="l">
              <a:spcAft>
                <a:spcPts val="400"/>
              </a:spcAft>
              <a:defRPr sz="2700" b="1" i="0">
                <a:solidFill>
                  <a:srgbClr val="F4F7FF"/>
                </a:solidFill>
                <a:latin typeface="Aptos"/>
              </a:defRPr>
            </a:pPr>
            <a:r>
              <a:t>Kong Konnect: centrally managed gateway configuration</a:t>
            </a:r>
          </a:p>
        </p:txBody>
      </p:sp>
      <p:sp>
        <p:nvSpPr>
          <p:cNvPr id="4" name="TextBox 3"/>
          <p:cNvSpPr txBox="1"/>
          <p:nvPr/>
        </p:nvSpPr>
        <p:spPr>
          <a:xfrm>
            <a:off x="585216" y="1197864"/>
            <a:ext cx="10972800" cy="384048"/>
          </a:xfrm>
          <a:prstGeom prst="rect">
            <a:avLst/>
          </a:prstGeom>
          <a:noFill/>
        </p:spPr>
        <p:txBody>
          <a:bodyPr wrap="square" lIns="36576" rIns="36576" tIns="36576" bIns="36576" anchor="t">
            <a:spAutoFit/>
          </a:bodyPr>
          <a:lstStyle/>
          <a:p>
            <a:pPr algn="l">
              <a:spcAft>
                <a:spcPts val="400"/>
              </a:spcAft>
              <a:defRPr sz="1200" b="0" i="0">
                <a:solidFill>
                  <a:srgbClr val="AEBBD3"/>
                </a:solidFill>
                <a:latin typeface="Aptos"/>
              </a:defRPr>
            </a:pPr>
            <a:r>
              <a:t>Control-plane management and data-plane request serving are separate responsibilities.</a:t>
            </a:r>
          </a:p>
        </p:txBody>
      </p:sp>
      <p:sp>
        <p:nvSpPr>
          <p:cNvPr id="5" name="Rectangle 4"/>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6510528"/>
            <a:ext cx="6400800" cy="164592"/>
          </a:xfrm>
          <a:prstGeom prst="rect">
            <a:avLst/>
          </a:prstGeom>
          <a:noFill/>
        </p:spPr>
        <p:txBody>
          <a:bodyPr wrap="square" lIns="36576" rIns="36576" tIns="36576" bIns="36576" anchor="t">
            <a:spAutoFit/>
          </a:bodyPr>
          <a:lstStyle/>
          <a:p>
            <a:pPr algn="l">
              <a:spcAft>
                <a:spcPts val="400"/>
              </a:spcAft>
              <a:defRPr sz="800" b="1" i="0">
                <a:solidFill>
                  <a:srgbClr val="AEBBD3"/>
                </a:solidFill>
                <a:latin typeface="Aptos"/>
              </a:defRPr>
            </a:pPr>
            <a:r>
              <a:t>KONG CHATBOT ARCHITECTURE   •   05 / 10</a:t>
            </a:r>
          </a:p>
        </p:txBody>
      </p:sp>
      <p:sp>
        <p:nvSpPr>
          <p:cNvPr id="7" name="Rounded Rectangle 6"/>
          <p:cNvSpPr/>
          <p:nvPr/>
        </p:nvSpPr>
        <p:spPr>
          <a:xfrm>
            <a:off x="640080" y="2011680"/>
            <a:ext cx="2743200" cy="3383280"/>
          </a:xfrm>
          <a:prstGeom prst="roundRect">
            <a:avLst/>
          </a:prstGeom>
          <a:solidFill>
            <a:srgbClr val="181C36"/>
          </a:solidFill>
          <a:ln w="12700">
            <a:solidFill>
              <a:srgbClr val="A07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14400" y="2304288"/>
            <a:ext cx="1417320" cy="292608"/>
          </a:xfrm>
          <a:prstGeom prst="roundRect">
            <a:avLst/>
          </a:prstGeom>
          <a:solidFill>
            <a:srgbClr val="A07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322576"/>
            <a:ext cx="1344168"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CONTROL PLANE</a:t>
            </a:r>
          </a:p>
        </p:txBody>
      </p:sp>
      <p:sp>
        <p:nvSpPr>
          <p:cNvPr id="10" name="Rounded Rectangle 9"/>
          <p:cNvSpPr/>
          <p:nvPr/>
        </p:nvSpPr>
        <p:spPr>
          <a:xfrm>
            <a:off x="1097280" y="2971800"/>
            <a:ext cx="1737360" cy="621792"/>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700" b="1">
                <a:solidFill>
                  <a:srgbClr val="F4F7FF"/>
                </a:solidFill>
                <a:latin typeface="Aptos"/>
              </a:defRPr>
            </a:pPr>
            <a:r>
              <a:t>Konnect</a:t>
            </a:r>
          </a:p>
        </p:txBody>
      </p:sp>
      <p:sp>
        <p:nvSpPr>
          <p:cNvPr id="11" name="TextBox 10"/>
          <p:cNvSpPr txBox="1"/>
          <p:nvPr/>
        </p:nvSpPr>
        <p:spPr>
          <a:xfrm>
            <a:off x="914400" y="3886200"/>
            <a:ext cx="2148840" cy="640080"/>
          </a:xfrm>
          <a:prstGeom prst="rect">
            <a:avLst/>
          </a:prstGeom>
          <a:noFill/>
        </p:spPr>
        <p:txBody>
          <a:bodyPr wrap="square" lIns="36576" rIns="36576" tIns="36576" bIns="36576" anchor="t">
            <a:spAutoFit/>
          </a:bodyPr>
          <a:lstStyle/>
          <a:p>
            <a:pPr algn="ctr">
              <a:spcAft>
                <a:spcPts val="400"/>
              </a:spcAft>
              <a:defRPr sz="1300" b="0" i="0">
                <a:solidFill>
                  <a:srgbClr val="AEBBD3"/>
                </a:solidFill>
                <a:latin typeface="Aptos"/>
              </a:defRPr>
            </a:pPr>
            <a:r>
              <a:t>Manages gateway configuration and plugin policy</a:t>
            </a:r>
          </a:p>
        </p:txBody>
      </p:sp>
      <p:cxnSp>
        <p:nvCxnSpPr>
          <p:cNvPr id="12" name="Connector 11"/>
          <p:cNvCxnSpPr/>
          <p:nvPr/>
        </p:nvCxnSpPr>
        <p:spPr>
          <a:xfrm>
            <a:off x="3438144" y="3273552"/>
            <a:ext cx="722376" cy="0"/>
          </a:xfrm>
          <a:prstGeom prst="line">
            <a:avLst/>
          </a:prstGeom>
          <a:ln w="25400">
            <a:solidFill>
              <a:srgbClr val="A07DFF"/>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251960" y="2011680"/>
            <a:ext cx="3703320" cy="338328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26280" y="2304288"/>
            <a:ext cx="1234440" cy="292608"/>
          </a:xfrm>
          <a:prstGeom prst="round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2322576"/>
            <a:ext cx="1161288"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DATA PLANE</a:t>
            </a:r>
          </a:p>
        </p:txBody>
      </p:sp>
      <p:sp>
        <p:nvSpPr>
          <p:cNvPr id="16" name="Rounded Rectangle 15"/>
          <p:cNvSpPr/>
          <p:nvPr/>
        </p:nvSpPr>
        <p:spPr>
          <a:xfrm>
            <a:off x="4709160" y="2944368"/>
            <a:ext cx="2697480" cy="594360"/>
          </a:xfrm>
          <a:prstGeom prst="roundRect">
            <a:avLst/>
          </a:prstGeom>
          <a:solidFill>
            <a:srgbClr val="1A2641"/>
          </a:solidFill>
          <a:ln w="17780">
            <a:solidFill>
              <a:srgbClr val="42D3E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600" b="1">
                <a:solidFill>
                  <a:srgbClr val="F4F7FF"/>
                </a:solidFill>
                <a:latin typeface="Aptos"/>
              </a:defRPr>
            </a:pPr>
            <a:r>
              <a:t>Kong Gateway</a:t>
            </a:r>
          </a:p>
        </p:txBody>
      </p:sp>
      <p:sp>
        <p:nvSpPr>
          <p:cNvPr id="17" name="Rounded Rectangle 16"/>
          <p:cNvSpPr/>
          <p:nvPr/>
        </p:nvSpPr>
        <p:spPr>
          <a:xfrm>
            <a:off x="4553712" y="3886200"/>
            <a:ext cx="1417320" cy="621792"/>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200" b="1">
                <a:solidFill>
                  <a:srgbClr val="F4F7FF"/>
                </a:solidFill>
                <a:latin typeface="Aptos"/>
              </a:defRPr>
            </a:pPr>
            <a:r>
              <a:t>AI RAG Injector</a:t>
            </a:r>
          </a:p>
        </p:txBody>
      </p:sp>
      <p:sp>
        <p:nvSpPr>
          <p:cNvPr id="18" name="Rounded Rectangle 17"/>
          <p:cNvSpPr/>
          <p:nvPr/>
        </p:nvSpPr>
        <p:spPr>
          <a:xfrm>
            <a:off x="6199632" y="3886200"/>
            <a:ext cx="1417320" cy="621792"/>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200" b="1">
                <a:solidFill>
                  <a:srgbClr val="F4F7FF"/>
                </a:solidFill>
                <a:latin typeface="Aptos"/>
              </a:defRPr>
            </a:pPr>
            <a:r>
              <a:t>AI Proxy</a:t>
            </a:r>
            <a:br/>
            <a:r>
              <a:t>Advanced</a:t>
            </a:r>
          </a:p>
        </p:txBody>
      </p:sp>
      <p:cxnSp>
        <p:nvCxnSpPr>
          <p:cNvPr id="19" name="Connector 18"/>
          <p:cNvCxnSpPr/>
          <p:nvPr/>
        </p:nvCxnSpPr>
        <p:spPr>
          <a:xfrm flipH="1">
            <a:off x="5257800" y="3566160"/>
            <a:ext cx="777240" cy="265176"/>
          </a:xfrm>
          <a:prstGeom prst="line">
            <a:avLst/>
          </a:prstGeom>
          <a:ln w="25400">
            <a:solidFill>
              <a:srgbClr val="A07DF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035040" y="3566160"/>
            <a:ext cx="868680" cy="265176"/>
          </a:xfrm>
          <a:prstGeom prst="line">
            <a:avLst/>
          </a:prstGeom>
          <a:ln w="25400">
            <a:solidFill>
              <a:srgbClr val="A07DFF"/>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229600" y="2011680"/>
            <a:ext cx="3337560" cy="3383280"/>
          </a:xfrm>
          <a:prstGeom prst="roundRect">
            <a:avLst/>
          </a:prstGeom>
          <a:solidFill>
            <a:srgbClr val="10232B"/>
          </a:solidFill>
          <a:ln w="12700">
            <a:solidFill>
              <a:srgbClr val="48E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503920" y="2304288"/>
            <a:ext cx="1874519" cy="292608"/>
          </a:xfrm>
          <a:prstGeom prst="roundRect">
            <a:avLst/>
          </a:prstGeom>
          <a:solidFill>
            <a:srgbClr val="48E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40496" y="2322576"/>
            <a:ext cx="1801367"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SUPPORTING SERVICES</a:t>
            </a:r>
          </a:p>
        </p:txBody>
      </p:sp>
      <p:sp>
        <p:nvSpPr>
          <p:cNvPr id="24" name="Rounded Rectangle 23"/>
          <p:cNvSpPr/>
          <p:nvPr/>
        </p:nvSpPr>
        <p:spPr>
          <a:xfrm>
            <a:off x="8503920" y="3017520"/>
            <a:ext cx="1234440" cy="731520"/>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200" b="1">
                <a:solidFill>
                  <a:srgbClr val="F4F7FF"/>
                </a:solidFill>
                <a:latin typeface="Aptos"/>
              </a:defRPr>
            </a:pPr>
            <a:r>
              <a:t>Redis Stack</a:t>
            </a:r>
            <a:br/>
            <a:r>
              <a:t>vector index</a:t>
            </a:r>
          </a:p>
        </p:txBody>
      </p:sp>
      <p:sp>
        <p:nvSpPr>
          <p:cNvPr id="25" name="Rounded Rectangle 24"/>
          <p:cNvSpPr/>
          <p:nvPr/>
        </p:nvSpPr>
        <p:spPr>
          <a:xfrm>
            <a:off x="10058400" y="3017520"/>
            <a:ext cx="1234440" cy="731520"/>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100" b="1">
                <a:solidFill>
                  <a:srgbClr val="F4F7FF"/>
                </a:solidFill>
                <a:latin typeface="Aptos"/>
              </a:defRPr>
            </a:pPr>
            <a:r>
              <a:t>OpenAI</a:t>
            </a:r>
            <a:br/>
            <a:r>
              <a:t>embeddings + chat</a:t>
            </a:r>
          </a:p>
        </p:txBody>
      </p:sp>
      <p:cxnSp>
        <p:nvCxnSpPr>
          <p:cNvPr id="26" name="Connector 25"/>
          <p:cNvCxnSpPr/>
          <p:nvPr/>
        </p:nvCxnSpPr>
        <p:spPr>
          <a:xfrm flipV="1">
            <a:off x="7982712" y="3566160"/>
            <a:ext cx="466344" cy="603503"/>
          </a:xfrm>
          <a:prstGeom prst="line">
            <a:avLst/>
          </a:prstGeom>
          <a:ln w="25400">
            <a:solidFill>
              <a:srgbClr val="48E0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7982712" y="3566160"/>
            <a:ext cx="2020824" cy="603503"/>
          </a:xfrm>
          <a:prstGeom prst="line">
            <a:avLst/>
          </a:prstGeom>
          <a:ln w="25400">
            <a:solidFill>
              <a:srgbClr val="48E0B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22960" y="5596128"/>
            <a:ext cx="5166360" cy="438912"/>
          </a:xfrm>
          <a:prstGeom prst="rect">
            <a:avLst/>
          </a:prstGeom>
          <a:noFill/>
        </p:spPr>
        <p:txBody>
          <a:bodyPr wrap="square" lIns="36576" rIns="36576" tIns="36576" bIns="36576" anchor="t">
            <a:spAutoFit/>
          </a:bodyPr>
          <a:lstStyle/>
          <a:p>
            <a:pPr algn="l">
              <a:spcAft>
                <a:spcPts val="400"/>
              </a:spcAft>
              <a:defRPr sz="1200" b="0" i="0">
                <a:solidFill>
                  <a:srgbClr val="F4F7FF"/>
                </a:solidFill>
                <a:latin typeface="Aptos"/>
              </a:defRPr>
            </a:pPr>
            <a:r>
              <a:t>Bootstrap configures the data-plane certificate, service, routes and plugins.</a:t>
            </a:r>
          </a:p>
        </p:txBody>
      </p:sp>
      <p:sp>
        <p:nvSpPr>
          <p:cNvPr id="29" name="TextBox 28"/>
          <p:cNvSpPr txBox="1"/>
          <p:nvPr/>
        </p:nvSpPr>
        <p:spPr>
          <a:xfrm>
            <a:off x="6217920" y="5596128"/>
            <a:ext cx="5166360" cy="566928"/>
          </a:xfrm>
          <a:prstGeom prst="rect">
            <a:avLst/>
          </a:prstGeom>
          <a:noFill/>
        </p:spPr>
        <p:txBody>
          <a:bodyPr wrap="square" lIns="36576" rIns="36576" tIns="36576" bIns="36576" anchor="t">
            <a:spAutoFit/>
          </a:bodyPr>
          <a:lstStyle/>
          <a:p>
            <a:pPr algn="l">
              <a:spcAft>
                <a:spcPts val="400"/>
              </a:spcAft>
              <a:defRPr sz="1100" b="0" i="0">
                <a:solidFill>
                  <a:srgbClr val="FFB55B"/>
                </a:solidFill>
                <a:latin typeface="Aptos"/>
              </a:defRPr>
            </a:pPr>
            <a:r>
              <a:t>Requires compatible Konnect entitlement + OpenAI credentials. Ingestion has additional standalone Enterprise licensing requirements.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extBox 1"/>
          <p:cNvSpPr txBox="1"/>
          <p:nvPr/>
        </p:nvSpPr>
        <p:spPr>
          <a:xfrm>
            <a:off x="566928" y="320040"/>
            <a:ext cx="4937760" cy="256032"/>
          </a:xfrm>
          <a:prstGeom prst="rect">
            <a:avLst/>
          </a:prstGeom>
          <a:noFill/>
        </p:spPr>
        <p:txBody>
          <a:bodyPr wrap="square" lIns="36576" rIns="36576" tIns="36576" bIns="36576" anchor="t">
            <a:spAutoFit/>
          </a:bodyPr>
          <a:lstStyle/>
          <a:p>
            <a:pPr algn="l">
              <a:spcAft>
                <a:spcPts val="400"/>
              </a:spcAft>
              <a:defRPr sz="1000" b="1" i="0">
                <a:solidFill>
                  <a:srgbClr val="42D3E6"/>
                </a:solidFill>
                <a:latin typeface="Aptos"/>
              </a:defRPr>
            </a:pPr>
            <a:r>
              <a:t>06 • APPLICATION LAYER</a:t>
            </a:r>
          </a:p>
        </p:txBody>
      </p:sp>
      <p:sp>
        <p:nvSpPr>
          <p:cNvPr id="3" name="TextBox 2"/>
          <p:cNvSpPr txBox="1"/>
          <p:nvPr/>
        </p:nvSpPr>
        <p:spPr>
          <a:xfrm>
            <a:off x="566928" y="658368"/>
            <a:ext cx="10972800" cy="502920"/>
          </a:xfrm>
          <a:prstGeom prst="rect">
            <a:avLst/>
          </a:prstGeom>
          <a:noFill/>
        </p:spPr>
        <p:txBody>
          <a:bodyPr wrap="square" lIns="36576" rIns="36576" tIns="36576" bIns="36576" anchor="t">
            <a:spAutoFit/>
          </a:bodyPr>
          <a:lstStyle/>
          <a:p>
            <a:pPr algn="l">
              <a:spcAft>
                <a:spcPts val="400"/>
              </a:spcAft>
              <a:defRPr sz="2700" b="1" i="0">
                <a:solidFill>
                  <a:srgbClr val="F4F7FF"/>
                </a:solidFill>
                <a:latin typeface="Aptos"/>
              </a:defRPr>
            </a:pPr>
            <a:r>
              <a:t>Spring Boot: API and application orchestration</a:t>
            </a:r>
          </a:p>
        </p:txBody>
      </p:sp>
      <p:sp>
        <p:nvSpPr>
          <p:cNvPr id="4" name="TextBox 3"/>
          <p:cNvSpPr txBox="1"/>
          <p:nvPr/>
        </p:nvSpPr>
        <p:spPr>
          <a:xfrm>
            <a:off x="585216" y="1197864"/>
            <a:ext cx="10972800" cy="384048"/>
          </a:xfrm>
          <a:prstGeom prst="rect">
            <a:avLst/>
          </a:prstGeom>
          <a:noFill/>
        </p:spPr>
        <p:txBody>
          <a:bodyPr wrap="square" lIns="36576" rIns="36576" tIns="36576" bIns="36576" anchor="t">
            <a:spAutoFit/>
          </a:bodyPr>
          <a:lstStyle/>
          <a:p>
            <a:pPr algn="l">
              <a:spcAft>
                <a:spcPts val="400"/>
              </a:spcAft>
              <a:defRPr sz="1200" b="0" i="0">
                <a:solidFill>
                  <a:srgbClr val="AEBBD3"/>
                </a:solidFill>
                <a:latin typeface="Aptos"/>
              </a:defRPr>
            </a:pPr>
            <a:r>
              <a:t>A stable HTTP API coordinates chat behavior while retrieval stays mode-dependent.</a:t>
            </a:r>
          </a:p>
        </p:txBody>
      </p:sp>
      <p:sp>
        <p:nvSpPr>
          <p:cNvPr id="5" name="Rectangle 4"/>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6510528"/>
            <a:ext cx="6400800" cy="164592"/>
          </a:xfrm>
          <a:prstGeom prst="rect">
            <a:avLst/>
          </a:prstGeom>
          <a:noFill/>
        </p:spPr>
        <p:txBody>
          <a:bodyPr wrap="square" lIns="36576" rIns="36576" tIns="36576" bIns="36576" anchor="t">
            <a:spAutoFit/>
          </a:bodyPr>
          <a:lstStyle/>
          <a:p>
            <a:pPr algn="l">
              <a:spcAft>
                <a:spcPts val="400"/>
              </a:spcAft>
              <a:defRPr sz="800" b="1" i="0">
                <a:solidFill>
                  <a:srgbClr val="AEBBD3"/>
                </a:solidFill>
                <a:latin typeface="Aptos"/>
              </a:defRPr>
            </a:pPr>
            <a:r>
              <a:t>KONG CHATBOT ARCHITECTURE   •   06 / 10</a:t>
            </a:r>
          </a:p>
        </p:txBody>
      </p:sp>
      <p:sp>
        <p:nvSpPr>
          <p:cNvPr id="7" name="Rounded Rectangle 6"/>
          <p:cNvSpPr/>
          <p:nvPr/>
        </p:nvSpPr>
        <p:spPr>
          <a:xfrm>
            <a:off x="640080" y="1993392"/>
            <a:ext cx="2606040" cy="841248"/>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86384" y="2157984"/>
            <a:ext cx="594360" cy="292608"/>
          </a:xfrm>
          <a:prstGeom prst="round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176272"/>
            <a:ext cx="521208"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POST</a:t>
            </a:r>
          </a:p>
        </p:txBody>
      </p:sp>
      <p:sp>
        <p:nvSpPr>
          <p:cNvPr id="10" name="TextBox 9"/>
          <p:cNvSpPr txBox="1"/>
          <p:nvPr/>
        </p:nvSpPr>
        <p:spPr>
          <a:xfrm>
            <a:off x="1463040" y="2139696"/>
            <a:ext cx="1645920" cy="219456"/>
          </a:xfrm>
          <a:prstGeom prst="rect">
            <a:avLst/>
          </a:prstGeom>
          <a:noFill/>
        </p:spPr>
        <p:txBody>
          <a:bodyPr wrap="square" lIns="36576" rIns="36576" tIns="36576" bIns="36576" anchor="t">
            <a:spAutoFit/>
          </a:bodyPr>
          <a:lstStyle/>
          <a:p>
            <a:pPr algn="l">
              <a:spcAft>
                <a:spcPts val="400"/>
              </a:spcAft>
              <a:defRPr sz="1200" b="1" i="0">
                <a:solidFill>
                  <a:srgbClr val="F4F7FF"/>
                </a:solidFill>
                <a:latin typeface="Aptos"/>
              </a:defRPr>
            </a:pPr>
            <a:r>
              <a:t>/api/rag/chat</a:t>
            </a:r>
          </a:p>
        </p:txBody>
      </p:sp>
      <p:sp>
        <p:nvSpPr>
          <p:cNvPr id="11" name="TextBox 10"/>
          <p:cNvSpPr txBox="1"/>
          <p:nvPr/>
        </p:nvSpPr>
        <p:spPr>
          <a:xfrm>
            <a:off x="1463040" y="2404872"/>
            <a:ext cx="1645920" cy="182880"/>
          </a:xfrm>
          <a:prstGeom prst="rect">
            <a:avLst/>
          </a:prstGeom>
          <a:noFill/>
        </p:spPr>
        <p:txBody>
          <a:bodyPr wrap="square" lIns="36576" rIns="36576" tIns="36576" bIns="36576" anchor="t">
            <a:spAutoFit/>
          </a:bodyPr>
          <a:lstStyle/>
          <a:p>
            <a:pPr algn="l">
              <a:spcAft>
                <a:spcPts val="400"/>
              </a:spcAft>
              <a:defRPr sz="900" b="0" i="0">
                <a:solidFill>
                  <a:srgbClr val="AEBBD3"/>
                </a:solidFill>
                <a:latin typeface="Aptos"/>
              </a:defRPr>
            </a:pPr>
            <a:r>
              <a:t>RAG chat</a:t>
            </a:r>
          </a:p>
        </p:txBody>
      </p:sp>
      <p:sp>
        <p:nvSpPr>
          <p:cNvPr id="12" name="Rounded Rectangle 11"/>
          <p:cNvSpPr/>
          <p:nvPr/>
        </p:nvSpPr>
        <p:spPr>
          <a:xfrm>
            <a:off x="3502152" y="1993392"/>
            <a:ext cx="2606040" cy="841248"/>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48456" y="2157984"/>
            <a:ext cx="594360" cy="292608"/>
          </a:xfrm>
          <a:prstGeom prst="round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85032" y="2176272"/>
            <a:ext cx="521208"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POST</a:t>
            </a:r>
          </a:p>
        </p:txBody>
      </p:sp>
      <p:sp>
        <p:nvSpPr>
          <p:cNvPr id="15" name="TextBox 14"/>
          <p:cNvSpPr txBox="1"/>
          <p:nvPr/>
        </p:nvSpPr>
        <p:spPr>
          <a:xfrm>
            <a:off x="4325112" y="2139696"/>
            <a:ext cx="1645920" cy="219456"/>
          </a:xfrm>
          <a:prstGeom prst="rect">
            <a:avLst/>
          </a:prstGeom>
          <a:noFill/>
        </p:spPr>
        <p:txBody>
          <a:bodyPr wrap="square" lIns="36576" rIns="36576" tIns="36576" bIns="36576" anchor="t">
            <a:spAutoFit/>
          </a:bodyPr>
          <a:lstStyle/>
          <a:p>
            <a:pPr algn="l">
              <a:spcAft>
                <a:spcPts val="400"/>
              </a:spcAft>
              <a:defRPr sz="1200" b="1" i="0">
                <a:solidFill>
                  <a:srgbClr val="F4F7FF"/>
                </a:solidFill>
                <a:latin typeface="Aptos"/>
              </a:defRPr>
            </a:pPr>
            <a:r>
              <a:t>/api/support/chat</a:t>
            </a:r>
          </a:p>
        </p:txBody>
      </p:sp>
      <p:sp>
        <p:nvSpPr>
          <p:cNvPr id="16" name="TextBox 15"/>
          <p:cNvSpPr txBox="1"/>
          <p:nvPr/>
        </p:nvSpPr>
        <p:spPr>
          <a:xfrm>
            <a:off x="4325112" y="2404872"/>
            <a:ext cx="1645920" cy="182880"/>
          </a:xfrm>
          <a:prstGeom prst="rect">
            <a:avLst/>
          </a:prstGeom>
          <a:noFill/>
        </p:spPr>
        <p:txBody>
          <a:bodyPr wrap="square" lIns="36576" rIns="36576" tIns="36576" bIns="36576" anchor="t">
            <a:spAutoFit/>
          </a:bodyPr>
          <a:lstStyle/>
          <a:p>
            <a:pPr algn="l">
              <a:spcAft>
                <a:spcPts val="400"/>
              </a:spcAft>
              <a:defRPr sz="900" b="0" i="0">
                <a:solidFill>
                  <a:srgbClr val="AEBBD3"/>
                </a:solidFill>
                <a:latin typeface="Aptos"/>
              </a:defRPr>
            </a:pPr>
            <a:r>
              <a:t>Support chat</a:t>
            </a:r>
          </a:p>
        </p:txBody>
      </p:sp>
      <p:sp>
        <p:nvSpPr>
          <p:cNvPr id="17" name="Rounded Rectangle 16"/>
          <p:cNvSpPr/>
          <p:nvPr/>
        </p:nvSpPr>
        <p:spPr>
          <a:xfrm>
            <a:off x="6364224" y="1993392"/>
            <a:ext cx="2606040" cy="841248"/>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10528" y="2157984"/>
            <a:ext cx="594360" cy="292608"/>
          </a:xfrm>
          <a:prstGeom prst="round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47104" y="2176272"/>
            <a:ext cx="521208"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POST</a:t>
            </a:r>
          </a:p>
        </p:txBody>
      </p:sp>
      <p:sp>
        <p:nvSpPr>
          <p:cNvPr id="20" name="TextBox 19"/>
          <p:cNvSpPr txBox="1"/>
          <p:nvPr/>
        </p:nvSpPr>
        <p:spPr>
          <a:xfrm>
            <a:off x="7187184" y="2139696"/>
            <a:ext cx="1645920" cy="219456"/>
          </a:xfrm>
          <a:prstGeom prst="rect">
            <a:avLst/>
          </a:prstGeom>
          <a:noFill/>
        </p:spPr>
        <p:txBody>
          <a:bodyPr wrap="square" lIns="36576" rIns="36576" tIns="36576" bIns="36576" anchor="t">
            <a:spAutoFit/>
          </a:bodyPr>
          <a:lstStyle/>
          <a:p>
            <a:pPr algn="l">
              <a:spcAft>
                <a:spcPts val="400"/>
              </a:spcAft>
              <a:defRPr sz="1200" b="1" i="0">
                <a:solidFill>
                  <a:srgbClr val="F4F7FF"/>
                </a:solidFill>
                <a:latin typeface="Aptos"/>
              </a:defRPr>
            </a:pPr>
            <a:r>
              <a:t>/api/chat</a:t>
            </a:r>
          </a:p>
        </p:txBody>
      </p:sp>
      <p:sp>
        <p:nvSpPr>
          <p:cNvPr id="21" name="TextBox 20"/>
          <p:cNvSpPr txBox="1"/>
          <p:nvPr/>
        </p:nvSpPr>
        <p:spPr>
          <a:xfrm>
            <a:off x="7187184" y="2404872"/>
            <a:ext cx="1645920" cy="182880"/>
          </a:xfrm>
          <a:prstGeom prst="rect">
            <a:avLst/>
          </a:prstGeom>
          <a:noFill/>
        </p:spPr>
        <p:txBody>
          <a:bodyPr wrap="square" lIns="36576" rIns="36576" tIns="36576" bIns="36576" anchor="t">
            <a:spAutoFit/>
          </a:bodyPr>
          <a:lstStyle/>
          <a:p>
            <a:pPr algn="l">
              <a:spcAft>
                <a:spcPts val="400"/>
              </a:spcAft>
              <a:defRPr sz="900" b="0" i="0">
                <a:solidFill>
                  <a:srgbClr val="AEBBD3"/>
                </a:solidFill>
                <a:latin typeface="Aptos"/>
              </a:defRPr>
            </a:pPr>
            <a:r>
              <a:t>Compatibility alias</a:t>
            </a:r>
          </a:p>
        </p:txBody>
      </p:sp>
      <p:sp>
        <p:nvSpPr>
          <p:cNvPr id="22" name="Rounded Rectangle 21"/>
          <p:cNvSpPr/>
          <p:nvPr/>
        </p:nvSpPr>
        <p:spPr>
          <a:xfrm>
            <a:off x="9226296" y="1993392"/>
            <a:ext cx="2606040" cy="841248"/>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372600" y="2157984"/>
            <a:ext cx="594360" cy="292608"/>
          </a:xfrm>
          <a:prstGeom prst="roundRect">
            <a:avLst/>
          </a:prstGeom>
          <a:solidFill>
            <a:srgbClr val="48E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09176" y="2176272"/>
            <a:ext cx="521208"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GET</a:t>
            </a:r>
          </a:p>
        </p:txBody>
      </p:sp>
      <p:sp>
        <p:nvSpPr>
          <p:cNvPr id="25" name="TextBox 24"/>
          <p:cNvSpPr txBox="1"/>
          <p:nvPr/>
        </p:nvSpPr>
        <p:spPr>
          <a:xfrm>
            <a:off x="10049256" y="2139696"/>
            <a:ext cx="1645920" cy="219456"/>
          </a:xfrm>
          <a:prstGeom prst="rect">
            <a:avLst/>
          </a:prstGeom>
          <a:noFill/>
        </p:spPr>
        <p:txBody>
          <a:bodyPr wrap="square" lIns="36576" rIns="36576" tIns="36576" bIns="36576" anchor="t">
            <a:spAutoFit/>
          </a:bodyPr>
          <a:lstStyle/>
          <a:p>
            <a:pPr algn="l">
              <a:spcAft>
                <a:spcPts val="400"/>
              </a:spcAft>
              <a:defRPr sz="1200" b="1" i="0">
                <a:solidFill>
                  <a:srgbClr val="F4F7FF"/>
                </a:solidFill>
                <a:latin typeface="Aptos"/>
              </a:defRPr>
            </a:pPr>
            <a:r>
              <a:t>/health</a:t>
            </a:r>
          </a:p>
        </p:txBody>
      </p:sp>
      <p:sp>
        <p:nvSpPr>
          <p:cNvPr id="26" name="TextBox 25"/>
          <p:cNvSpPr txBox="1"/>
          <p:nvPr/>
        </p:nvSpPr>
        <p:spPr>
          <a:xfrm>
            <a:off x="10049256" y="2404872"/>
            <a:ext cx="1645920" cy="182880"/>
          </a:xfrm>
          <a:prstGeom prst="rect">
            <a:avLst/>
          </a:prstGeom>
          <a:noFill/>
        </p:spPr>
        <p:txBody>
          <a:bodyPr wrap="square" lIns="36576" rIns="36576" tIns="36576" bIns="36576" anchor="t">
            <a:spAutoFit/>
          </a:bodyPr>
          <a:lstStyle/>
          <a:p>
            <a:pPr algn="l">
              <a:spcAft>
                <a:spcPts val="400"/>
              </a:spcAft>
              <a:defRPr sz="900" b="0" i="0">
                <a:solidFill>
                  <a:srgbClr val="AEBBD3"/>
                </a:solidFill>
                <a:latin typeface="Aptos"/>
              </a:defRPr>
            </a:pPr>
            <a:r>
              <a:t>Health check</a:t>
            </a:r>
          </a:p>
        </p:txBody>
      </p:sp>
      <p:sp>
        <p:nvSpPr>
          <p:cNvPr id="27" name="Rounded Rectangle 26"/>
          <p:cNvSpPr/>
          <p:nvPr/>
        </p:nvSpPr>
        <p:spPr>
          <a:xfrm>
            <a:off x="822960" y="3703320"/>
            <a:ext cx="1965960" cy="731520"/>
          </a:xfrm>
          <a:prstGeom prst="roundRect">
            <a:avLst/>
          </a:prstGeom>
          <a:solidFill>
            <a:srgbClr val="1A2641"/>
          </a:solidFill>
          <a:ln w="17780">
            <a:solidFill>
              <a:srgbClr val="42D3E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300" b="1">
                <a:solidFill>
                  <a:srgbClr val="F4F7FF"/>
                </a:solidFill>
                <a:latin typeface="Aptos"/>
              </a:defRPr>
            </a:pPr>
            <a:r>
              <a:t>ChatController</a:t>
            </a:r>
          </a:p>
        </p:txBody>
      </p:sp>
      <p:sp>
        <p:nvSpPr>
          <p:cNvPr id="28" name="Rounded Rectangle 27"/>
          <p:cNvSpPr/>
          <p:nvPr/>
        </p:nvSpPr>
        <p:spPr>
          <a:xfrm>
            <a:off x="3337560" y="3703320"/>
            <a:ext cx="1828800" cy="731520"/>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300" b="1">
                <a:solidFill>
                  <a:srgbClr val="F4F7FF"/>
                </a:solidFill>
                <a:latin typeface="Aptos"/>
              </a:defRPr>
            </a:pPr>
            <a:r>
              <a:t>ChatService</a:t>
            </a:r>
          </a:p>
        </p:txBody>
      </p:sp>
      <p:sp>
        <p:nvSpPr>
          <p:cNvPr id="29" name="Rounded Rectangle 28"/>
          <p:cNvSpPr/>
          <p:nvPr/>
        </p:nvSpPr>
        <p:spPr>
          <a:xfrm>
            <a:off x="5715000" y="3703320"/>
            <a:ext cx="1965960" cy="731520"/>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300" b="1">
                <a:solidFill>
                  <a:srgbClr val="F4F7FF"/>
                </a:solidFill>
                <a:latin typeface="Aptos"/>
              </a:defRPr>
            </a:pPr>
            <a:r>
              <a:t>KongAiGateway</a:t>
            </a:r>
            <a:br/>
            <a:r>
              <a:t>Client</a:t>
            </a:r>
          </a:p>
        </p:txBody>
      </p:sp>
      <p:sp>
        <p:nvSpPr>
          <p:cNvPr id="30" name="Rounded Rectangle 29"/>
          <p:cNvSpPr/>
          <p:nvPr/>
        </p:nvSpPr>
        <p:spPr>
          <a:xfrm>
            <a:off x="8229600" y="3703320"/>
            <a:ext cx="1828800" cy="731520"/>
          </a:xfrm>
          <a:prstGeom prst="roundRect">
            <a:avLst/>
          </a:prstGeom>
          <a:solidFill>
            <a:srgbClr val="1A2641"/>
          </a:solidFill>
          <a:ln w="17780">
            <a:solidFill>
              <a:srgbClr val="42D3E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300" b="1">
                <a:solidFill>
                  <a:srgbClr val="F4F7FF"/>
                </a:solidFill>
                <a:latin typeface="Aptos"/>
              </a:defRPr>
            </a:pPr>
            <a:r>
              <a:t>Kong Gateway</a:t>
            </a:r>
          </a:p>
        </p:txBody>
      </p:sp>
      <p:cxnSp>
        <p:nvCxnSpPr>
          <p:cNvPr id="31" name="Connector 30"/>
          <p:cNvCxnSpPr/>
          <p:nvPr/>
        </p:nvCxnSpPr>
        <p:spPr>
          <a:xfrm>
            <a:off x="2816352" y="4069080"/>
            <a:ext cx="457200" cy="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212080" y="4069080"/>
            <a:ext cx="438912" cy="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726679" y="4069080"/>
            <a:ext cx="438913" cy="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22960" y="4828032"/>
            <a:ext cx="5212080" cy="914400"/>
          </a:xfrm>
          <a:prstGeom prst="roundRect">
            <a:avLst/>
          </a:prstGeom>
          <a:solidFill>
            <a:srgbClr val="122429"/>
          </a:solidFill>
          <a:ln w="12700">
            <a:solidFill>
              <a:srgbClr val="48E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5010912"/>
            <a:ext cx="1143000" cy="201168"/>
          </a:xfrm>
          <a:prstGeom prst="rect">
            <a:avLst/>
          </a:prstGeom>
          <a:noFill/>
        </p:spPr>
        <p:txBody>
          <a:bodyPr wrap="square" lIns="36576" rIns="36576" tIns="36576" bIns="36576" anchor="t">
            <a:spAutoFit/>
          </a:bodyPr>
          <a:lstStyle/>
          <a:p>
            <a:pPr algn="l">
              <a:spcAft>
                <a:spcPts val="400"/>
              </a:spcAft>
              <a:defRPr sz="1000" b="1" i="0">
                <a:solidFill>
                  <a:srgbClr val="48E0B8"/>
                </a:solidFill>
                <a:latin typeface="Aptos"/>
              </a:defRPr>
            </a:pPr>
            <a:r>
              <a:t>LOCAL MODE</a:t>
            </a:r>
          </a:p>
        </p:txBody>
      </p:sp>
      <p:sp>
        <p:nvSpPr>
          <p:cNvPr id="36" name="TextBox 35"/>
          <p:cNvSpPr txBox="1"/>
          <p:nvPr/>
        </p:nvSpPr>
        <p:spPr>
          <a:xfrm>
            <a:off x="2148840" y="4965192"/>
            <a:ext cx="3611880" cy="384048"/>
          </a:xfrm>
          <a:prstGeom prst="rect">
            <a:avLst/>
          </a:prstGeom>
          <a:noFill/>
        </p:spPr>
        <p:txBody>
          <a:bodyPr wrap="square" lIns="36576" rIns="36576" tIns="36576" bIns="36576" anchor="t">
            <a:spAutoFit/>
          </a:bodyPr>
          <a:lstStyle/>
          <a:p>
            <a:pPr algn="l">
              <a:spcAft>
                <a:spcPts val="400"/>
              </a:spcAft>
              <a:defRPr sz="1100" b="0" i="0">
                <a:solidFill>
                  <a:srgbClr val="F4F7FF"/>
                </a:solidFill>
                <a:latin typeface="Aptos"/>
              </a:defRPr>
            </a:pPr>
            <a:r>
              <a:t>Startup indexing + question-time retrieval via KnowledgeContextProvider</a:t>
            </a:r>
          </a:p>
        </p:txBody>
      </p:sp>
      <p:sp>
        <p:nvSpPr>
          <p:cNvPr id="37" name="Rounded Rectangle 36"/>
          <p:cNvSpPr/>
          <p:nvPr/>
        </p:nvSpPr>
        <p:spPr>
          <a:xfrm>
            <a:off x="6263640" y="4828032"/>
            <a:ext cx="5074920" cy="914400"/>
          </a:xfrm>
          <a:prstGeom prst="roundRect">
            <a:avLst/>
          </a:prstGeom>
          <a:solidFill>
            <a:srgbClr val="1E1A30"/>
          </a:solidFill>
          <a:ln w="12700">
            <a:solidFill>
              <a:srgbClr val="A07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92240" y="5010912"/>
            <a:ext cx="1371600" cy="201168"/>
          </a:xfrm>
          <a:prstGeom prst="rect">
            <a:avLst/>
          </a:prstGeom>
          <a:noFill/>
        </p:spPr>
        <p:txBody>
          <a:bodyPr wrap="square" lIns="36576" rIns="36576" tIns="36576" bIns="36576" anchor="t">
            <a:spAutoFit/>
          </a:bodyPr>
          <a:lstStyle/>
          <a:p>
            <a:pPr algn="l">
              <a:spcAft>
                <a:spcPts val="400"/>
              </a:spcAft>
              <a:defRPr sz="1000" b="1" i="0">
                <a:solidFill>
                  <a:srgbClr val="A07DFF"/>
                </a:solidFill>
                <a:latin typeface="Aptos"/>
              </a:defRPr>
            </a:pPr>
            <a:r>
              <a:t>KONNECT MODE</a:t>
            </a:r>
          </a:p>
        </p:txBody>
      </p:sp>
      <p:sp>
        <p:nvSpPr>
          <p:cNvPr id="39" name="TextBox 38"/>
          <p:cNvSpPr txBox="1"/>
          <p:nvPr/>
        </p:nvSpPr>
        <p:spPr>
          <a:xfrm>
            <a:off x="7818120" y="4965192"/>
            <a:ext cx="3200400" cy="384048"/>
          </a:xfrm>
          <a:prstGeom prst="rect">
            <a:avLst/>
          </a:prstGeom>
          <a:noFill/>
        </p:spPr>
        <p:txBody>
          <a:bodyPr wrap="square" lIns="36576" rIns="36576" tIns="36576" bIns="36576" anchor="t">
            <a:spAutoFit/>
          </a:bodyPr>
          <a:lstStyle/>
          <a:p>
            <a:pPr algn="l">
              <a:spcAft>
                <a:spcPts val="400"/>
              </a:spcAft>
              <a:defRPr sz="1100" b="0" i="0">
                <a:solidFill>
                  <a:srgbClr val="F4F7FF"/>
                </a:solidFill>
                <a:latin typeface="Aptos"/>
              </a:defRPr>
            </a:pPr>
            <a:r>
              <a:t>Retrieval is delegated to Kong's configured RAG plugin</a:t>
            </a:r>
          </a:p>
        </p:txBody>
      </p:sp>
      <p:sp>
        <p:nvSpPr>
          <p:cNvPr id="40" name="TextBox 39"/>
          <p:cNvSpPr txBox="1"/>
          <p:nvPr/>
        </p:nvSpPr>
        <p:spPr>
          <a:xfrm>
            <a:off x="960120" y="6053328"/>
            <a:ext cx="10241280" cy="256032"/>
          </a:xfrm>
          <a:prstGeom prst="rect">
            <a:avLst/>
          </a:prstGeom>
          <a:noFill/>
        </p:spPr>
        <p:txBody>
          <a:bodyPr wrap="square" lIns="36576" rIns="36576" tIns="36576" bIns="36576" anchor="t">
            <a:spAutoFit/>
          </a:bodyPr>
          <a:lstStyle/>
          <a:p>
            <a:pPr algn="ctr">
              <a:spcAft>
                <a:spcPts val="400"/>
              </a:spcAft>
              <a:defRPr sz="1100" b="0" i="0">
                <a:solidFill>
                  <a:srgbClr val="AEBBD3"/>
                </a:solidFill>
                <a:latin typeface="Aptos"/>
              </a:defRPr>
            </a:pPr>
            <a:r>
              <a:t>Validation and gateway failures are explicit; local context includes source titles.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extBox 1"/>
          <p:cNvSpPr txBox="1"/>
          <p:nvPr/>
        </p:nvSpPr>
        <p:spPr>
          <a:xfrm>
            <a:off x="566928" y="320040"/>
            <a:ext cx="4937760" cy="256032"/>
          </a:xfrm>
          <a:prstGeom prst="rect">
            <a:avLst/>
          </a:prstGeom>
          <a:noFill/>
        </p:spPr>
        <p:txBody>
          <a:bodyPr wrap="square" lIns="36576" rIns="36576" tIns="36576" bIns="36576" anchor="t">
            <a:spAutoFit/>
          </a:bodyPr>
          <a:lstStyle/>
          <a:p>
            <a:pPr algn="l">
              <a:spcAft>
                <a:spcPts val="400"/>
              </a:spcAft>
              <a:defRPr sz="1000" b="1" i="0">
                <a:solidFill>
                  <a:srgbClr val="42D3E6"/>
                </a:solidFill>
                <a:latin typeface="Aptos"/>
              </a:defRPr>
            </a:pPr>
            <a:r>
              <a:t>07 • LOCAL IMPLEMENTATION</a:t>
            </a:r>
          </a:p>
        </p:txBody>
      </p:sp>
      <p:sp>
        <p:nvSpPr>
          <p:cNvPr id="3" name="TextBox 2"/>
          <p:cNvSpPr txBox="1"/>
          <p:nvPr/>
        </p:nvSpPr>
        <p:spPr>
          <a:xfrm>
            <a:off x="566928" y="658368"/>
            <a:ext cx="10972800" cy="502920"/>
          </a:xfrm>
          <a:prstGeom prst="rect">
            <a:avLst/>
          </a:prstGeom>
          <a:noFill/>
        </p:spPr>
        <p:txBody>
          <a:bodyPr wrap="square" lIns="36576" rIns="36576" tIns="36576" bIns="36576" anchor="t">
            <a:spAutoFit/>
          </a:bodyPr>
          <a:lstStyle/>
          <a:p>
            <a:pPr algn="l">
              <a:spcAft>
                <a:spcPts val="400"/>
              </a:spcAft>
              <a:defRPr sz="2700" b="1" i="0">
                <a:solidFill>
                  <a:srgbClr val="F4F7FF"/>
                </a:solidFill>
                <a:latin typeface="Aptos"/>
              </a:defRPr>
            </a:pPr>
            <a:r>
              <a:t>Local mode: end-to-end RAG without external accounts</a:t>
            </a:r>
          </a:p>
        </p:txBody>
      </p:sp>
      <p:sp>
        <p:nvSpPr>
          <p:cNvPr id="4" name="TextBox 3"/>
          <p:cNvSpPr txBox="1"/>
          <p:nvPr/>
        </p:nvSpPr>
        <p:spPr>
          <a:xfrm>
            <a:off x="585216" y="1197864"/>
            <a:ext cx="10972800" cy="384048"/>
          </a:xfrm>
          <a:prstGeom prst="rect">
            <a:avLst/>
          </a:prstGeom>
          <a:noFill/>
        </p:spPr>
        <p:txBody>
          <a:bodyPr wrap="square" lIns="36576" rIns="36576" tIns="36576" bIns="36576" anchor="t">
            <a:spAutoFit/>
          </a:bodyPr>
          <a:lstStyle/>
          <a:p>
            <a:pPr algn="l">
              <a:spcAft>
                <a:spcPts val="400"/>
              </a:spcAft>
              <a:defRPr sz="1200" b="0" i="0">
                <a:solidFill>
                  <a:srgbClr val="AEBBD3"/>
                </a:solidFill>
                <a:latin typeface="Aptos"/>
              </a:defRPr>
            </a:pPr>
            <a:r>
              <a:t>A compact development loop using local files, an in-memory index and Ollama models.</a:t>
            </a:r>
          </a:p>
        </p:txBody>
      </p:sp>
      <p:sp>
        <p:nvSpPr>
          <p:cNvPr id="5" name="Rectangle 4"/>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6510528"/>
            <a:ext cx="6400800" cy="164592"/>
          </a:xfrm>
          <a:prstGeom prst="rect">
            <a:avLst/>
          </a:prstGeom>
          <a:noFill/>
        </p:spPr>
        <p:txBody>
          <a:bodyPr wrap="square" lIns="36576" rIns="36576" tIns="36576" bIns="36576" anchor="t">
            <a:spAutoFit/>
          </a:bodyPr>
          <a:lstStyle/>
          <a:p>
            <a:pPr algn="l">
              <a:spcAft>
                <a:spcPts val="400"/>
              </a:spcAft>
              <a:defRPr sz="800" b="1" i="0">
                <a:solidFill>
                  <a:srgbClr val="AEBBD3"/>
                </a:solidFill>
                <a:latin typeface="Aptos"/>
              </a:defRPr>
            </a:pPr>
            <a:r>
              <a:t>KONG CHATBOT ARCHITECTURE   •   07 / 10</a:t>
            </a:r>
          </a:p>
        </p:txBody>
      </p:sp>
      <p:sp>
        <p:nvSpPr>
          <p:cNvPr id="7" name="Rounded Rectangle 6"/>
          <p:cNvSpPr/>
          <p:nvPr/>
        </p:nvSpPr>
        <p:spPr>
          <a:xfrm>
            <a:off x="594360" y="2395728"/>
            <a:ext cx="1828800" cy="841248"/>
          </a:xfrm>
          <a:prstGeom prst="roundRect">
            <a:avLst/>
          </a:prstGeom>
          <a:solidFill>
            <a:srgbClr val="1A2641"/>
          </a:solidFill>
          <a:ln w="17780">
            <a:solidFill>
              <a:srgbClr val="42D3E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200" b="1">
                <a:solidFill>
                  <a:srgbClr val="F4F7FF"/>
                </a:solidFill>
                <a:latin typeface="Aptos"/>
              </a:defRPr>
            </a:pPr>
            <a:r>
              <a:t>knowledge/</a:t>
            </a:r>
            <a:br/>
            <a:r>
              <a:t>Markdown + text</a:t>
            </a:r>
          </a:p>
        </p:txBody>
      </p:sp>
      <p:sp>
        <p:nvSpPr>
          <p:cNvPr id="8" name="Rounded Rectangle 7"/>
          <p:cNvSpPr/>
          <p:nvPr/>
        </p:nvSpPr>
        <p:spPr>
          <a:xfrm>
            <a:off x="2880360" y="2395728"/>
            <a:ext cx="1828800" cy="841248"/>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200" b="1">
                <a:solidFill>
                  <a:srgbClr val="F4F7FF"/>
                </a:solidFill>
                <a:latin typeface="Aptos"/>
              </a:defRPr>
            </a:pPr>
            <a:r>
              <a:t>Chunk + embed</a:t>
            </a:r>
            <a:br/>
            <a:r>
              <a:t>via Ollama</a:t>
            </a:r>
          </a:p>
        </p:txBody>
      </p:sp>
      <p:sp>
        <p:nvSpPr>
          <p:cNvPr id="9" name="Rounded Rectangle 8"/>
          <p:cNvSpPr/>
          <p:nvPr/>
        </p:nvSpPr>
        <p:spPr>
          <a:xfrm>
            <a:off x="5166360" y="2395728"/>
            <a:ext cx="1828800" cy="841248"/>
          </a:xfrm>
          <a:prstGeom prst="roundRect">
            <a:avLst/>
          </a:prstGeom>
          <a:solidFill>
            <a:srgbClr val="1A2641"/>
          </a:solidFill>
          <a:ln w="17780">
            <a:solidFill>
              <a:srgbClr val="A07DFF"/>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200" b="1">
                <a:solidFill>
                  <a:srgbClr val="F4F7FF"/>
                </a:solidFill>
                <a:latin typeface="Aptos"/>
              </a:defRPr>
            </a:pPr>
            <a:r>
              <a:t>In-memory</a:t>
            </a:r>
            <a:br/>
            <a:r>
              <a:t>vector index</a:t>
            </a:r>
          </a:p>
        </p:txBody>
      </p:sp>
      <p:sp>
        <p:nvSpPr>
          <p:cNvPr id="10" name="Rounded Rectangle 9"/>
          <p:cNvSpPr/>
          <p:nvPr/>
        </p:nvSpPr>
        <p:spPr>
          <a:xfrm>
            <a:off x="7452360" y="2395728"/>
            <a:ext cx="1828800" cy="841248"/>
          </a:xfrm>
          <a:prstGeom prst="roundRect">
            <a:avLst/>
          </a:prstGeom>
          <a:solidFill>
            <a:srgbClr val="1A2641"/>
          </a:solidFill>
          <a:ln w="17780">
            <a:solidFill>
              <a:srgbClr val="42D3E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200" b="1">
                <a:solidFill>
                  <a:srgbClr val="F4F7FF"/>
                </a:solidFill>
                <a:latin typeface="Aptos"/>
              </a:defRPr>
            </a:pPr>
            <a:r>
              <a:t>Kong OSS</a:t>
            </a:r>
            <a:br/>
            <a:r>
              <a:t>proxy</a:t>
            </a:r>
          </a:p>
        </p:txBody>
      </p:sp>
      <p:sp>
        <p:nvSpPr>
          <p:cNvPr id="11" name="Rounded Rectangle 10"/>
          <p:cNvSpPr/>
          <p:nvPr/>
        </p:nvSpPr>
        <p:spPr>
          <a:xfrm>
            <a:off x="9738360" y="2395728"/>
            <a:ext cx="1828800" cy="841248"/>
          </a:xfrm>
          <a:prstGeom prst="roundRect">
            <a:avLst/>
          </a:prstGeom>
          <a:solidFill>
            <a:srgbClr val="1A2641"/>
          </a:solidFill>
          <a:ln w="17780">
            <a:solidFill>
              <a:srgbClr val="48E0B8"/>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defRPr sz="1200" b="1">
                <a:solidFill>
                  <a:srgbClr val="F4F7FF"/>
                </a:solidFill>
                <a:latin typeface="Aptos"/>
              </a:defRPr>
            </a:pPr>
            <a:r>
              <a:t>Ollama chat</a:t>
            </a:r>
            <a:br/>
            <a:r>
              <a:t>model</a:t>
            </a:r>
          </a:p>
        </p:txBody>
      </p:sp>
      <p:cxnSp>
        <p:nvCxnSpPr>
          <p:cNvPr id="12" name="Connector 11"/>
          <p:cNvCxnSpPr/>
          <p:nvPr/>
        </p:nvCxnSpPr>
        <p:spPr>
          <a:xfrm>
            <a:off x="2468880" y="2816352"/>
            <a:ext cx="347472" cy="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754880" y="2816352"/>
            <a:ext cx="347472" cy="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040880" y="2816352"/>
            <a:ext cx="347472" cy="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326880" y="2816352"/>
            <a:ext cx="347472" cy="0"/>
          </a:xfrm>
          <a:prstGeom prst="line">
            <a:avLst/>
          </a:prstGeom>
          <a:ln w="25400">
            <a:solidFill>
              <a:srgbClr val="42D3E6"/>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85800" y="3794760"/>
            <a:ext cx="5166360" cy="160020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20" y="4041648"/>
            <a:ext cx="1097280" cy="292608"/>
          </a:xfrm>
          <a:prstGeom prst="roundRect">
            <a:avLst/>
          </a:prstGeom>
          <a:solidFill>
            <a:srgbClr val="48E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059935"/>
            <a:ext cx="1024127"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AT STARTUP</a:t>
            </a:r>
          </a:p>
        </p:txBody>
      </p:sp>
      <p:sp>
        <p:nvSpPr>
          <p:cNvPr id="19" name="TextBox 18"/>
          <p:cNvSpPr txBox="1"/>
          <p:nvPr/>
        </p:nvSpPr>
        <p:spPr>
          <a:xfrm>
            <a:off x="960120" y="4526280"/>
            <a:ext cx="4480560" cy="502920"/>
          </a:xfrm>
          <a:prstGeom prst="rect">
            <a:avLst/>
          </a:prstGeom>
          <a:noFill/>
        </p:spPr>
        <p:txBody>
          <a:bodyPr wrap="square" lIns="36576" rIns="36576" tIns="36576" bIns="36576" anchor="t">
            <a:spAutoFit/>
          </a:bodyPr>
          <a:lstStyle/>
          <a:p>
            <a:pPr algn="l">
              <a:spcAft>
                <a:spcPts val="400"/>
              </a:spcAft>
              <a:defRPr sz="1300" b="0" i="0">
                <a:solidFill>
                  <a:srgbClr val="F4F7FF"/>
                </a:solidFill>
                <a:latin typeface="Aptos"/>
              </a:defRPr>
            </a:pPr>
            <a:r>
              <a:t>Read mounted, read-only files; split into chunks; embed; build the in-memory index.</a:t>
            </a:r>
          </a:p>
        </p:txBody>
      </p:sp>
      <p:sp>
        <p:nvSpPr>
          <p:cNvPr id="20" name="Rounded Rectangle 19"/>
          <p:cNvSpPr/>
          <p:nvPr/>
        </p:nvSpPr>
        <p:spPr>
          <a:xfrm>
            <a:off x="6263640" y="3794760"/>
            <a:ext cx="5166360" cy="160020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37960" y="4041648"/>
            <a:ext cx="1325880" cy="292608"/>
          </a:xfrm>
          <a:prstGeom prst="roundRect">
            <a:avLst/>
          </a:prstGeom>
          <a:solidFill>
            <a:srgbClr val="A07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74536" y="4059935"/>
            <a:ext cx="1252728"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PER QUESTION</a:t>
            </a:r>
          </a:p>
        </p:txBody>
      </p:sp>
      <p:sp>
        <p:nvSpPr>
          <p:cNvPr id="23" name="TextBox 22"/>
          <p:cNvSpPr txBox="1"/>
          <p:nvPr/>
        </p:nvSpPr>
        <p:spPr>
          <a:xfrm>
            <a:off x="6537960" y="4526280"/>
            <a:ext cx="4480560" cy="502920"/>
          </a:xfrm>
          <a:prstGeom prst="rect">
            <a:avLst/>
          </a:prstGeom>
          <a:noFill/>
        </p:spPr>
        <p:txBody>
          <a:bodyPr wrap="square" lIns="36576" rIns="36576" tIns="36576" bIns="36576" anchor="t">
            <a:spAutoFit/>
          </a:bodyPr>
          <a:lstStyle/>
          <a:p>
            <a:pPr algn="l">
              <a:spcAft>
                <a:spcPts val="400"/>
              </a:spcAft>
              <a:defRPr sz="1300" b="0" i="0">
                <a:solidFill>
                  <a:srgbClr val="F4F7FF"/>
                </a:solidFill>
                <a:latin typeface="Aptos"/>
              </a:defRPr>
            </a:pPr>
            <a:r>
              <a:t>Embed query; rank by cosine similarity; send best passages and titles to the chat route.</a:t>
            </a:r>
          </a:p>
        </p:txBody>
      </p:sp>
      <p:sp>
        <p:nvSpPr>
          <p:cNvPr id="24" name="Rounded Rectangle 23"/>
          <p:cNvSpPr/>
          <p:nvPr/>
        </p:nvSpPr>
        <p:spPr>
          <a:xfrm>
            <a:off x="1097280" y="5715000"/>
            <a:ext cx="10012680" cy="502920"/>
          </a:xfrm>
          <a:prstGeom prst="roundRect">
            <a:avLst/>
          </a:prstGeom>
          <a:solidFill>
            <a:srgbClr val="271F22"/>
          </a:solidFill>
          <a:ln w="12700">
            <a:solidFill>
              <a:srgbClr val="68493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5843016"/>
            <a:ext cx="9509760" cy="201168"/>
          </a:xfrm>
          <a:prstGeom prst="rect">
            <a:avLst/>
          </a:prstGeom>
          <a:noFill/>
        </p:spPr>
        <p:txBody>
          <a:bodyPr wrap="square" lIns="36576" rIns="36576" tIns="36576" bIns="36576" anchor="t">
            <a:spAutoFit/>
          </a:bodyPr>
          <a:lstStyle/>
          <a:p>
            <a:pPr algn="ctr">
              <a:spcAft>
                <a:spcPts val="400"/>
              </a:spcAft>
              <a:defRPr sz="1100" b="1" i="0">
                <a:solidFill>
                  <a:srgbClr val="FFB55B"/>
                </a:solidFill>
                <a:latin typeface="Aptos"/>
              </a:defRPr>
            </a:pPr>
            <a:r>
              <a:t>Operational note: empty corpus or embedding failure prevents startup; restart rebuilds and re-embeds the index.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extBox 1"/>
          <p:cNvSpPr txBox="1"/>
          <p:nvPr/>
        </p:nvSpPr>
        <p:spPr>
          <a:xfrm>
            <a:off x="566928" y="320040"/>
            <a:ext cx="4937760" cy="256032"/>
          </a:xfrm>
          <a:prstGeom prst="rect">
            <a:avLst/>
          </a:prstGeom>
          <a:noFill/>
        </p:spPr>
        <p:txBody>
          <a:bodyPr wrap="square" lIns="36576" rIns="36576" tIns="36576" bIns="36576" anchor="t">
            <a:spAutoFit/>
          </a:bodyPr>
          <a:lstStyle/>
          <a:p>
            <a:pPr algn="l">
              <a:spcAft>
                <a:spcPts val="400"/>
              </a:spcAft>
              <a:defRPr sz="1000" b="1" i="0">
                <a:solidFill>
                  <a:srgbClr val="42D3E6"/>
                </a:solidFill>
                <a:latin typeface="Aptos"/>
              </a:defRPr>
            </a:pPr>
            <a:r>
              <a:t>08 • REPEATABILITY</a:t>
            </a:r>
          </a:p>
        </p:txBody>
      </p:sp>
      <p:sp>
        <p:nvSpPr>
          <p:cNvPr id="3" name="TextBox 2"/>
          <p:cNvSpPr txBox="1"/>
          <p:nvPr/>
        </p:nvSpPr>
        <p:spPr>
          <a:xfrm>
            <a:off x="566928" y="658368"/>
            <a:ext cx="10972800" cy="502920"/>
          </a:xfrm>
          <a:prstGeom prst="rect">
            <a:avLst/>
          </a:prstGeom>
          <a:noFill/>
        </p:spPr>
        <p:txBody>
          <a:bodyPr wrap="square" lIns="36576" rIns="36576" tIns="36576" bIns="36576" anchor="t">
            <a:spAutoFit/>
          </a:bodyPr>
          <a:lstStyle/>
          <a:p>
            <a:pPr algn="l">
              <a:spcAft>
                <a:spcPts val="400"/>
              </a:spcAft>
              <a:defRPr sz="2700" b="1" i="0">
                <a:solidFill>
                  <a:srgbClr val="F4F7FF"/>
                </a:solidFill>
                <a:latin typeface="Aptos"/>
              </a:defRPr>
            </a:pPr>
            <a:r>
              <a:t>Infrastructure as Code: repeatable environments</a:t>
            </a:r>
          </a:p>
        </p:txBody>
      </p:sp>
      <p:sp>
        <p:nvSpPr>
          <p:cNvPr id="4" name="TextBox 3"/>
          <p:cNvSpPr txBox="1"/>
          <p:nvPr/>
        </p:nvSpPr>
        <p:spPr>
          <a:xfrm>
            <a:off x="585216" y="1197864"/>
            <a:ext cx="10972800" cy="384048"/>
          </a:xfrm>
          <a:prstGeom prst="rect">
            <a:avLst/>
          </a:prstGeom>
          <a:noFill/>
        </p:spPr>
        <p:txBody>
          <a:bodyPr wrap="square" lIns="36576" rIns="36576" tIns="36576" bIns="36576" anchor="t">
            <a:spAutoFit/>
          </a:bodyPr>
          <a:lstStyle/>
          <a:p>
            <a:pPr algn="l">
              <a:spcAft>
                <a:spcPts val="400"/>
              </a:spcAft>
              <a:defRPr sz="1200" b="0" i="0">
                <a:solidFill>
                  <a:srgbClr val="AEBBD3"/>
                </a:solidFill>
                <a:latin typeface="Aptos"/>
              </a:defRPr>
            </a:pPr>
            <a:r>
              <a:t>Describe the environment once, review changes, and provision it consistently.</a:t>
            </a:r>
          </a:p>
        </p:txBody>
      </p:sp>
      <p:sp>
        <p:nvSpPr>
          <p:cNvPr id="5" name="Rectangle 4"/>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6510528"/>
            <a:ext cx="6400800" cy="164592"/>
          </a:xfrm>
          <a:prstGeom prst="rect">
            <a:avLst/>
          </a:prstGeom>
          <a:noFill/>
        </p:spPr>
        <p:txBody>
          <a:bodyPr wrap="square" lIns="36576" rIns="36576" tIns="36576" bIns="36576" anchor="t">
            <a:spAutoFit/>
          </a:bodyPr>
          <a:lstStyle/>
          <a:p>
            <a:pPr algn="l">
              <a:spcAft>
                <a:spcPts val="400"/>
              </a:spcAft>
              <a:defRPr sz="800" b="1" i="0">
                <a:solidFill>
                  <a:srgbClr val="AEBBD3"/>
                </a:solidFill>
                <a:latin typeface="Aptos"/>
              </a:defRPr>
            </a:pPr>
            <a:r>
              <a:t>KONG CHATBOT ARCHITECTURE   •   08 / 10</a:t>
            </a:r>
          </a:p>
        </p:txBody>
      </p:sp>
      <p:sp>
        <p:nvSpPr>
          <p:cNvPr id="7" name="Rounded Rectangle 6"/>
          <p:cNvSpPr/>
          <p:nvPr/>
        </p:nvSpPr>
        <p:spPr>
          <a:xfrm>
            <a:off x="685800" y="2029968"/>
            <a:ext cx="3063240" cy="352044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60120" y="2304288"/>
            <a:ext cx="1051560" cy="292608"/>
          </a:xfrm>
          <a:prstGeom prst="round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322576"/>
            <a:ext cx="978407"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COMPOSE</a:t>
            </a:r>
          </a:p>
        </p:txBody>
      </p:sp>
      <p:sp>
        <p:nvSpPr>
          <p:cNvPr id="10" name="TextBox 9"/>
          <p:cNvSpPr txBox="1"/>
          <p:nvPr/>
        </p:nvSpPr>
        <p:spPr>
          <a:xfrm>
            <a:off x="960120" y="2880360"/>
            <a:ext cx="2468880" cy="320040"/>
          </a:xfrm>
          <a:prstGeom prst="rect">
            <a:avLst/>
          </a:prstGeom>
          <a:noFill/>
        </p:spPr>
        <p:txBody>
          <a:bodyPr wrap="square" lIns="36576" rIns="36576" tIns="36576" bIns="36576" anchor="t">
            <a:spAutoFit/>
          </a:bodyPr>
          <a:lstStyle/>
          <a:p>
            <a:pPr algn="l">
              <a:spcAft>
                <a:spcPts val="400"/>
              </a:spcAft>
              <a:defRPr sz="1800" b="1" i="0">
                <a:solidFill>
                  <a:srgbClr val="F4F7FF"/>
                </a:solidFill>
                <a:latin typeface="Aptos"/>
              </a:defRPr>
            </a:pPr>
            <a:r>
              <a:t>Container stacks</a:t>
            </a:r>
          </a:p>
        </p:txBody>
      </p:sp>
      <p:sp>
        <p:nvSpPr>
          <p:cNvPr id="11" name="TextBox 10"/>
          <p:cNvSpPr txBox="1"/>
          <p:nvPr/>
        </p:nvSpPr>
        <p:spPr>
          <a:xfrm>
            <a:off x="960120" y="3429000"/>
            <a:ext cx="2514600" cy="1508760"/>
          </a:xfrm>
          <a:prstGeom prst="rect">
            <a:avLst/>
          </a:prstGeom>
          <a:noFill/>
        </p:spPr>
        <p:txBody>
          <a:bodyPr wrap="square" lIns="45720" rIns="45720" tIns="27432" bIns="27432">
            <a:spAutoFit/>
          </a:bodyPr>
          <a:lstStyle/>
          <a:p>
            <a:pPr>
              <a:spcAft>
                <a:spcPts val="1000"/>
              </a:spcAft>
              <a:defRPr sz="1200">
                <a:solidFill>
                  <a:srgbClr val="F4F7FF"/>
                </a:solidFill>
                <a:latin typeface="Aptos"/>
              </a:defRPr>
            </a:pPr>
            <a:r>
              <a:rPr sz="1100">
                <a:solidFill>
                  <a:srgbClr val="42D3E6"/>
                </a:solidFill>
              </a:rPr>
              <a:t>●  </a:t>
            </a:r>
            <a:r>
              <a:rPr sz="1200">
                <a:solidFill>
                  <a:srgbClr val="F4F7FF"/>
                </a:solidFill>
              </a:rPr>
              <a:t>Local and Konnect services</a:t>
            </a:r>
          </a:p>
          <a:p>
            <a:pPr>
              <a:spcAft>
                <a:spcPts val="1000"/>
              </a:spcAft>
              <a:defRPr sz="1200">
                <a:solidFill>
                  <a:srgbClr val="F4F7FF"/>
                </a:solidFill>
                <a:latin typeface="Aptos"/>
              </a:defRPr>
            </a:pPr>
            <a:r>
              <a:rPr sz="1100">
                <a:solidFill>
                  <a:srgbClr val="42D3E6"/>
                </a:solidFill>
              </a:rPr>
              <a:t>●  </a:t>
            </a:r>
            <a:r>
              <a:rPr sz="1200">
                <a:solidFill>
                  <a:srgbClr val="F4F7FF"/>
                </a:solidFill>
              </a:rPr>
              <a:t>Volumes, ports and environment</a:t>
            </a:r>
          </a:p>
          <a:p>
            <a:pPr>
              <a:spcAft>
                <a:spcPts val="1000"/>
              </a:spcAft>
              <a:defRPr sz="1200">
                <a:solidFill>
                  <a:srgbClr val="F4F7FF"/>
                </a:solidFill>
                <a:latin typeface="Aptos"/>
              </a:defRPr>
            </a:pPr>
            <a:r>
              <a:rPr sz="1100">
                <a:solidFill>
                  <a:srgbClr val="42D3E6"/>
                </a:solidFill>
              </a:rPr>
              <a:t>●  </a:t>
            </a:r>
            <a:r>
              <a:rPr sz="1200">
                <a:solidFill>
                  <a:srgbClr val="F4F7FF"/>
                </a:solidFill>
              </a:rPr>
              <a:t>Mode-specific container settings</a:t>
            </a:r>
          </a:p>
        </p:txBody>
      </p:sp>
      <p:sp>
        <p:nvSpPr>
          <p:cNvPr id="12" name="Rounded Rectangle 11"/>
          <p:cNvSpPr/>
          <p:nvPr/>
        </p:nvSpPr>
        <p:spPr>
          <a:xfrm>
            <a:off x="4526280" y="2029968"/>
            <a:ext cx="3063240" cy="352044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800600" y="2304288"/>
            <a:ext cx="1234440" cy="292608"/>
          </a:xfrm>
          <a:prstGeom prst="roundRect">
            <a:avLst/>
          </a:prstGeom>
          <a:solidFill>
            <a:srgbClr val="A07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7176" y="2322576"/>
            <a:ext cx="1161288"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TERRAFORM</a:t>
            </a:r>
          </a:p>
        </p:txBody>
      </p:sp>
      <p:sp>
        <p:nvSpPr>
          <p:cNvPr id="15" name="TextBox 14"/>
          <p:cNvSpPr txBox="1"/>
          <p:nvPr/>
        </p:nvSpPr>
        <p:spPr>
          <a:xfrm>
            <a:off x="4800600" y="2880360"/>
            <a:ext cx="2468880" cy="320040"/>
          </a:xfrm>
          <a:prstGeom prst="rect">
            <a:avLst/>
          </a:prstGeom>
          <a:noFill/>
        </p:spPr>
        <p:txBody>
          <a:bodyPr wrap="square" lIns="36576" rIns="36576" tIns="36576" bIns="36576" anchor="t">
            <a:spAutoFit/>
          </a:bodyPr>
          <a:lstStyle/>
          <a:p>
            <a:pPr algn="l">
              <a:spcAft>
                <a:spcPts val="400"/>
              </a:spcAft>
              <a:defRPr sz="1800" b="1" i="0">
                <a:solidFill>
                  <a:srgbClr val="F4F7FF"/>
                </a:solidFill>
                <a:latin typeface="Aptos"/>
              </a:defRPr>
            </a:pPr>
            <a:r>
              <a:t>Declarative resources</a:t>
            </a:r>
          </a:p>
        </p:txBody>
      </p:sp>
      <p:sp>
        <p:nvSpPr>
          <p:cNvPr id="16" name="TextBox 15"/>
          <p:cNvSpPr txBox="1"/>
          <p:nvPr/>
        </p:nvSpPr>
        <p:spPr>
          <a:xfrm>
            <a:off x="4800600" y="3429000"/>
            <a:ext cx="2514600" cy="1508760"/>
          </a:xfrm>
          <a:prstGeom prst="rect">
            <a:avLst/>
          </a:prstGeom>
          <a:noFill/>
        </p:spPr>
        <p:txBody>
          <a:bodyPr wrap="square" lIns="45720" rIns="45720" tIns="27432" bIns="27432">
            <a:spAutoFit/>
          </a:bodyPr>
          <a:lstStyle/>
          <a:p>
            <a:pPr>
              <a:spcAft>
                <a:spcPts val="1000"/>
              </a:spcAft>
              <a:defRPr sz="1200">
                <a:solidFill>
                  <a:srgbClr val="F4F7FF"/>
                </a:solidFill>
                <a:latin typeface="Aptos"/>
              </a:defRPr>
            </a:pPr>
            <a:r>
              <a:rPr sz="1100">
                <a:solidFill>
                  <a:srgbClr val="A07DFF"/>
                </a:solidFill>
              </a:rPr>
              <a:t>●  </a:t>
            </a:r>
            <a:r>
              <a:rPr sz="1200">
                <a:solidFill>
                  <a:srgbClr val="F4F7FF"/>
                </a:solidFill>
              </a:rPr>
              <a:t>Docker networks + images</a:t>
            </a:r>
          </a:p>
          <a:p>
            <a:pPr>
              <a:spcAft>
                <a:spcPts val="1000"/>
              </a:spcAft>
              <a:defRPr sz="1200">
                <a:solidFill>
                  <a:srgbClr val="F4F7FF"/>
                </a:solidFill>
                <a:latin typeface="Aptos"/>
              </a:defRPr>
            </a:pPr>
            <a:r>
              <a:rPr sz="1100">
                <a:solidFill>
                  <a:srgbClr val="A07DFF"/>
                </a:solidFill>
              </a:rPr>
              <a:t>●  </a:t>
            </a:r>
            <a:r>
              <a:rPr sz="1200">
                <a:solidFill>
                  <a:srgbClr val="F4F7FF"/>
                </a:solidFill>
              </a:rPr>
              <a:t>Containers, volumes and ports</a:t>
            </a:r>
          </a:p>
          <a:p>
            <a:pPr>
              <a:spcAft>
                <a:spcPts val="1000"/>
              </a:spcAft>
              <a:defRPr sz="1200">
                <a:solidFill>
                  <a:srgbClr val="F4F7FF"/>
                </a:solidFill>
                <a:latin typeface="Aptos"/>
              </a:defRPr>
            </a:pPr>
            <a:r>
              <a:rPr sz="1100">
                <a:solidFill>
                  <a:srgbClr val="A07DFF"/>
                </a:solidFill>
              </a:rPr>
              <a:t>●  </a:t>
            </a:r>
            <a:r>
              <a:rPr sz="1200">
                <a:solidFill>
                  <a:srgbClr val="F4F7FF"/>
                </a:solidFill>
              </a:rPr>
              <a:t>Variable selects local / Konnect</a:t>
            </a:r>
          </a:p>
        </p:txBody>
      </p:sp>
      <p:sp>
        <p:nvSpPr>
          <p:cNvPr id="17" name="Rounded Rectangle 16"/>
          <p:cNvSpPr/>
          <p:nvPr/>
        </p:nvSpPr>
        <p:spPr>
          <a:xfrm>
            <a:off x="8366760" y="2029968"/>
            <a:ext cx="3063240" cy="3520440"/>
          </a:xfrm>
          <a:prstGeom prst="roundRect">
            <a:avLst/>
          </a:prstGeom>
          <a:solidFill>
            <a:srgbClr val="112427"/>
          </a:solidFill>
          <a:ln w="12700">
            <a:solidFill>
              <a:srgbClr val="48E0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641080" y="2304288"/>
            <a:ext cx="1417320" cy="292608"/>
          </a:xfrm>
          <a:prstGeom prst="roundRect">
            <a:avLst/>
          </a:prstGeom>
          <a:solidFill>
            <a:srgbClr val="48E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77655" y="2322576"/>
            <a:ext cx="1344168"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MAKE TARGETS</a:t>
            </a:r>
          </a:p>
        </p:txBody>
      </p:sp>
      <p:sp>
        <p:nvSpPr>
          <p:cNvPr id="20" name="TextBox 19"/>
          <p:cNvSpPr txBox="1"/>
          <p:nvPr/>
        </p:nvSpPr>
        <p:spPr>
          <a:xfrm>
            <a:off x="8641080" y="2880360"/>
            <a:ext cx="2468880" cy="320040"/>
          </a:xfrm>
          <a:prstGeom prst="rect">
            <a:avLst/>
          </a:prstGeom>
          <a:noFill/>
        </p:spPr>
        <p:txBody>
          <a:bodyPr wrap="square" lIns="36576" rIns="36576" tIns="36576" bIns="36576" anchor="t">
            <a:spAutoFit/>
          </a:bodyPr>
          <a:lstStyle/>
          <a:p>
            <a:pPr algn="l">
              <a:spcAft>
                <a:spcPts val="400"/>
              </a:spcAft>
              <a:defRPr sz="1800" b="1" i="0">
                <a:solidFill>
                  <a:srgbClr val="F4F7FF"/>
                </a:solidFill>
                <a:latin typeface="Aptos"/>
              </a:defRPr>
            </a:pPr>
            <a:r>
              <a:t>Simple workflows</a:t>
            </a:r>
          </a:p>
        </p:txBody>
      </p:sp>
      <p:sp>
        <p:nvSpPr>
          <p:cNvPr id="21" name="TextBox 20"/>
          <p:cNvSpPr txBox="1"/>
          <p:nvPr/>
        </p:nvSpPr>
        <p:spPr>
          <a:xfrm>
            <a:off x="8641080" y="3429000"/>
            <a:ext cx="2423160" cy="777240"/>
          </a:xfrm>
          <a:prstGeom prst="rect">
            <a:avLst/>
          </a:prstGeom>
          <a:noFill/>
        </p:spPr>
        <p:txBody>
          <a:bodyPr wrap="square" lIns="36576" rIns="36576" tIns="36576" bIns="36576" anchor="t">
            <a:spAutoFit/>
          </a:bodyPr>
          <a:lstStyle/>
          <a:p>
            <a:pPr algn="l">
              <a:spcAft>
                <a:spcPts val="400"/>
              </a:spcAft>
              <a:defRPr sz="1200" b="0" i="0">
                <a:solidFill>
                  <a:srgbClr val="F4F7FF"/>
                </a:solidFill>
                <a:latin typeface="Aptos"/>
              </a:defRPr>
            </a:pPr>
            <a:r>
              <a:t>make terraform-up</a:t>
            </a:r>
          </a:p>
          <a:p>
            <a:pPr algn="l">
              <a:spcAft>
                <a:spcPts val="400"/>
              </a:spcAft>
              <a:defRPr sz="1200" b="0" i="0">
                <a:solidFill>
                  <a:srgbClr val="F4F7FF"/>
                </a:solidFill>
                <a:latin typeface="Aptos"/>
              </a:defRPr>
            </a:pPr>
          </a:p>
          <a:p>
            <a:pPr algn="l">
              <a:spcAft>
                <a:spcPts val="400"/>
              </a:spcAft>
              <a:defRPr sz="1200" b="0" i="0">
                <a:solidFill>
                  <a:srgbClr val="F4F7FF"/>
                </a:solidFill>
                <a:latin typeface="Aptos"/>
              </a:defRPr>
            </a:pPr>
            <a:r>
              <a:t>Apply configuration and wait for API readiness.</a:t>
            </a:r>
          </a:p>
        </p:txBody>
      </p:sp>
      <p:sp>
        <p:nvSpPr>
          <p:cNvPr id="22" name="TextBox 21"/>
          <p:cNvSpPr txBox="1"/>
          <p:nvPr/>
        </p:nvSpPr>
        <p:spPr>
          <a:xfrm>
            <a:off x="8641080" y="4389120"/>
            <a:ext cx="2423160" cy="777240"/>
          </a:xfrm>
          <a:prstGeom prst="rect">
            <a:avLst/>
          </a:prstGeom>
          <a:noFill/>
        </p:spPr>
        <p:txBody>
          <a:bodyPr wrap="square" lIns="36576" rIns="36576" tIns="36576" bIns="36576" anchor="t">
            <a:spAutoFit/>
          </a:bodyPr>
          <a:lstStyle/>
          <a:p>
            <a:pPr algn="l">
              <a:spcAft>
                <a:spcPts val="400"/>
              </a:spcAft>
              <a:defRPr sz="1200" b="0" i="0">
                <a:solidFill>
                  <a:srgbClr val="F4F7FF"/>
                </a:solidFill>
                <a:latin typeface="Aptos"/>
              </a:defRPr>
            </a:pPr>
            <a:r>
              <a:t>make terraform-down</a:t>
            </a:r>
          </a:p>
          <a:p>
            <a:pPr algn="l">
              <a:spcAft>
                <a:spcPts val="400"/>
              </a:spcAft>
              <a:defRPr sz="1200" b="0" i="0">
                <a:solidFill>
                  <a:srgbClr val="F4F7FF"/>
                </a:solidFill>
                <a:latin typeface="Aptos"/>
              </a:defRPr>
            </a:pPr>
          </a:p>
          <a:p>
            <a:pPr algn="l">
              <a:spcAft>
                <a:spcPts val="400"/>
              </a:spcAft>
              <a:defRPr sz="1200" b="0" i="0">
                <a:solidFill>
                  <a:srgbClr val="F4F7FF"/>
                </a:solidFill>
                <a:latin typeface="Aptos"/>
              </a:defRPr>
            </a:pPr>
            <a:r>
              <a:t>Remove Terraform-managed resources.</a:t>
            </a:r>
          </a:p>
        </p:txBody>
      </p:sp>
      <p:sp>
        <p:nvSpPr>
          <p:cNvPr id="23" name="Rounded Rectangle 22"/>
          <p:cNvSpPr/>
          <p:nvPr/>
        </p:nvSpPr>
        <p:spPr>
          <a:xfrm>
            <a:off x="1005840" y="5779008"/>
            <a:ext cx="10149840" cy="438912"/>
          </a:xfrm>
          <a:prstGeom prst="roundRect">
            <a:avLst/>
          </a:prstGeom>
          <a:solidFill>
            <a:srgbClr val="26201A"/>
          </a:solidFill>
          <a:ln w="12700">
            <a:solidFill>
              <a:srgbClr val="6E583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34440" y="5879592"/>
            <a:ext cx="9692640" cy="182880"/>
          </a:xfrm>
          <a:prstGeom prst="rect">
            <a:avLst/>
          </a:prstGeom>
          <a:noFill/>
        </p:spPr>
        <p:txBody>
          <a:bodyPr wrap="square" lIns="36576" rIns="36576" tIns="36576" bIns="36576" anchor="t">
            <a:spAutoFit/>
          </a:bodyPr>
          <a:lstStyle/>
          <a:p>
            <a:pPr algn="ctr">
              <a:spcAft>
                <a:spcPts val="400"/>
              </a:spcAft>
              <a:defRPr sz="1100" b="1" i="0">
                <a:solidFill>
                  <a:srgbClr val="FFB55B"/>
                </a:solidFill>
                <a:latin typeface="Aptos"/>
              </a:defRPr>
            </a:pPr>
            <a:r>
              <a:t>Run `terraform plan` before apply. Current provider targets Docker; cloud deployment needs platform-specific resources.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extBox 1"/>
          <p:cNvSpPr txBox="1"/>
          <p:nvPr/>
        </p:nvSpPr>
        <p:spPr>
          <a:xfrm>
            <a:off x="566928" y="320040"/>
            <a:ext cx="4937760" cy="256032"/>
          </a:xfrm>
          <a:prstGeom prst="rect">
            <a:avLst/>
          </a:prstGeom>
          <a:noFill/>
        </p:spPr>
        <p:txBody>
          <a:bodyPr wrap="square" lIns="36576" rIns="36576" tIns="36576" bIns="36576" anchor="t">
            <a:spAutoFit/>
          </a:bodyPr>
          <a:lstStyle/>
          <a:p>
            <a:pPr algn="l">
              <a:spcAft>
                <a:spcPts val="400"/>
              </a:spcAft>
              <a:defRPr sz="1000" b="1" i="0">
                <a:solidFill>
                  <a:srgbClr val="42D3E6"/>
                </a:solidFill>
                <a:latin typeface="Aptos"/>
              </a:defRPr>
            </a:pPr>
            <a:r>
              <a:t>09 • SECURITY &amp; OPERATIONS</a:t>
            </a:r>
          </a:p>
        </p:txBody>
      </p:sp>
      <p:sp>
        <p:nvSpPr>
          <p:cNvPr id="3" name="TextBox 2"/>
          <p:cNvSpPr txBox="1"/>
          <p:nvPr/>
        </p:nvSpPr>
        <p:spPr>
          <a:xfrm>
            <a:off x="566928" y="658368"/>
            <a:ext cx="10972800" cy="502920"/>
          </a:xfrm>
          <a:prstGeom prst="rect">
            <a:avLst/>
          </a:prstGeom>
          <a:noFill/>
        </p:spPr>
        <p:txBody>
          <a:bodyPr wrap="square" lIns="36576" rIns="36576" tIns="36576" bIns="36576" anchor="t">
            <a:spAutoFit/>
          </a:bodyPr>
          <a:lstStyle/>
          <a:p>
            <a:pPr algn="l">
              <a:spcAft>
                <a:spcPts val="400"/>
              </a:spcAft>
              <a:defRPr sz="2700" b="1" i="0">
                <a:solidFill>
                  <a:srgbClr val="F4F7FF"/>
                </a:solidFill>
                <a:latin typeface="Aptos"/>
              </a:defRPr>
            </a:pPr>
            <a:r>
              <a:t>Operations, trust boundaries, and production gaps</a:t>
            </a:r>
          </a:p>
        </p:txBody>
      </p:sp>
      <p:sp>
        <p:nvSpPr>
          <p:cNvPr id="4" name="TextBox 3"/>
          <p:cNvSpPr txBox="1"/>
          <p:nvPr/>
        </p:nvSpPr>
        <p:spPr>
          <a:xfrm>
            <a:off x="585216" y="1197864"/>
            <a:ext cx="10972800" cy="384048"/>
          </a:xfrm>
          <a:prstGeom prst="rect">
            <a:avLst/>
          </a:prstGeom>
          <a:noFill/>
        </p:spPr>
        <p:txBody>
          <a:bodyPr wrap="square" lIns="36576" rIns="36576" tIns="36576" bIns="36576" anchor="t">
            <a:spAutoFit/>
          </a:bodyPr>
          <a:lstStyle/>
          <a:p>
            <a:pPr algn="l">
              <a:spcAft>
                <a:spcPts val="400"/>
              </a:spcAft>
              <a:defRPr sz="1200" b="0" i="0">
                <a:solidFill>
                  <a:srgbClr val="AEBBD3"/>
                </a:solidFill>
                <a:latin typeface="Aptos"/>
              </a:defRPr>
            </a:pPr>
            <a:r>
              <a:t>A successful smoke test proves a path works — not that it is production-secure.</a:t>
            </a:r>
          </a:p>
        </p:txBody>
      </p:sp>
      <p:sp>
        <p:nvSpPr>
          <p:cNvPr id="5" name="Rectangle 4"/>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6510528"/>
            <a:ext cx="6400800" cy="164592"/>
          </a:xfrm>
          <a:prstGeom prst="rect">
            <a:avLst/>
          </a:prstGeom>
          <a:noFill/>
        </p:spPr>
        <p:txBody>
          <a:bodyPr wrap="square" lIns="36576" rIns="36576" tIns="36576" bIns="36576" anchor="t">
            <a:spAutoFit/>
          </a:bodyPr>
          <a:lstStyle/>
          <a:p>
            <a:pPr algn="l">
              <a:spcAft>
                <a:spcPts val="400"/>
              </a:spcAft>
              <a:defRPr sz="800" b="1" i="0">
                <a:solidFill>
                  <a:srgbClr val="AEBBD3"/>
                </a:solidFill>
                <a:latin typeface="Aptos"/>
              </a:defRPr>
            </a:pPr>
            <a:r>
              <a:t>KONG CHATBOT ARCHITECTURE   •   09 / 10</a:t>
            </a:r>
          </a:p>
        </p:txBody>
      </p:sp>
      <p:sp>
        <p:nvSpPr>
          <p:cNvPr id="7" name="Rounded Rectangle 6"/>
          <p:cNvSpPr/>
          <p:nvPr/>
        </p:nvSpPr>
        <p:spPr>
          <a:xfrm>
            <a:off x="640080" y="1993392"/>
            <a:ext cx="5349240" cy="3611880"/>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14400" y="2286000"/>
            <a:ext cx="1737360" cy="292608"/>
          </a:xfrm>
          <a:prstGeom prst="roundRect">
            <a:avLst/>
          </a:prstGeom>
          <a:solidFill>
            <a:srgbClr val="48E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304288"/>
            <a:ext cx="1664207"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CURRENT SAFEGUARDS</a:t>
            </a:r>
          </a:p>
        </p:txBody>
      </p:sp>
      <p:sp>
        <p:nvSpPr>
          <p:cNvPr id="10" name="TextBox 9"/>
          <p:cNvSpPr txBox="1"/>
          <p:nvPr/>
        </p:nvSpPr>
        <p:spPr>
          <a:xfrm>
            <a:off x="914400" y="2788920"/>
            <a:ext cx="4709160" cy="2423160"/>
          </a:xfrm>
          <a:prstGeom prst="rect">
            <a:avLst/>
          </a:prstGeom>
          <a:noFill/>
        </p:spPr>
        <p:txBody>
          <a:bodyPr wrap="square" lIns="45720" rIns="45720" tIns="27432" bIns="27432">
            <a:spAutoFit/>
          </a:bodyPr>
          <a:lstStyle/>
          <a:p>
            <a:pPr>
              <a:spcAft>
                <a:spcPts val="900"/>
              </a:spcAft>
              <a:defRPr sz="1200">
                <a:solidFill>
                  <a:srgbClr val="F4F7FF"/>
                </a:solidFill>
                <a:latin typeface="Aptos"/>
              </a:defRPr>
            </a:pPr>
            <a:r>
              <a:rPr sz="1100">
                <a:solidFill>
                  <a:srgbClr val="48E0B8"/>
                </a:solidFill>
              </a:rPr>
              <a:t>●  </a:t>
            </a:r>
            <a:r>
              <a:rPr b="1" sz="1200">
                <a:solidFill>
                  <a:srgbClr val="F4F7FF"/>
                </a:solidFill>
              </a:rPr>
              <a:t>Loopback binding. </a:t>
            </a:r>
            <a:r>
              <a:rPr sz="1200">
                <a:solidFill>
                  <a:srgbClr val="F4F7FF"/>
                </a:solidFill>
              </a:rPr>
              <a:t>Local published ports bind to localhost.</a:t>
            </a:r>
          </a:p>
          <a:p>
            <a:pPr>
              <a:spcAft>
                <a:spcPts val="900"/>
              </a:spcAft>
              <a:defRPr sz="1200">
                <a:solidFill>
                  <a:srgbClr val="F4F7FF"/>
                </a:solidFill>
                <a:latin typeface="Aptos"/>
              </a:defRPr>
            </a:pPr>
            <a:r>
              <a:rPr sz="1100">
                <a:solidFill>
                  <a:srgbClr val="48E0B8"/>
                </a:solidFill>
              </a:rPr>
              <a:t>●  </a:t>
            </a:r>
            <a:r>
              <a:rPr b="1" sz="1200">
                <a:solidFill>
                  <a:srgbClr val="F4F7FF"/>
                </a:solidFill>
              </a:rPr>
              <a:t>Reduced exposure. </a:t>
            </a:r>
            <a:r>
              <a:rPr sz="1200">
                <a:solidFill>
                  <a:srgbClr val="F4F7FF"/>
                </a:solidFill>
              </a:rPr>
              <a:t>Admin API and Redis are not published to the host in the provided stacks.</a:t>
            </a:r>
          </a:p>
          <a:p>
            <a:pPr>
              <a:spcAft>
                <a:spcPts val="900"/>
              </a:spcAft>
              <a:defRPr sz="1200">
                <a:solidFill>
                  <a:srgbClr val="F4F7FF"/>
                </a:solidFill>
                <a:latin typeface="Aptos"/>
              </a:defRPr>
            </a:pPr>
            <a:r>
              <a:rPr sz="1100">
                <a:solidFill>
                  <a:srgbClr val="48E0B8"/>
                </a:solidFill>
              </a:rPr>
              <a:t>●  </a:t>
            </a:r>
            <a:r>
              <a:rPr b="1" sz="1200">
                <a:solidFill>
                  <a:srgbClr val="F4F7FF"/>
                </a:solidFill>
              </a:rPr>
              <a:t>Explicit trust boundaries. </a:t>
            </a:r>
            <a:r>
              <a:rPr sz="1200">
                <a:solidFill>
                  <a:srgbClr val="F4F7FF"/>
                </a:solidFill>
              </a:rPr>
              <a:t>Konnect ingestion sends documents to the external embedding provider.</a:t>
            </a:r>
          </a:p>
          <a:p>
            <a:pPr>
              <a:spcAft>
                <a:spcPts val="900"/>
              </a:spcAft>
              <a:defRPr sz="1200">
                <a:solidFill>
                  <a:srgbClr val="F4F7FF"/>
                </a:solidFill>
                <a:latin typeface="Aptos"/>
              </a:defRPr>
            </a:pPr>
            <a:r>
              <a:rPr sz="1100">
                <a:solidFill>
                  <a:srgbClr val="48E0B8"/>
                </a:solidFill>
              </a:rPr>
              <a:t>●  </a:t>
            </a:r>
            <a:r>
              <a:rPr b="1" sz="1200">
                <a:solidFill>
                  <a:srgbClr val="F4F7FF"/>
                </a:solidFill>
              </a:rPr>
              <a:t>Private state. </a:t>
            </a:r>
            <a:r>
              <a:rPr sz="1200">
                <a:solidFill>
                  <a:srgbClr val="F4F7FF"/>
                </a:solidFill>
              </a:rPr>
              <a:t>Terraform state contains the Redis password; protect credentials and certificates.</a:t>
            </a:r>
          </a:p>
        </p:txBody>
      </p:sp>
      <p:sp>
        <p:nvSpPr>
          <p:cNvPr id="11" name="Rounded Rectangle 10"/>
          <p:cNvSpPr/>
          <p:nvPr/>
        </p:nvSpPr>
        <p:spPr>
          <a:xfrm>
            <a:off x="6263640" y="1993392"/>
            <a:ext cx="5303520" cy="3611880"/>
          </a:xfrm>
          <a:prstGeom prst="roundRect">
            <a:avLst/>
          </a:prstGeom>
          <a:solidFill>
            <a:srgbClr val="271C24"/>
          </a:solidFill>
          <a:ln w="12700">
            <a:solidFill>
              <a:srgbClr val="7042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286000"/>
            <a:ext cx="1737360" cy="292608"/>
          </a:xfrm>
          <a:prstGeom prst="roundRect">
            <a:avLst/>
          </a:prstGeom>
          <a:solidFill>
            <a:srgbClr val="FF73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74536" y="2304288"/>
            <a:ext cx="1664207"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BEFORE EXPOSING IT</a:t>
            </a:r>
          </a:p>
        </p:txBody>
      </p:sp>
      <p:sp>
        <p:nvSpPr>
          <p:cNvPr id="14" name="TextBox 13"/>
          <p:cNvSpPr txBox="1"/>
          <p:nvPr/>
        </p:nvSpPr>
        <p:spPr>
          <a:xfrm>
            <a:off x="6537960" y="2834640"/>
            <a:ext cx="4617720" cy="2011680"/>
          </a:xfrm>
          <a:prstGeom prst="rect">
            <a:avLst/>
          </a:prstGeom>
          <a:noFill/>
        </p:spPr>
        <p:txBody>
          <a:bodyPr wrap="square" lIns="45720" rIns="45720" tIns="27432" bIns="27432">
            <a:spAutoFit/>
          </a:bodyPr>
          <a:lstStyle/>
          <a:p>
            <a:pPr>
              <a:spcAft>
                <a:spcPts val="1300"/>
              </a:spcAft>
              <a:defRPr sz="1300">
                <a:solidFill>
                  <a:srgbClr val="F4F7FF"/>
                </a:solidFill>
                <a:latin typeface="Aptos"/>
              </a:defRPr>
            </a:pPr>
            <a:r>
              <a:rPr sz="1200">
                <a:solidFill>
                  <a:srgbClr val="FF7382"/>
                </a:solidFill>
              </a:rPr>
              <a:t>●  </a:t>
            </a:r>
            <a:r>
              <a:rPr sz="1300">
                <a:solidFill>
                  <a:srgbClr val="F4F7FF"/>
                </a:solidFill>
              </a:rPr>
              <a:t>Authentication and authorization</a:t>
            </a:r>
          </a:p>
          <a:p>
            <a:pPr>
              <a:spcAft>
                <a:spcPts val="1300"/>
              </a:spcAft>
              <a:defRPr sz="1300">
                <a:solidFill>
                  <a:srgbClr val="F4F7FF"/>
                </a:solidFill>
                <a:latin typeface="Aptos"/>
              </a:defRPr>
            </a:pPr>
            <a:r>
              <a:rPr sz="1200">
                <a:solidFill>
                  <a:srgbClr val="FF7382"/>
                </a:solidFill>
              </a:rPr>
              <a:t>●  </a:t>
            </a:r>
            <a:r>
              <a:rPr sz="1300">
                <a:solidFill>
                  <a:srgbClr val="F4F7FF"/>
                </a:solidFill>
              </a:rPr>
              <a:t>Tenant-scoped retrieval and access controls</a:t>
            </a:r>
          </a:p>
          <a:p>
            <a:pPr>
              <a:spcAft>
                <a:spcPts val="1300"/>
              </a:spcAft>
              <a:defRPr sz="1300">
                <a:solidFill>
                  <a:srgbClr val="F4F7FF"/>
                </a:solidFill>
                <a:latin typeface="Aptos"/>
              </a:defRPr>
            </a:pPr>
            <a:r>
              <a:rPr sz="1200">
                <a:solidFill>
                  <a:srgbClr val="FF7382"/>
                </a:solidFill>
              </a:rPr>
              <a:t>●  </a:t>
            </a:r>
            <a:r>
              <a:rPr sz="1300">
                <a:solidFill>
                  <a:srgbClr val="F4F7FF"/>
                </a:solidFill>
              </a:rPr>
              <a:t>TLS, secret management and monitoring</a:t>
            </a:r>
          </a:p>
          <a:p>
            <a:pPr>
              <a:spcAft>
                <a:spcPts val="1300"/>
              </a:spcAft>
              <a:defRPr sz="1300">
                <a:solidFill>
                  <a:srgbClr val="F4F7FF"/>
                </a:solidFill>
                <a:latin typeface="Aptos"/>
              </a:defRPr>
            </a:pPr>
            <a:r>
              <a:rPr sz="1200">
                <a:solidFill>
                  <a:srgbClr val="FF7382"/>
                </a:solidFill>
              </a:rPr>
              <a:t>●  </a:t>
            </a:r>
            <a:r>
              <a:rPr sz="1300">
                <a:solidFill>
                  <a:srgbClr val="F4F7FF"/>
                </a:solidFill>
              </a:rPr>
              <a:t>Backups, retention and capacity planning</a:t>
            </a:r>
          </a:p>
        </p:txBody>
      </p:sp>
      <p:sp>
        <p:nvSpPr>
          <p:cNvPr id="15" name="Rounded Rectangle 14"/>
          <p:cNvSpPr/>
          <p:nvPr/>
        </p:nvSpPr>
        <p:spPr>
          <a:xfrm>
            <a:off x="1097280" y="5806440"/>
            <a:ext cx="10012680" cy="457200"/>
          </a:xfrm>
          <a:prstGeom prst="roundRect">
            <a:avLst/>
          </a:prstGeom>
          <a:solidFill>
            <a:srgbClr val="2A1E1D"/>
          </a:solidFill>
          <a:ln w="12700">
            <a:solidFill>
              <a:srgbClr val="734E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5880" y="5925312"/>
            <a:ext cx="9555480" cy="201168"/>
          </a:xfrm>
          <a:prstGeom prst="rect">
            <a:avLst/>
          </a:prstGeom>
          <a:noFill/>
        </p:spPr>
        <p:txBody>
          <a:bodyPr wrap="square" lIns="36576" rIns="36576" tIns="36576" bIns="36576" anchor="t">
            <a:spAutoFit/>
          </a:bodyPr>
          <a:lstStyle/>
          <a:p>
            <a:pPr algn="ctr">
              <a:spcAft>
                <a:spcPts val="400"/>
              </a:spcAft>
              <a:defRPr sz="1100" b="1" i="0">
                <a:solidFill>
                  <a:srgbClr val="FFB55B"/>
                </a:solidFill>
                <a:latin typeface="Aptos"/>
              </a:defRPr>
            </a:pPr>
            <a:r>
              <a:t>System prompts and similarity thresholds are not security boundaries; the support prompt is not a moderation plugin.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020"/>
        </a:solidFill>
        <a:effectLst/>
      </p:bgPr>
    </p:bg>
    <p:spTree>
      <p:nvGrpSpPr>
        <p:cNvPr id="1" name=""/>
        <p:cNvGrpSpPr/>
        <p:nvPr/>
      </p:nvGrpSpPr>
      <p:grpSpPr/>
      <p:sp>
        <p:nvSpPr>
          <p:cNvPr id="2" name="TextBox 1"/>
          <p:cNvSpPr txBox="1"/>
          <p:nvPr/>
        </p:nvSpPr>
        <p:spPr>
          <a:xfrm>
            <a:off x="566928" y="320040"/>
            <a:ext cx="4937760" cy="256032"/>
          </a:xfrm>
          <a:prstGeom prst="rect">
            <a:avLst/>
          </a:prstGeom>
          <a:noFill/>
        </p:spPr>
        <p:txBody>
          <a:bodyPr wrap="square" lIns="36576" rIns="36576" tIns="36576" bIns="36576" anchor="t">
            <a:spAutoFit/>
          </a:bodyPr>
          <a:lstStyle/>
          <a:p>
            <a:pPr algn="l">
              <a:spcAft>
                <a:spcPts val="400"/>
              </a:spcAft>
              <a:defRPr sz="1000" b="1" i="0">
                <a:solidFill>
                  <a:srgbClr val="42D3E6"/>
                </a:solidFill>
                <a:latin typeface="Aptos"/>
              </a:defRPr>
            </a:pPr>
            <a:r>
              <a:t>10 • WRAP-UP</a:t>
            </a:r>
          </a:p>
        </p:txBody>
      </p:sp>
      <p:sp>
        <p:nvSpPr>
          <p:cNvPr id="3" name="TextBox 2"/>
          <p:cNvSpPr txBox="1"/>
          <p:nvPr/>
        </p:nvSpPr>
        <p:spPr>
          <a:xfrm>
            <a:off x="566928" y="658368"/>
            <a:ext cx="10972800" cy="502920"/>
          </a:xfrm>
          <a:prstGeom prst="rect">
            <a:avLst/>
          </a:prstGeom>
          <a:noFill/>
        </p:spPr>
        <p:txBody>
          <a:bodyPr wrap="square" lIns="36576" rIns="36576" tIns="36576" bIns="36576" anchor="t">
            <a:spAutoFit/>
          </a:bodyPr>
          <a:lstStyle/>
          <a:p>
            <a:pPr algn="l">
              <a:spcAft>
                <a:spcPts val="400"/>
              </a:spcAft>
              <a:defRPr sz="2700" b="1" i="0">
                <a:solidFill>
                  <a:srgbClr val="F4F7FF"/>
                </a:solidFill>
                <a:latin typeface="Aptos"/>
              </a:defRPr>
            </a:pPr>
            <a:r>
              <a:t>Takeaways and a practical walkthrough</a:t>
            </a:r>
          </a:p>
        </p:txBody>
      </p:sp>
      <p:sp>
        <p:nvSpPr>
          <p:cNvPr id="4" name="TextBox 3"/>
          <p:cNvSpPr txBox="1"/>
          <p:nvPr/>
        </p:nvSpPr>
        <p:spPr>
          <a:xfrm>
            <a:off x="585216" y="1197864"/>
            <a:ext cx="10972800" cy="384048"/>
          </a:xfrm>
          <a:prstGeom prst="rect">
            <a:avLst/>
          </a:prstGeom>
          <a:noFill/>
        </p:spPr>
        <p:txBody>
          <a:bodyPr wrap="square" lIns="36576" rIns="36576" tIns="36576" bIns="36576" anchor="t">
            <a:spAutoFit/>
          </a:bodyPr>
          <a:lstStyle/>
          <a:p>
            <a:pPr algn="l">
              <a:spcAft>
                <a:spcPts val="400"/>
              </a:spcAft>
              <a:defRPr sz="1200" b="0" i="0">
                <a:solidFill>
                  <a:srgbClr val="AEBBD3"/>
                </a:solidFill>
                <a:latin typeface="Aptos"/>
              </a:defRPr>
            </a:pPr>
            <a:r>
              <a:t>Keep the client API consistent while making retrieval and model connectivity selectable.</a:t>
            </a:r>
          </a:p>
        </p:txBody>
      </p:sp>
      <p:sp>
        <p:nvSpPr>
          <p:cNvPr id="5" name="Rectangle 4"/>
          <p:cNvSpPr/>
          <p:nvPr/>
        </p:nvSpPr>
        <p:spPr>
          <a:xfrm>
            <a:off x="585216" y="1664208"/>
            <a:ext cx="777240" cy="41148"/>
          </a:xfrm>
          <a:prstGeom prst="rect">
            <a:avLst/>
          </a:prstGeom>
          <a:solidFill>
            <a:srgbClr val="42D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6510528"/>
            <a:ext cx="6400800" cy="164592"/>
          </a:xfrm>
          <a:prstGeom prst="rect">
            <a:avLst/>
          </a:prstGeom>
          <a:noFill/>
        </p:spPr>
        <p:txBody>
          <a:bodyPr wrap="square" lIns="36576" rIns="36576" tIns="36576" bIns="36576" anchor="t">
            <a:spAutoFit/>
          </a:bodyPr>
          <a:lstStyle/>
          <a:p>
            <a:pPr algn="l">
              <a:spcAft>
                <a:spcPts val="400"/>
              </a:spcAft>
              <a:defRPr sz="800" b="1" i="0">
                <a:solidFill>
                  <a:srgbClr val="AEBBD3"/>
                </a:solidFill>
                <a:latin typeface="Aptos"/>
              </a:defRPr>
            </a:pPr>
            <a:r>
              <a:t>KONG CHATBOT ARCHITECTURE   •   10 / 10</a:t>
            </a:r>
          </a:p>
        </p:txBody>
      </p:sp>
      <p:sp>
        <p:nvSpPr>
          <p:cNvPr id="7" name="Rounded Rectangle 6"/>
          <p:cNvSpPr/>
          <p:nvPr/>
        </p:nvSpPr>
        <p:spPr>
          <a:xfrm>
            <a:off x="685800" y="1965960"/>
            <a:ext cx="5623560" cy="566928"/>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03120"/>
            <a:ext cx="1691640" cy="219456"/>
          </a:xfrm>
          <a:prstGeom prst="rect">
            <a:avLst/>
          </a:prstGeom>
          <a:noFill/>
        </p:spPr>
        <p:txBody>
          <a:bodyPr wrap="square" lIns="36576" rIns="36576" tIns="36576" bIns="36576" anchor="t">
            <a:spAutoFit/>
          </a:bodyPr>
          <a:lstStyle/>
          <a:p>
            <a:pPr algn="l">
              <a:spcAft>
                <a:spcPts val="400"/>
              </a:spcAft>
              <a:defRPr sz="1300" b="1" i="0">
                <a:solidFill>
                  <a:srgbClr val="42D3E6"/>
                </a:solidFill>
                <a:latin typeface="Aptos"/>
              </a:defRPr>
            </a:pPr>
            <a:r>
              <a:t>RAG</a:t>
            </a:r>
          </a:p>
        </p:txBody>
      </p:sp>
      <p:sp>
        <p:nvSpPr>
          <p:cNvPr id="9" name="TextBox 8"/>
          <p:cNvSpPr txBox="1"/>
          <p:nvPr/>
        </p:nvSpPr>
        <p:spPr>
          <a:xfrm>
            <a:off x="2560320" y="2066543"/>
            <a:ext cx="3474720" cy="356616"/>
          </a:xfrm>
          <a:prstGeom prst="rect">
            <a:avLst/>
          </a:prstGeom>
          <a:noFill/>
        </p:spPr>
        <p:txBody>
          <a:bodyPr wrap="square" lIns="36576" rIns="36576" tIns="36576" bIns="36576" anchor="t">
            <a:spAutoFit/>
          </a:bodyPr>
          <a:lstStyle/>
          <a:p>
            <a:pPr algn="l">
              <a:spcAft>
                <a:spcPts val="400"/>
              </a:spcAft>
              <a:defRPr sz="1100" b="0" i="0">
                <a:solidFill>
                  <a:srgbClr val="F4F7FF"/>
                </a:solidFill>
                <a:latin typeface="Aptos"/>
              </a:defRPr>
            </a:pPr>
            <a:r>
              <a:t>supplies project knowledge and makes source-grounded answers easier to trace.</a:t>
            </a:r>
          </a:p>
        </p:txBody>
      </p:sp>
      <p:sp>
        <p:nvSpPr>
          <p:cNvPr id="10" name="Rounded Rectangle 9"/>
          <p:cNvSpPr/>
          <p:nvPr/>
        </p:nvSpPr>
        <p:spPr>
          <a:xfrm>
            <a:off x="685800" y="2679191"/>
            <a:ext cx="5623560" cy="566928"/>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816351"/>
            <a:ext cx="1691640" cy="219456"/>
          </a:xfrm>
          <a:prstGeom prst="rect">
            <a:avLst/>
          </a:prstGeom>
          <a:noFill/>
        </p:spPr>
        <p:txBody>
          <a:bodyPr wrap="square" lIns="36576" rIns="36576" tIns="36576" bIns="36576" anchor="t">
            <a:spAutoFit/>
          </a:bodyPr>
          <a:lstStyle/>
          <a:p>
            <a:pPr algn="l">
              <a:spcAft>
                <a:spcPts val="400"/>
              </a:spcAft>
              <a:defRPr sz="1300" b="1" i="0">
                <a:solidFill>
                  <a:srgbClr val="A07DFF"/>
                </a:solidFill>
                <a:latin typeface="Aptos"/>
              </a:defRPr>
            </a:pPr>
            <a:r>
              <a:t>Kong Gateway</a:t>
            </a:r>
          </a:p>
        </p:txBody>
      </p:sp>
      <p:sp>
        <p:nvSpPr>
          <p:cNvPr id="12" name="TextBox 11"/>
          <p:cNvSpPr txBox="1"/>
          <p:nvPr/>
        </p:nvSpPr>
        <p:spPr>
          <a:xfrm>
            <a:off x="2560320" y="2779775"/>
            <a:ext cx="3474720" cy="356616"/>
          </a:xfrm>
          <a:prstGeom prst="rect">
            <a:avLst/>
          </a:prstGeom>
          <a:noFill/>
        </p:spPr>
        <p:txBody>
          <a:bodyPr wrap="square" lIns="36576" rIns="36576" tIns="36576" bIns="36576" anchor="t">
            <a:spAutoFit/>
          </a:bodyPr>
          <a:lstStyle/>
          <a:p>
            <a:pPr algn="l">
              <a:spcAft>
                <a:spcPts val="400"/>
              </a:spcAft>
              <a:defRPr sz="1100" b="0" i="0">
                <a:solidFill>
                  <a:srgbClr val="F4F7FF"/>
                </a:solidFill>
                <a:latin typeface="Aptos"/>
              </a:defRPr>
            </a:pPr>
            <a:r>
              <a:t>is the shared traffic boundary; Konnect adds centrally managed AI Gateway plugins.</a:t>
            </a:r>
          </a:p>
        </p:txBody>
      </p:sp>
      <p:sp>
        <p:nvSpPr>
          <p:cNvPr id="13" name="Rounded Rectangle 12"/>
          <p:cNvSpPr/>
          <p:nvPr/>
        </p:nvSpPr>
        <p:spPr>
          <a:xfrm>
            <a:off x="685800" y="3392424"/>
            <a:ext cx="5623560" cy="566928"/>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529584"/>
            <a:ext cx="1691640" cy="219456"/>
          </a:xfrm>
          <a:prstGeom prst="rect">
            <a:avLst/>
          </a:prstGeom>
          <a:noFill/>
        </p:spPr>
        <p:txBody>
          <a:bodyPr wrap="square" lIns="36576" rIns="36576" tIns="36576" bIns="36576" anchor="t">
            <a:spAutoFit/>
          </a:bodyPr>
          <a:lstStyle/>
          <a:p>
            <a:pPr algn="l">
              <a:spcAft>
                <a:spcPts val="400"/>
              </a:spcAft>
              <a:defRPr sz="1300" b="1" i="0">
                <a:solidFill>
                  <a:srgbClr val="42D3E6"/>
                </a:solidFill>
                <a:latin typeface="Aptos"/>
              </a:defRPr>
            </a:pPr>
            <a:r>
              <a:t>Spring Boot</a:t>
            </a:r>
          </a:p>
        </p:txBody>
      </p:sp>
      <p:sp>
        <p:nvSpPr>
          <p:cNvPr id="15" name="TextBox 14"/>
          <p:cNvSpPr txBox="1"/>
          <p:nvPr/>
        </p:nvSpPr>
        <p:spPr>
          <a:xfrm>
            <a:off x="2560320" y="3493008"/>
            <a:ext cx="3474720" cy="356616"/>
          </a:xfrm>
          <a:prstGeom prst="rect">
            <a:avLst/>
          </a:prstGeom>
          <a:noFill/>
        </p:spPr>
        <p:txBody>
          <a:bodyPr wrap="square" lIns="36576" rIns="36576" tIns="36576" bIns="36576" anchor="t">
            <a:spAutoFit/>
          </a:bodyPr>
          <a:lstStyle/>
          <a:p>
            <a:pPr algn="l">
              <a:spcAft>
                <a:spcPts val="400"/>
              </a:spcAft>
              <a:defRPr sz="1100" b="0" i="0">
                <a:solidFill>
                  <a:srgbClr val="F4F7FF"/>
                </a:solidFill>
                <a:latin typeface="Aptos"/>
              </a:defRPr>
            </a:pPr>
            <a:r>
              <a:t>owns the stable API and coordinates chat behavior across both modes.</a:t>
            </a:r>
          </a:p>
        </p:txBody>
      </p:sp>
      <p:sp>
        <p:nvSpPr>
          <p:cNvPr id="16" name="Rounded Rectangle 15"/>
          <p:cNvSpPr/>
          <p:nvPr/>
        </p:nvSpPr>
        <p:spPr>
          <a:xfrm>
            <a:off x="685800" y="4105656"/>
            <a:ext cx="5623560" cy="566928"/>
          </a:xfrm>
          <a:prstGeom prst="roundRect">
            <a:avLst/>
          </a:prstGeom>
          <a:solidFill>
            <a:srgbClr val="141D33"/>
          </a:solidFill>
          <a:ln w="12700">
            <a:solidFill>
              <a:srgbClr val="1A26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242816"/>
            <a:ext cx="1691640" cy="219456"/>
          </a:xfrm>
          <a:prstGeom prst="rect">
            <a:avLst/>
          </a:prstGeom>
          <a:noFill/>
        </p:spPr>
        <p:txBody>
          <a:bodyPr wrap="square" lIns="36576" rIns="36576" tIns="36576" bIns="36576" anchor="t">
            <a:spAutoFit/>
          </a:bodyPr>
          <a:lstStyle/>
          <a:p>
            <a:pPr algn="l">
              <a:spcAft>
                <a:spcPts val="400"/>
              </a:spcAft>
              <a:defRPr sz="1300" b="1" i="0">
                <a:solidFill>
                  <a:srgbClr val="A07DFF"/>
                </a:solidFill>
                <a:latin typeface="Aptos"/>
              </a:defRPr>
            </a:pPr>
            <a:r>
              <a:t>Infrastructure as Code</a:t>
            </a:r>
          </a:p>
        </p:txBody>
      </p:sp>
      <p:sp>
        <p:nvSpPr>
          <p:cNvPr id="18" name="TextBox 17"/>
          <p:cNvSpPr txBox="1"/>
          <p:nvPr/>
        </p:nvSpPr>
        <p:spPr>
          <a:xfrm>
            <a:off x="2560320" y="4206240"/>
            <a:ext cx="3474720" cy="356616"/>
          </a:xfrm>
          <a:prstGeom prst="rect">
            <a:avLst/>
          </a:prstGeom>
          <a:noFill/>
        </p:spPr>
        <p:txBody>
          <a:bodyPr wrap="square" lIns="36576" rIns="36576" tIns="36576" bIns="36576" anchor="t">
            <a:spAutoFit/>
          </a:bodyPr>
          <a:lstStyle/>
          <a:p>
            <a:pPr algn="l">
              <a:spcAft>
                <a:spcPts val="400"/>
              </a:spcAft>
              <a:defRPr sz="1100" b="0" i="0">
                <a:solidFill>
                  <a:srgbClr val="F4F7FF"/>
                </a:solidFill>
                <a:latin typeface="Aptos"/>
              </a:defRPr>
            </a:pPr>
            <a:r>
              <a:t>captures repeatable development setup — production still needs platform-specific controls.</a:t>
            </a:r>
          </a:p>
        </p:txBody>
      </p:sp>
      <p:sp>
        <p:nvSpPr>
          <p:cNvPr id="19" name="Rounded Rectangle 18"/>
          <p:cNvSpPr/>
          <p:nvPr/>
        </p:nvSpPr>
        <p:spPr>
          <a:xfrm>
            <a:off x="6720840" y="1965960"/>
            <a:ext cx="4800600" cy="3611880"/>
          </a:xfrm>
          <a:prstGeom prst="roundRect">
            <a:avLst/>
          </a:prstGeom>
          <a:solidFill>
            <a:srgbClr val="101F2B"/>
          </a:solidFill>
          <a:ln w="12700">
            <a:solidFill>
              <a:srgbClr val="42D3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040880" y="2267712"/>
            <a:ext cx="1097280" cy="292608"/>
          </a:xfrm>
          <a:prstGeom prst="roundRect">
            <a:avLst/>
          </a:prstGeom>
          <a:solidFill>
            <a:srgbClr val="48E0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77456" y="2286000"/>
            <a:ext cx="1024127" cy="228600"/>
          </a:xfrm>
          <a:prstGeom prst="rect">
            <a:avLst/>
          </a:prstGeom>
          <a:noFill/>
        </p:spPr>
        <p:txBody>
          <a:bodyPr wrap="square" lIns="9144" rIns="9144" tIns="9144" bIns="9144" anchor="ctr">
            <a:spAutoFit/>
          </a:bodyPr>
          <a:lstStyle/>
          <a:p>
            <a:pPr algn="ctr">
              <a:spcAft>
                <a:spcPts val="400"/>
              </a:spcAft>
              <a:defRPr sz="900" b="1" i="0">
                <a:solidFill>
                  <a:srgbClr val="0A1020"/>
                </a:solidFill>
                <a:latin typeface="Aptos"/>
              </a:defRPr>
            </a:pPr>
            <a:r>
              <a:t>LIVE DEMO</a:t>
            </a:r>
          </a:p>
        </p:txBody>
      </p:sp>
      <p:sp>
        <p:nvSpPr>
          <p:cNvPr id="22" name="TextBox 21"/>
          <p:cNvSpPr txBox="1"/>
          <p:nvPr/>
        </p:nvSpPr>
        <p:spPr>
          <a:xfrm>
            <a:off x="7059168" y="2788920"/>
            <a:ext cx="3840480" cy="274320"/>
          </a:xfrm>
          <a:prstGeom prst="rect">
            <a:avLst/>
          </a:prstGeom>
          <a:noFill/>
        </p:spPr>
        <p:txBody>
          <a:bodyPr wrap="square" lIns="36576" rIns="36576" tIns="36576" bIns="36576" anchor="t">
            <a:spAutoFit/>
          </a:bodyPr>
          <a:lstStyle/>
          <a:p>
            <a:pPr algn="l">
              <a:spcAft>
                <a:spcPts val="400"/>
              </a:spcAft>
              <a:defRPr sz="1500" b="1" i="0">
                <a:solidFill>
                  <a:srgbClr val="F4F7FF"/>
                </a:solidFill>
                <a:latin typeface="Aptos"/>
              </a:defRPr>
            </a:pPr>
            <a:r>
              <a:t>1  Start the local stack</a:t>
            </a:r>
          </a:p>
        </p:txBody>
      </p:sp>
      <p:sp>
        <p:nvSpPr>
          <p:cNvPr id="23" name="TextBox 22"/>
          <p:cNvSpPr txBox="1"/>
          <p:nvPr/>
        </p:nvSpPr>
        <p:spPr>
          <a:xfrm>
            <a:off x="7242048" y="3127248"/>
            <a:ext cx="3566160" cy="320040"/>
          </a:xfrm>
          <a:prstGeom prst="rect">
            <a:avLst/>
          </a:prstGeom>
          <a:noFill/>
        </p:spPr>
        <p:txBody>
          <a:bodyPr wrap="square" lIns="36576" rIns="36576" tIns="36576" bIns="36576" anchor="t">
            <a:spAutoFit/>
          </a:bodyPr>
          <a:lstStyle/>
          <a:p>
            <a:pPr algn="l">
              <a:spcAft>
                <a:spcPts val="400"/>
              </a:spcAft>
              <a:defRPr sz="1600" b="1" i="0">
                <a:solidFill>
                  <a:srgbClr val="48E0B8"/>
                </a:solidFill>
                <a:latin typeface="Aptos Mono"/>
              </a:defRPr>
            </a:pPr>
            <a:r>
              <a:t>make up</a:t>
            </a:r>
          </a:p>
        </p:txBody>
      </p:sp>
      <p:sp>
        <p:nvSpPr>
          <p:cNvPr id="24" name="TextBox 23"/>
          <p:cNvSpPr txBox="1"/>
          <p:nvPr/>
        </p:nvSpPr>
        <p:spPr>
          <a:xfrm>
            <a:off x="7059168" y="3657600"/>
            <a:ext cx="3977639" cy="274320"/>
          </a:xfrm>
          <a:prstGeom prst="rect">
            <a:avLst/>
          </a:prstGeom>
          <a:noFill/>
        </p:spPr>
        <p:txBody>
          <a:bodyPr wrap="square" lIns="36576" rIns="36576" tIns="36576" bIns="36576" anchor="t">
            <a:spAutoFit/>
          </a:bodyPr>
          <a:lstStyle/>
          <a:p>
            <a:pPr algn="l">
              <a:spcAft>
                <a:spcPts val="400"/>
              </a:spcAft>
              <a:defRPr sz="1400" b="1" i="0">
                <a:solidFill>
                  <a:srgbClr val="F4F7FF"/>
                </a:solidFill>
                <a:latin typeface="Aptos"/>
              </a:defRPr>
            </a:pPr>
            <a:r>
              <a:t>2  Ask about the release checklist</a:t>
            </a:r>
          </a:p>
        </p:txBody>
      </p:sp>
      <p:sp>
        <p:nvSpPr>
          <p:cNvPr id="25" name="TextBox 24"/>
          <p:cNvSpPr txBox="1"/>
          <p:nvPr/>
        </p:nvSpPr>
        <p:spPr>
          <a:xfrm>
            <a:off x="7242048" y="4005072"/>
            <a:ext cx="3566160" cy="274320"/>
          </a:xfrm>
          <a:prstGeom prst="rect">
            <a:avLst/>
          </a:prstGeom>
          <a:noFill/>
        </p:spPr>
        <p:txBody>
          <a:bodyPr wrap="square" lIns="36576" rIns="36576" tIns="36576" bIns="36576" anchor="t">
            <a:spAutoFit/>
          </a:bodyPr>
          <a:lstStyle/>
          <a:p>
            <a:pPr algn="l">
              <a:spcAft>
                <a:spcPts val="400"/>
              </a:spcAft>
              <a:defRPr sz="1400" b="1" i="0">
                <a:solidFill>
                  <a:srgbClr val="42D3E6"/>
                </a:solidFill>
                <a:latin typeface="Aptos Mono"/>
              </a:defRPr>
            </a:pPr>
            <a:r>
              <a:t>POST /api/rag/chat</a:t>
            </a:r>
          </a:p>
        </p:txBody>
      </p:sp>
      <p:sp>
        <p:nvSpPr>
          <p:cNvPr id="26" name="TextBox 25"/>
          <p:cNvSpPr txBox="1"/>
          <p:nvPr/>
        </p:nvSpPr>
        <p:spPr>
          <a:xfrm>
            <a:off x="7059168" y="4480560"/>
            <a:ext cx="3931920" cy="274320"/>
          </a:xfrm>
          <a:prstGeom prst="rect">
            <a:avLst/>
          </a:prstGeom>
          <a:noFill/>
        </p:spPr>
        <p:txBody>
          <a:bodyPr wrap="square" lIns="36576" rIns="36576" tIns="36576" bIns="36576" anchor="t">
            <a:spAutoFit/>
          </a:bodyPr>
          <a:lstStyle/>
          <a:p>
            <a:pPr algn="l">
              <a:spcAft>
                <a:spcPts val="400"/>
              </a:spcAft>
              <a:defRPr sz="1400" b="1" i="0">
                <a:solidFill>
                  <a:srgbClr val="F4F7FF"/>
                </a:solidFill>
                <a:latin typeface="Aptos"/>
              </a:defRPr>
            </a:pPr>
            <a:r>
              <a:t>3  Contrast local vs. Konnect</a:t>
            </a:r>
          </a:p>
        </p:txBody>
      </p:sp>
      <p:sp>
        <p:nvSpPr>
          <p:cNvPr id="27" name="TextBox 26"/>
          <p:cNvSpPr txBox="1"/>
          <p:nvPr/>
        </p:nvSpPr>
        <p:spPr>
          <a:xfrm>
            <a:off x="7242048" y="4892040"/>
            <a:ext cx="3886200" cy="438912"/>
          </a:xfrm>
          <a:prstGeom prst="rect">
            <a:avLst/>
          </a:prstGeom>
          <a:noFill/>
        </p:spPr>
        <p:txBody>
          <a:bodyPr wrap="square" lIns="36576" rIns="36576" tIns="36576" bIns="36576" anchor="t">
            <a:spAutoFit/>
          </a:bodyPr>
          <a:lstStyle/>
          <a:p>
            <a:pPr algn="l">
              <a:spcAft>
                <a:spcPts val="400"/>
              </a:spcAft>
              <a:defRPr sz="1000" b="0" i="0">
                <a:solidFill>
                  <a:srgbClr val="AEBBD3"/>
                </a:solidFill>
                <a:latin typeface="Aptos Mono"/>
              </a:defRPr>
            </a:pPr>
            <a:r>
              <a:t>{"message":"What is the project release checklist?"}</a:t>
            </a:r>
          </a:p>
        </p:txBody>
      </p:sp>
      <p:sp>
        <p:nvSpPr>
          <p:cNvPr id="28" name="TextBox 27"/>
          <p:cNvSpPr txBox="1"/>
          <p:nvPr/>
        </p:nvSpPr>
        <p:spPr>
          <a:xfrm>
            <a:off x="777240" y="5961888"/>
            <a:ext cx="10698480" cy="384048"/>
          </a:xfrm>
          <a:prstGeom prst="rect">
            <a:avLst/>
          </a:prstGeom>
          <a:noFill/>
        </p:spPr>
        <p:txBody>
          <a:bodyPr wrap="square" lIns="36576" rIns="36576" tIns="36576" bIns="36576" anchor="t">
            <a:spAutoFit/>
          </a:bodyPr>
          <a:lstStyle/>
          <a:p>
            <a:pPr algn="ctr">
              <a:spcAft>
                <a:spcPts val="400"/>
              </a:spcAft>
              <a:defRPr sz="900" b="0" i="0">
                <a:solidFill>
                  <a:srgbClr val="AEBBD3"/>
                </a:solidFill>
                <a:latin typeface="Aptos"/>
              </a:defRPr>
            </a:pPr>
            <a:r>
              <a:t>Project references: README.md • knowledge/local-mode.md • src/main/kotlin/org/jesperancinha/kong/chatbot/ • compose*.yaml • kong/local.yaml • terraform/ • scripts/configure-konnect.sh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Kong Chatbot Architecture</dc:title>
  <dc:subject>RAG chatbot architecture: local and Konnect deployment modes</dc:subject>
  <dc:creator>OpenAI</dc:creator>
  <cp:keywords>Kong, RAG, Spring Boot, Kotlin, Konnect, Terraform, Ollama, OpenAI</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