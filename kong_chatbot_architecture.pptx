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7" r:id="rId3"/>
    <p:sldId id="266" r:id="rId4"/>
    <p:sldId id="257" r:id="rId5"/>
    <p:sldId id="258" r:id="rId6"/>
    <p:sldId id="259" r:id="rId7"/>
    <p:sldId id="260" r:id="rId8"/>
    <p:sldId id="261" r:id="rId9"/>
    <p:sldId id="262" r:id="rId10"/>
    <p:sldId id="263" r:id="rId11"/>
    <p:sldId id="264" r:id="rId12"/>
    <p:sldId id="265"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68"/>
    <p:restoredTop sz="94653"/>
  </p:normalViewPr>
  <p:slideViewPr>
    <p:cSldViewPr snapToGrid="0" snapToObjects="1">
      <p:cViewPr varScale="1">
        <p:scale>
          <a:sx n="149" d="100"/>
          <a:sy n="149" d="100"/>
        </p:scale>
        <p:origin x="192" y="2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14892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RAG connects a model's language-generation ability to a maintained, task-specific knowledge base. It is especially useful when answers must reflect current or organization-specific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7D305-C4C1-4EAE-6092-CD1E0B1968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32E576-121D-EF82-77E5-9D8CCD57619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8CE9B9D-890C-B45D-6DE4-BFFBF76705CE}"/>
              </a:ext>
            </a:extLst>
          </p:cNvPr>
          <p:cNvSpPr>
            <a:spLocks noGrp="1"/>
          </p:cNvSpPr>
          <p:nvPr>
            <p:ph type="body" sz="quarter" idx="3"/>
          </p:nvPr>
        </p:nvSpPr>
        <p:spPr/>
        <p:txBody>
          <a:bodyPr/>
          <a:lstStyle/>
          <a:p>
            <a:r>
              <a:rPr dirty="0"/>
              <a:t>RAG connects a model's language-generation ability to a maintained, task-specific knowledge base. It is especially useful when answers must reflect current or organization-specific documentation.</a:t>
            </a:r>
          </a:p>
        </p:txBody>
      </p:sp>
      <p:sp>
        <p:nvSpPr>
          <p:cNvPr id="4" name="Slide Number Placeholder 3">
            <a:extLst>
              <a:ext uri="{FF2B5EF4-FFF2-40B4-BE49-F238E27FC236}">
                <a16:creationId xmlns:a16="http://schemas.microsoft.com/office/drawing/2014/main" id="{1227B45B-384B-DA35-3582-30974B2D62DB}"/>
              </a:ext>
            </a:extLst>
          </p:cNvPr>
          <p:cNvSpPr>
            <a:spLocks noGrp="1"/>
          </p:cNvSpPr>
          <p:nvPr>
            <p:ph type="sldNum" sz="quarter" idx="5"/>
          </p:nvPr>
        </p:nvSpPr>
        <p:spPr/>
      </p:sp>
    </p:spTree>
    <p:extLst>
      <p:ext uri="{BB962C8B-B14F-4D97-AF65-F5344CB8AC3E}">
        <p14:creationId xmlns:p14="http://schemas.microsoft.com/office/powerpoint/2010/main" val="18734020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4A71F-9C8A-CDF3-EA31-CFCA0EBFAA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9FBA9B-67F4-C1C4-1EA1-FC46BBD3E56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41D3846-8554-3A3C-3A8C-811717ABEE96}"/>
              </a:ext>
            </a:extLst>
          </p:cNvPr>
          <p:cNvSpPr>
            <a:spLocks noGrp="1"/>
          </p:cNvSpPr>
          <p:nvPr>
            <p:ph type="body" sz="quarter" idx="3"/>
          </p:nvPr>
        </p:nvSpPr>
        <p:spPr/>
        <p:txBody>
          <a:bodyPr/>
          <a:lstStyle/>
          <a:p>
            <a:r>
              <a:t>RAG connects a model's language-generation ability to a maintained, task-specific knowledge base. It is especially useful when answers must reflect current or organization-specific documentation.</a:t>
            </a:r>
          </a:p>
        </p:txBody>
      </p:sp>
      <p:sp>
        <p:nvSpPr>
          <p:cNvPr id="4" name="Slide Number Placeholder 3">
            <a:extLst>
              <a:ext uri="{FF2B5EF4-FFF2-40B4-BE49-F238E27FC236}">
                <a16:creationId xmlns:a16="http://schemas.microsoft.com/office/drawing/2014/main" id="{8024A116-26D9-17EC-72C6-C88EA999075B}"/>
              </a:ext>
            </a:extLst>
          </p:cNvPr>
          <p:cNvSpPr>
            <a:spLocks noGrp="1"/>
          </p:cNvSpPr>
          <p:nvPr>
            <p:ph type="sldNum" sz="quarter" idx="5"/>
          </p:nvPr>
        </p:nvSpPr>
        <p:spPr/>
      </p:sp>
    </p:spTree>
    <p:extLst>
      <p:ext uri="{BB962C8B-B14F-4D97-AF65-F5344CB8AC3E}">
        <p14:creationId xmlns:p14="http://schemas.microsoft.com/office/powerpoint/2010/main" val="2121043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3BB82-AEEA-A42A-E50A-C8DCE180C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49F5F0-54B1-58DA-89D5-63ACBD4386C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414923C-76B7-4525-6A87-C574C6BBA26F}"/>
              </a:ext>
            </a:extLst>
          </p:cNvPr>
          <p:cNvSpPr>
            <a:spLocks noGrp="1"/>
          </p:cNvSpPr>
          <p:nvPr>
            <p:ph type="body" sz="quarter" idx="3"/>
          </p:nvPr>
        </p:nvSpPr>
        <p:spPr/>
        <p:txBody>
          <a:bodyPr/>
          <a:lstStyle/>
          <a:p>
            <a:r>
              <a:t>RAG connects a model's language-generation ability to a maintained, task-specific knowledge base. It is especially useful when answers must reflect current or organization-specific documentation.</a:t>
            </a:r>
          </a:p>
        </p:txBody>
      </p:sp>
      <p:sp>
        <p:nvSpPr>
          <p:cNvPr id="4" name="Slide Number Placeholder 3">
            <a:extLst>
              <a:ext uri="{FF2B5EF4-FFF2-40B4-BE49-F238E27FC236}">
                <a16:creationId xmlns:a16="http://schemas.microsoft.com/office/drawing/2014/main" id="{36D86772-B11D-7505-D23D-A1B54EB4E708}"/>
              </a:ext>
            </a:extLst>
          </p:cNvPr>
          <p:cNvSpPr>
            <a:spLocks noGrp="1"/>
          </p:cNvSpPr>
          <p:nvPr>
            <p:ph type="sldNum" sz="quarter" idx="5"/>
          </p:nvPr>
        </p:nvSpPr>
        <p:spPr/>
      </p:sp>
    </p:spTree>
    <p:extLst>
      <p:ext uri="{BB962C8B-B14F-4D97-AF65-F5344CB8AC3E}">
        <p14:creationId xmlns:p14="http://schemas.microsoft.com/office/powerpoint/2010/main" val="19971723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
        <p:nvSpPr>
          <p:cNvPr id="9" name="Tekstvak 8">
            <a:extLst>
              <a:ext uri="{FF2B5EF4-FFF2-40B4-BE49-F238E27FC236}">
                <a16:creationId xmlns:a16="http://schemas.microsoft.com/office/drawing/2014/main" id="{DEA51544-F16C-0CAA-0D81-4123228C80D5}"/>
              </a:ext>
            </a:extLst>
          </p:cNvPr>
          <p:cNvSpPr txBox="1"/>
          <p:nvPr userDrawn="1">
            <p:extLst>
              <p:ext uri="{1162E1C5-73C7-4A58-AE30-91384D911F3F}">
                <p184:classification xmlns:p184="http://schemas.microsoft.com/office/powerpoint/2018/4/main" val="hdr"/>
              </p:ext>
            </p:extLst>
          </p:nvPr>
        </p:nvSpPr>
        <p:spPr>
          <a:xfrm>
            <a:off x="63500" y="63500"/>
            <a:ext cx="349250" cy="152400"/>
          </a:xfrm>
          <a:prstGeom prst="rect">
            <a:avLst/>
          </a:prstGeom>
        </p:spPr>
        <p:txBody>
          <a:bodyPr horzOverflow="overflow" lIns="0" tIns="0" rIns="0" bIns="0">
            <a:spAutoFit/>
          </a:bodyPr>
          <a:lstStyle/>
          <a:p>
            <a:pPr algn="l"/>
            <a:r>
              <a:rPr lang="nl-NL" sz="1000">
                <a:solidFill>
                  <a:srgbClr val="999999">
                    <a:alpha val="50000"/>
                  </a:srgbClr>
                </a:solidFill>
                <a:latin typeface="Aptos" panose="020B0004020202020204" pitchFamily="34" charset="0"/>
              </a:rPr>
              <a:t>Intern</a:t>
            </a:r>
          </a:p>
        </p:txBody>
      </p:sp>
      <p:sp>
        <p:nvSpPr>
          <p:cNvPr id="10" name="Tekstvak 9">
            <a:extLst>
              <a:ext uri="{FF2B5EF4-FFF2-40B4-BE49-F238E27FC236}">
                <a16:creationId xmlns:a16="http://schemas.microsoft.com/office/drawing/2014/main" id="{C438A1F4-A63A-4C45-85EF-CC1A6F8AB3FC}"/>
              </a:ext>
            </a:extLst>
          </p:cNvPr>
          <p:cNvSpPr txBox="1"/>
          <p:nvPr userDrawn="1">
            <p:extLst>
              <p:ext uri="{1162E1C5-73C7-4A58-AE30-91384D911F3F}">
                <p184:classification xmlns:p184="http://schemas.microsoft.com/office/powerpoint/2018/4/main" val="ftr"/>
              </p:ext>
            </p:extLst>
          </p:nvPr>
        </p:nvSpPr>
        <p:spPr>
          <a:xfrm>
            <a:off x="63500" y="6642100"/>
            <a:ext cx="349250" cy="152400"/>
          </a:xfrm>
          <a:prstGeom prst="rect">
            <a:avLst/>
          </a:prstGeom>
        </p:spPr>
        <p:txBody>
          <a:bodyPr horzOverflow="overflow" lIns="0" tIns="0" rIns="0" bIns="0">
            <a:spAutoFit/>
          </a:bodyPr>
          <a:lstStyle/>
          <a:p>
            <a:pPr algn="l"/>
            <a:r>
              <a:rPr lang="nl-NL" sz="1000">
                <a:solidFill>
                  <a:srgbClr val="999999">
                    <a:alpha val="50000"/>
                  </a:srgbClr>
                </a:solidFill>
                <a:latin typeface="Aptos" panose="020B0004020202020204" pitchFamily="34" charset="0"/>
              </a:rPr>
              <a:t>Intern</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jesprotech"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www.youtube.com/@jesprotech_shorts"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01 / 10</a:t>
            </a:r>
          </a:p>
        </p:txBody>
      </p:sp>
      <p:sp>
        <p:nvSpPr>
          <p:cNvPr id="7" name="Rounded Rectangle 6"/>
          <p:cNvSpPr/>
          <p:nvPr/>
        </p:nvSpPr>
        <p:spPr>
          <a:xfrm>
            <a:off x="594360" y="589660"/>
            <a:ext cx="10945368" cy="5353939"/>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6707" y="1761601"/>
            <a:ext cx="10300673" cy="3010055"/>
          </a:xfrm>
          <a:prstGeom prst="rect">
            <a:avLst/>
          </a:prstGeom>
          <a:noFill/>
        </p:spPr>
        <p:txBody>
          <a:bodyPr wrap="square" lIns="45720" tIns="27432" rIns="45720" bIns="27432">
            <a:spAutoFit/>
          </a:bodyPr>
          <a:lstStyle/>
          <a:p>
            <a:pPr algn="ctr"/>
            <a:r>
              <a:rPr lang="nl-NL" sz="4800" b="1" dirty="0">
                <a:solidFill>
                  <a:schemeClr val="bg1"/>
                </a:solidFill>
              </a:rPr>
              <a:t>Hoe combineer je </a:t>
            </a:r>
          </a:p>
          <a:p>
            <a:pPr algn="ctr"/>
            <a:r>
              <a:rPr lang="nl-NL" sz="4800" b="1" dirty="0">
                <a:solidFill>
                  <a:schemeClr val="bg1"/>
                </a:solidFill>
              </a:rPr>
              <a:t>API Gateway, </a:t>
            </a:r>
            <a:r>
              <a:rPr lang="nl-NL" sz="4800" b="1" dirty="0" err="1">
                <a:solidFill>
                  <a:schemeClr val="bg1"/>
                </a:solidFill>
              </a:rPr>
              <a:t>IaCen</a:t>
            </a:r>
            <a:r>
              <a:rPr lang="nl-NL" sz="4800" b="1" dirty="0">
                <a:solidFill>
                  <a:schemeClr val="bg1"/>
                </a:solidFill>
              </a:rPr>
              <a:t> Spring bij ontwikkeling van een RAG-chatbot</a:t>
            </a:r>
          </a:p>
          <a:p>
            <a:pPr algn="ctr"/>
            <a:r>
              <a:rPr lang="nl-NL" sz="4800" b="1" dirty="0">
                <a:solidFill>
                  <a:schemeClr val="bg1"/>
                </a:solidFill>
              </a:rPr>
              <a:t>Joao </a:t>
            </a:r>
            <a:r>
              <a:rPr lang="nl-NL" sz="4800" b="1" dirty="0" err="1">
                <a:solidFill>
                  <a:schemeClr val="bg1"/>
                </a:solidFill>
              </a:rPr>
              <a:t>Esperancinha</a:t>
            </a:r>
            <a:endParaRPr lang="nl-NL" sz="4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a:extLst>
            <a:ext uri="{FF2B5EF4-FFF2-40B4-BE49-F238E27FC236}">
              <a16:creationId xmlns:a16="http://schemas.microsoft.com/office/drawing/2014/main" id="{C3B139FC-BA0C-10B8-BCA9-6F23BECD15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515519F-2081-A35A-B9CA-B6F966806013}"/>
              </a:ext>
            </a:extLst>
          </p:cNvPr>
          <p:cNvSpPr txBox="1"/>
          <p:nvPr/>
        </p:nvSpPr>
        <p:spPr>
          <a:xfrm>
            <a:off x="566928" y="320040"/>
            <a:ext cx="4937760" cy="227755"/>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rPr lang="nl-NL" dirty="0"/>
              <a:t>Introductie</a:t>
            </a:r>
            <a:endParaRPr dirty="0"/>
          </a:p>
        </p:txBody>
      </p:sp>
      <p:sp>
        <p:nvSpPr>
          <p:cNvPr id="3" name="TextBox 2">
            <a:extLst>
              <a:ext uri="{FF2B5EF4-FFF2-40B4-BE49-F238E27FC236}">
                <a16:creationId xmlns:a16="http://schemas.microsoft.com/office/drawing/2014/main" id="{3A75B1A1-9CF0-98DC-9D13-8A0485BEC626}"/>
              </a:ext>
            </a:extLst>
          </p:cNvPr>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rPr lang="nl-NL" dirty="0"/>
              <a:t>Intro</a:t>
            </a:r>
            <a:endParaRPr dirty="0"/>
          </a:p>
        </p:txBody>
      </p:sp>
      <p:sp>
        <p:nvSpPr>
          <p:cNvPr id="4" name="TextBox 3">
            <a:extLst>
              <a:ext uri="{FF2B5EF4-FFF2-40B4-BE49-F238E27FC236}">
                <a16:creationId xmlns:a16="http://schemas.microsoft.com/office/drawing/2014/main" id="{F3E0AD7F-DA95-2489-9E5D-1ABA932FC7A5}"/>
              </a:ext>
            </a:extLst>
          </p:cNvPr>
          <p:cNvSpPr txBox="1"/>
          <p:nvPr/>
        </p:nvSpPr>
        <p:spPr>
          <a:xfrm>
            <a:off x="585216" y="1197864"/>
            <a:ext cx="10972800" cy="258532"/>
          </a:xfrm>
          <a:prstGeom prst="rect">
            <a:avLst/>
          </a:prstGeom>
          <a:noFill/>
        </p:spPr>
        <p:txBody>
          <a:bodyPr wrap="square" lIns="36576" tIns="36576" rIns="36576" bIns="36576" anchor="t">
            <a:spAutoFit/>
          </a:bodyPr>
          <a:lstStyle/>
          <a:p>
            <a:pPr>
              <a:spcAft>
                <a:spcPts val="400"/>
              </a:spcAft>
              <a:defRPr sz="1200" b="0" i="0">
                <a:solidFill>
                  <a:srgbClr val="AEBBD3"/>
                </a:solidFill>
                <a:latin typeface="Aptos"/>
              </a:defRPr>
            </a:pPr>
            <a:r>
              <a:rPr lang="nl-NL" sz="1200" dirty="0">
                <a:solidFill>
                  <a:srgbClr val="AEBBD3"/>
                </a:solidFill>
                <a:latin typeface="Aptos"/>
              </a:rPr>
              <a:t>Hoe combineer je API Gateway, </a:t>
            </a:r>
            <a:r>
              <a:rPr lang="nl-NL" sz="1200" dirty="0" err="1">
                <a:solidFill>
                  <a:srgbClr val="AEBBD3"/>
                </a:solidFill>
                <a:latin typeface="Aptos"/>
              </a:rPr>
              <a:t>IaC</a:t>
            </a:r>
            <a:r>
              <a:rPr lang="nl-NL" sz="1200" dirty="0">
                <a:solidFill>
                  <a:srgbClr val="AEBBD3"/>
                </a:solidFill>
                <a:latin typeface="Aptos"/>
              </a:rPr>
              <a:t>, Spring bij ontwikkeling van een RAG-chatbot</a:t>
            </a:r>
            <a:endParaRPr dirty="0"/>
          </a:p>
        </p:txBody>
      </p:sp>
      <p:sp>
        <p:nvSpPr>
          <p:cNvPr id="5" name="Rectangle 4">
            <a:extLst>
              <a:ext uri="{FF2B5EF4-FFF2-40B4-BE49-F238E27FC236}">
                <a16:creationId xmlns:a16="http://schemas.microsoft.com/office/drawing/2014/main" id="{39165EB8-4F8C-9EE1-5DFC-C8764230AB00}"/>
              </a:ext>
            </a:extLst>
          </p:cNvPr>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21015226-5C6F-F56F-AB68-73DB9815599F}"/>
              </a:ext>
            </a:extLst>
          </p:cNvPr>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01 / 10</a:t>
            </a:r>
          </a:p>
        </p:txBody>
      </p:sp>
      <p:sp>
        <p:nvSpPr>
          <p:cNvPr id="7" name="Rounded Rectangle 6">
            <a:extLst>
              <a:ext uri="{FF2B5EF4-FFF2-40B4-BE49-F238E27FC236}">
                <a16:creationId xmlns:a16="http://schemas.microsoft.com/office/drawing/2014/main" id="{7BF53F6F-13F9-FF96-BF65-5767751415C9}"/>
              </a:ext>
            </a:extLst>
          </p:cNvPr>
          <p:cNvSpPr/>
          <p:nvPr/>
        </p:nvSpPr>
        <p:spPr>
          <a:xfrm>
            <a:off x="594360" y="1965960"/>
            <a:ext cx="10945368" cy="429560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a:extLst>
              <a:ext uri="{FF2B5EF4-FFF2-40B4-BE49-F238E27FC236}">
                <a16:creationId xmlns:a16="http://schemas.microsoft.com/office/drawing/2014/main" id="{B95BA25E-8706-8243-9CD6-11DC88C8C83C}"/>
              </a:ext>
            </a:extLst>
          </p:cNvPr>
          <p:cNvSpPr txBox="1"/>
          <p:nvPr/>
        </p:nvSpPr>
        <p:spPr>
          <a:xfrm>
            <a:off x="945663" y="2095808"/>
            <a:ext cx="6040353" cy="3933384"/>
          </a:xfrm>
          <a:prstGeom prst="rect">
            <a:avLst/>
          </a:prstGeom>
          <a:noFill/>
        </p:spPr>
        <p:txBody>
          <a:bodyPr wrap="square" lIns="45720" tIns="27432" rIns="45720" bIns="27432">
            <a:spAutoFit/>
          </a:bodyPr>
          <a:lstStyle/>
          <a:p>
            <a:r>
              <a:rPr lang="nl-NL" sz="1400" b="1" dirty="0">
                <a:solidFill>
                  <a:schemeClr val="bg1"/>
                </a:solidFill>
              </a:rPr>
              <a:t>SOFTWARE ENGINEERING · AI · KNOWLEDGE SHARING</a:t>
            </a:r>
            <a:br>
              <a:rPr lang="nl-NL" sz="1400" b="1" dirty="0">
                <a:solidFill>
                  <a:schemeClr val="bg1"/>
                </a:solidFill>
              </a:rPr>
            </a:br>
            <a:r>
              <a:rPr lang="nl-NL" sz="1400" b="1" dirty="0">
                <a:solidFill>
                  <a:schemeClr val="bg1"/>
                </a:solidFill>
              </a:rPr>
              <a:t>João </a:t>
            </a:r>
            <a:r>
              <a:rPr lang="nl-NL" sz="1400" b="1" dirty="0" err="1">
                <a:solidFill>
                  <a:schemeClr val="bg1"/>
                </a:solidFill>
              </a:rPr>
              <a:t>Esperancinha</a:t>
            </a:r>
            <a:br>
              <a:rPr lang="nl-NL" sz="1400" b="1" dirty="0">
                <a:solidFill>
                  <a:schemeClr val="bg1"/>
                </a:solidFill>
              </a:rPr>
            </a:br>
            <a:r>
              <a:rPr lang="nl-NL" sz="1400" b="1" dirty="0">
                <a:solidFill>
                  <a:schemeClr val="bg1"/>
                </a:solidFill>
              </a:rPr>
              <a:t>Building </a:t>
            </a:r>
            <a:r>
              <a:rPr lang="nl-NL" sz="1400" b="1" dirty="0" err="1">
                <a:solidFill>
                  <a:schemeClr val="bg1"/>
                </a:solidFill>
              </a:rPr>
              <a:t>reliable</a:t>
            </a:r>
            <a:r>
              <a:rPr lang="nl-NL" sz="1400" b="1" dirty="0">
                <a:solidFill>
                  <a:schemeClr val="bg1"/>
                </a:solidFill>
              </a:rPr>
              <a:t> software, </a:t>
            </a:r>
            <a:r>
              <a:rPr lang="nl-NL" sz="1400" b="1" dirty="0" err="1">
                <a:solidFill>
                  <a:schemeClr val="bg1"/>
                </a:solidFill>
              </a:rPr>
              <a:t>exploring</a:t>
            </a:r>
            <a:r>
              <a:rPr lang="nl-NL" sz="1400" b="1" dirty="0">
                <a:solidFill>
                  <a:schemeClr val="bg1"/>
                </a:solidFill>
              </a:rPr>
              <a:t> AI, </a:t>
            </a:r>
            <a:r>
              <a:rPr lang="nl-NL" sz="1400" b="1" dirty="0" err="1">
                <a:solidFill>
                  <a:schemeClr val="bg1"/>
                </a:solidFill>
              </a:rPr>
              <a:t>and</a:t>
            </a:r>
            <a:r>
              <a:rPr lang="nl-NL" sz="1400" b="1" dirty="0">
                <a:solidFill>
                  <a:schemeClr val="bg1"/>
                </a:solidFill>
              </a:rPr>
              <a:t> </a:t>
            </a:r>
            <a:r>
              <a:rPr lang="nl-NL" sz="1400" b="1" dirty="0" err="1">
                <a:solidFill>
                  <a:schemeClr val="bg1"/>
                </a:solidFill>
              </a:rPr>
              <a:t>sharing</a:t>
            </a:r>
            <a:r>
              <a:rPr lang="nl-NL" sz="1400" b="1" dirty="0">
                <a:solidFill>
                  <a:schemeClr val="bg1"/>
                </a:solidFill>
              </a:rPr>
              <a:t> </a:t>
            </a:r>
            <a:r>
              <a:rPr lang="nl-NL" sz="1400" b="1" dirty="0" err="1">
                <a:solidFill>
                  <a:schemeClr val="bg1"/>
                </a:solidFill>
              </a:rPr>
              <a:t>what</a:t>
            </a:r>
            <a:r>
              <a:rPr lang="nl-NL" sz="1400" b="1" dirty="0">
                <a:solidFill>
                  <a:schemeClr val="bg1"/>
                </a:solidFill>
              </a:rPr>
              <a:t> I </a:t>
            </a:r>
            <a:r>
              <a:rPr lang="nl-NL" sz="1400" b="1" dirty="0" err="1">
                <a:solidFill>
                  <a:schemeClr val="bg1"/>
                </a:solidFill>
              </a:rPr>
              <a:t>learn</a:t>
            </a:r>
            <a:r>
              <a:rPr lang="nl-NL" sz="1400" b="1" dirty="0">
                <a:solidFill>
                  <a:schemeClr val="bg1"/>
                </a:solidFill>
              </a:rPr>
              <a:t>.</a:t>
            </a:r>
            <a:br>
              <a:rPr lang="nl-NL" sz="1400" b="1" dirty="0">
                <a:solidFill>
                  <a:schemeClr val="bg1"/>
                </a:solidFill>
              </a:rPr>
            </a:br>
            <a:br>
              <a:rPr lang="nl-NL" sz="1400" b="1" dirty="0">
                <a:solidFill>
                  <a:schemeClr val="bg1"/>
                </a:solidFill>
              </a:rPr>
            </a:br>
            <a:r>
              <a:rPr lang="nl-NL" sz="1400" b="1" dirty="0">
                <a:solidFill>
                  <a:schemeClr val="bg1"/>
                </a:solidFill>
              </a:rPr>
              <a:t>Technical expertise</a:t>
            </a:r>
            <a:br>
              <a:rPr lang="nl-NL" sz="1400" b="1" dirty="0">
                <a:solidFill>
                  <a:schemeClr val="bg1"/>
                </a:solidFill>
              </a:rPr>
            </a:br>
            <a:r>
              <a:rPr lang="nl-NL" sz="1400" b="1" dirty="0" err="1">
                <a:solidFill>
                  <a:schemeClr val="bg1"/>
                </a:solidFill>
              </a:rPr>
              <a:t>Kotlin</a:t>
            </a:r>
            <a:r>
              <a:rPr lang="nl-NL" sz="1400" b="1" dirty="0">
                <a:solidFill>
                  <a:schemeClr val="bg1"/>
                </a:solidFill>
              </a:rPr>
              <a:t> &amp; Java</a:t>
            </a:r>
            <a:br>
              <a:rPr lang="nl-NL" sz="1400" b="1" dirty="0">
                <a:solidFill>
                  <a:schemeClr val="bg1"/>
                </a:solidFill>
              </a:rPr>
            </a:br>
            <a:r>
              <a:rPr lang="nl-NL" sz="1400" b="1" dirty="0">
                <a:solidFill>
                  <a:schemeClr val="bg1"/>
                </a:solidFill>
              </a:rPr>
              <a:t>Spring Boot</a:t>
            </a:r>
            <a:br>
              <a:rPr lang="nl-NL" sz="1400" b="1" dirty="0">
                <a:solidFill>
                  <a:schemeClr val="bg1"/>
                </a:solidFill>
              </a:rPr>
            </a:br>
            <a:r>
              <a:rPr lang="nl-NL" sz="1400" b="1" dirty="0">
                <a:solidFill>
                  <a:schemeClr val="bg1"/>
                </a:solidFill>
              </a:rPr>
              <a:t>Distributed systems</a:t>
            </a:r>
            <a:br>
              <a:rPr lang="nl-NL" sz="1400" b="1" dirty="0">
                <a:solidFill>
                  <a:schemeClr val="bg1"/>
                </a:solidFill>
              </a:rPr>
            </a:br>
            <a:r>
              <a:rPr lang="nl-NL" sz="1400" b="1" dirty="0" err="1">
                <a:solidFill>
                  <a:schemeClr val="bg1"/>
                </a:solidFill>
              </a:rPr>
              <a:t>APIs</a:t>
            </a:r>
            <a:r>
              <a:rPr lang="nl-NL" sz="1400" b="1" dirty="0">
                <a:solidFill>
                  <a:schemeClr val="bg1"/>
                </a:solidFill>
              </a:rPr>
              <a:t> &amp; Kong Gateway</a:t>
            </a:r>
            <a:br>
              <a:rPr lang="nl-NL" sz="1400" b="1" dirty="0">
                <a:solidFill>
                  <a:schemeClr val="bg1"/>
                </a:solidFill>
              </a:rPr>
            </a:br>
            <a:r>
              <a:rPr lang="nl-NL" sz="1400" b="1" dirty="0">
                <a:solidFill>
                  <a:schemeClr val="bg1"/>
                </a:solidFill>
              </a:rPr>
              <a:t>Cloud &amp; AWS</a:t>
            </a:r>
            <a:br>
              <a:rPr lang="nl-NL" sz="1400" b="1" dirty="0">
                <a:solidFill>
                  <a:schemeClr val="bg1"/>
                </a:solidFill>
              </a:rPr>
            </a:br>
            <a:r>
              <a:rPr lang="nl-NL" sz="1400" b="1" dirty="0" err="1">
                <a:solidFill>
                  <a:schemeClr val="bg1"/>
                </a:solidFill>
              </a:rPr>
              <a:t>Generative</a:t>
            </a:r>
            <a:r>
              <a:rPr lang="nl-NL" sz="1400" b="1" dirty="0">
                <a:solidFill>
                  <a:schemeClr val="bg1"/>
                </a:solidFill>
              </a:rPr>
              <a:t> AI &amp; RAG</a:t>
            </a:r>
            <a:br>
              <a:rPr lang="nl-NL" sz="1400" b="1" dirty="0">
                <a:solidFill>
                  <a:schemeClr val="bg1"/>
                </a:solidFill>
              </a:rPr>
            </a:br>
            <a:br>
              <a:rPr lang="nl-NL" sz="1400" b="1" dirty="0">
                <a:solidFill>
                  <a:schemeClr val="bg1"/>
                </a:solidFill>
              </a:rPr>
            </a:br>
            <a:r>
              <a:rPr lang="nl-NL" sz="1400" b="1" dirty="0">
                <a:solidFill>
                  <a:schemeClr val="bg1"/>
                </a:solidFill>
              </a:rPr>
              <a:t>Knowledge </a:t>
            </a:r>
            <a:r>
              <a:rPr lang="nl-NL" sz="1400" b="1" dirty="0" err="1">
                <a:solidFill>
                  <a:schemeClr val="bg1"/>
                </a:solidFill>
              </a:rPr>
              <a:t>sharing</a:t>
            </a:r>
            <a:r>
              <a:rPr lang="nl-NL" sz="1400" b="1" dirty="0">
                <a:solidFill>
                  <a:schemeClr val="bg1"/>
                </a:solidFill>
              </a:rPr>
              <a:t> — JESPROTECH</a:t>
            </a:r>
            <a:br>
              <a:rPr lang="nl-NL" sz="1400" b="1" dirty="0">
                <a:solidFill>
                  <a:schemeClr val="bg1"/>
                </a:solidFill>
              </a:rPr>
            </a:br>
            <a:br>
              <a:rPr lang="nl-NL" sz="1400" b="1" dirty="0">
                <a:solidFill>
                  <a:schemeClr val="bg1"/>
                </a:solidFill>
              </a:rPr>
            </a:br>
            <a:r>
              <a:rPr lang="nl-NL" sz="1400" b="1" dirty="0">
                <a:solidFill>
                  <a:schemeClr val="bg1"/>
                </a:solidFill>
              </a:rPr>
              <a:t>Practical </a:t>
            </a:r>
            <a:r>
              <a:rPr lang="nl-NL" sz="1400" b="1" dirty="0" err="1">
                <a:solidFill>
                  <a:schemeClr val="bg1"/>
                </a:solidFill>
              </a:rPr>
              <a:t>programming</a:t>
            </a:r>
            <a:r>
              <a:rPr lang="nl-NL" sz="1400" b="1" dirty="0">
                <a:solidFill>
                  <a:schemeClr val="bg1"/>
                </a:solidFill>
              </a:rPr>
              <a:t> </a:t>
            </a:r>
            <a:r>
              <a:rPr lang="nl-NL" sz="1400" b="1" dirty="0" err="1">
                <a:solidFill>
                  <a:schemeClr val="bg1"/>
                </a:solidFill>
              </a:rPr>
              <a:t>tutorials</a:t>
            </a:r>
            <a:r>
              <a:rPr lang="nl-NL" sz="1400" b="1" dirty="0">
                <a:solidFill>
                  <a:schemeClr val="bg1"/>
                </a:solidFill>
              </a:rPr>
              <a:t>, </a:t>
            </a:r>
            <a:r>
              <a:rPr lang="nl-NL" sz="1400" b="1" dirty="0" err="1">
                <a:solidFill>
                  <a:schemeClr val="bg1"/>
                </a:solidFill>
              </a:rPr>
              <a:t>technical</a:t>
            </a:r>
            <a:r>
              <a:rPr lang="nl-NL" sz="1400" b="1" dirty="0">
                <a:solidFill>
                  <a:schemeClr val="bg1"/>
                </a:solidFill>
              </a:rPr>
              <a:t> </a:t>
            </a:r>
            <a:r>
              <a:rPr lang="nl-NL" sz="1400" b="1" dirty="0" err="1">
                <a:solidFill>
                  <a:schemeClr val="bg1"/>
                </a:solidFill>
              </a:rPr>
              <a:t>quizzes</a:t>
            </a:r>
            <a:r>
              <a:rPr lang="nl-NL" sz="1400" b="1" dirty="0">
                <a:solidFill>
                  <a:schemeClr val="bg1"/>
                </a:solidFill>
              </a:rPr>
              <a:t>, software </a:t>
            </a:r>
            <a:r>
              <a:rPr lang="nl-NL" sz="1400" b="1" dirty="0" err="1">
                <a:solidFill>
                  <a:schemeClr val="bg1"/>
                </a:solidFill>
              </a:rPr>
              <a:t>architecture</a:t>
            </a:r>
            <a:r>
              <a:rPr lang="nl-NL" sz="1400" b="1" dirty="0">
                <a:solidFill>
                  <a:schemeClr val="bg1"/>
                </a:solidFill>
              </a:rPr>
              <a:t>, </a:t>
            </a:r>
            <a:r>
              <a:rPr lang="nl-NL" sz="1400" b="1" dirty="0" err="1">
                <a:solidFill>
                  <a:schemeClr val="bg1"/>
                </a:solidFill>
              </a:rPr>
              <a:t>Kotlin</a:t>
            </a:r>
            <a:r>
              <a:rPr lang="nl-NL" sz="1400" b="1" dirty="0">
                <a:solidFill>
                  <a:schemeClr val="bg1"/>
                </a:solidFill>
              </a:rPr>
              <a:t> </a:t>
            </a:r>
            <a:r>
              <a:rPr lang="nl-NL" sz="1400" b="1" dirty="0" err="1">
                <a:solidFill>
                  <a:schemeClr val="bg1"/>
                </a:solidFill>
              </a:rPr>
              <a:t>and</a:t>
            </a:r>
            <a:r>
              <a:rPr lang="nl-NL" sz="1400" b="1" dirty="0">
                <a:solidFill>
                  <a:schemeClr val="bg1"/>
                </a:solidFill>
              </a:rPr>
              <a:t> Java, </a:t>
            </a:r>
            <a:r>
              <a:rPr lang="nl-NL" sz="1400" b="1" dirty="0" err="1">
                <a:solidFill>
                  <a:schemeClr val="bg1"/>
                </a:solidFill>
              </a:rPr>
              <a:t>and</a:t>
            </a:r>
            <a:r>
              <a:rPr lang="nl-NL" sz="1400" b="1" dirty="0">
                <a:solidFill>
                  <a:schemeClr val="bg1"/>
                </a:solidFill>
              </a:rPr>
              <a:t> </a:t>
            </a:r>
            <a:r>
              <a:rPr lang="nl-NL" sz="1400" b="1" dirty="0" err="1">
                <a:solidFill>
                  <a:schemeClr val="bg1"/>
                </a:solidFill>
              </a:rPr>
              <a:t>emerging</a:t>
            </a:r>
            <a:r>
              <a:rPr lang="nl-NL" sz="1400" b="1" dirty="0">
                <a:solidFill>
                  <a:schemeClr val="bg1"/>
                </a:solidFill>
              </a:rPr>
              <a:t> AI engineering </a:t>
            </a:r>
            <a:r>
              <a:rPr lang="nl-NL" sz="1400" b="1" dirty="0" err="1">
                <a:solidFill>
                  <a:schemeClr val="bg1"/>
                </a:solidFill>
              </a:rPr>
              <a:t>practices</a:t>
            </a:r>
            <a:r>
              <a:rPr lang="nl-NL" sz="1400" b="1" dirty="0">
                <a:solidFill>
                  <a:schemeClr val="bg1"/>
                </a:solidFill>
              </a:rPr>
              <a:t>.</a:t>
            </a:r>
            <a:br>
              <a:rPr lang="nl-NL" sz="1400" b="1" dirty="0">
                <a:solidFill>
                  <a:schemeClr val="bg1"/>
                </a:solidFill>
              </a:rPr>
            </a:br>
            <a:br>
              <a:rPr lang="nl-NL" sz="1400" b="1" dirty="0">
                <a:solidFill>
                  <a:schemeClr val="bg1"/>
                </a:solidFill>
              </a:rPr>
            </a:br>
            <a:r>
              <a:rPr lang="nl-NL" sz="1400" b="1" dirty="0">
                <a:solidFill>
                  <a:schemeClr val="bg1"/>
                </a:solidFill>
              </a:rPr>
              <a:t>20 </a:t>
            </a:r>
            <a:r>
              <a:rPr lang="nl-NL" sz="1400" b="1" dirty="0" err="1">
                <a:solidFill>
                  <a:schemeClr val="bg1"/>
                </a:solidFill>
              </a:rPr>
              <a:t>years</a:t>
            </a:r>
            <a:r>
              <a:rPr lang="nl-NL" sz="1400" b="1" dirty="0">
                <a:solidFill>
                  <a:schemeClr val="bg1"/>
                </a:solidFill>
              </a:rPr>
              <a:t> of IT experience · Engineering, </a:t>
            </a:r>
            <a:r>
              <a:rPr lang="nl-NL" sz="1400" b="1" dirty="0" err="1">
                <a:solidFill>
                  <a:schemeClr val="bg1"/>
                </a:solidFill>
              </a:rPr>
              <a:t>integration</a:t>
            </a:r>
            <a:r>
              <a:rPr lang="nl-NL" sz="1400" b="1" dirty="0">
                <a:solidFill>
                  <a:schemeClr val="bg1"/>
                </a:solidFill>
              </a:rPr>
              <a:t>, </a:t>
            </a:r>
            <a:r>
              <a:rPr lang="nl-NL" sz="1400" b="1" dirty="0" err="1">
                <a:solidFill>
                  <a:schemeClr val="bg1"/>
                </a:solidFill>
              </a:rPr>
              <a:t>architecture</a:t>
            </a:r>
            <a:r>
              <a:rPr lang="nl-NL" sz="1400" b="1" dirty="0">
                <a:solidFill>
                  <a:schemeClr val="bg1"/>
                </a:solidFill>
              </a:rPr>
              <a:t>, </a:t>
            </a:r>
            <a:r>
              <a:rPr lang="nl-NL" sz="1400" b="1" dirty="0" err="1">
                <a:solidFill>
                  <a:schemeClr val="bg1"/>
                </a:solidFill>
              </a:rPr>
              <a:t>and</a:t>
            </a:r>
            <a:r>
              <a:rPr lang="nl-NL" sz="1400" b="1" dirty="0">
                <a:solidFill>
                  <a:schemeClr val="bg1"/>
                </a:solidFill>
              </a:rPr>
              <a:t> </a:t>
            </a:r>
            <a:r>
              <a:rPr lang="nl-NL" sz="1400" b="1" dirty="0" err="1">
                <a:solidFill>
                  <a:schemeClr val="bg1"/>
                </a:solidFill>
              </a:rPr>
              <a:t>mentoring</a:t>
            </a:r>
            <a:endParaRPr lang="nl-NL" sz="1400" b="1" dirty="0">
              <a:solidFill>
                <a:schemeClr val="bg1"/>
              </a:solidFill>
            </a:endParaRPr>
          </a:p>
        </p:txBody>
      </p:sp>
      <p:sp>
        <p:nvSpPr>
          <p:cNvPr id="9" name="TextBox 7">
            <a:extLst>
              <a:ext uri="{FF2B5EF4-FFF2-40B4-BE49-F238E27FC236}">
                <a16:creationId xmlns:a16="http://schemas.microsoft.com/office/drawing/2014/main" id="{751C4171-E686-9BBB-8A3B-DB37304F30E2}"/>
              </a:ext>
            </a:extLst>
          </p:cNvPr>
          <p:cNvSpPr txBox="1"/>
          <p:nvPr/>
        </p:nvSpPr>
        <p:spPr>
          <a:xfrm>
            <a:off x="6962216" y="3485042"/>
            <a:ext cx="4284121" cy="701731"/>
          </a:xfrm>
          <a:prstGeom prst="rect">
            <a:avLst/>
          </a:prstGeom>
          <a:noFill/>
        </p:spPr>
        <p:txBody>
          <a:bodyPr wrap="square" lIns="45720" tIns="27432" rIns="45720" bIns="27432">
            <a:spAutoFit/>
          </a:bodyPr>
          <a:lstStyle/>
          <a:p>
            <a:pPr algn="r"/>
            <a:r>
              <a:rPr lang="nl-NL" sz="1400" b="1" dirty="0">
                <a:solidFill>
                  <a:schemeClr val="bg1"/>
                </a:solidFill>
                <a:hlinkClick r:id="rId3"/>
              </a:rPr>
              <a:t>https://www.youtube.com/@jesprotech</a:t>
            </a:r>
            <a:endParaRPr lang="nl-NL" sz="1400" b="1" dirty="0">
              <a:solidFill>
                <a:schemeClr val="bg1"/>
              </a:solidFill>
            </a:endParaRPr>
          </a:p>
          <a:p>
            <a:pPr algn="r"/>
            <a:r>
              <a:rPr lang="nl-NL" sz="1400" b="1" dirty="0">
                <a:solidFill>
                  <a:schemeClr val="bg1"/>
                </a:solidFill>
                <a:hlinkClick r:id="rId4"/>
              </a:rPr>
              <a:t>https://www.youtube.com/@jesprotech_shorts</a:t>
            </a:r>
            <a:endParaRPr lang="nl-NL" sz="1400" b="1" dirty="0">
              <a:solidFill>
                <a:schemeClr val="bg1"/>
              </a:solidFill>
            </a:endParaRPr>
          </a:p>
          <a:p>
            <a:pPr algn="r"/>
            <a:r>
              <a:rPr lang="nl-NL" sz="1400" b="1" dirty="0" err="1">
                <a:solidFill>
                  <a:schemeClr val="bg1"/>
                </a:solidFill>
              </a:rPr>
              <a:t>https</a:t>
            </a:r>
            <a:r>
              <a:rPr lang="nl-NL" sz="1400" b="1" dirty="0">
                <a:solidFill>
                  <a:schemeClr val="bg1"/>
                </a:solidFill>
              </a:rPr>
              <a:t>://</a:t>
            </a:r>
            <a:r>
              <a:rPr lang="nl-NL" sz="1400" b="1" dirty="0" err="1">
                <a:solidFill>
                  <a:schemeClr val="bg1"/>
                </a:solidFill>
              </a:rPr>
              <a:t>www.youtube.com</a:t>
            </a:r>
            <a:r>
              <a:rPr lang="nl-NL" sz="1400" b="1" dirty="0">
                <a:solidFill>
                  <a:schemeClr val="bg1"/>
                </a:solidFill>
              </a:rPr>
              <a:t>/@</a:t>
            </a:r>
            <a:r>
              <a:rPr lang="nl-NL" sz="1400" b="1" dirty="0" err="1">
                <a:solidFill>
                  <a:schemeClr val="bg1"/>
                </a:solidFill>
              </a:rPr>
              <a:t>jesprotech_timeout</a:t>
            </a:r>
            <a:endParaRPr lang="nl-NL" sz="1400" b="1" dirty="0">
              <a:solidFill>
                <a:schemeClr val="bg1"/>
              </a:solidFill>
            </a:endParaRPr>
          </a:p>
        </p:txBody>
      </p:sp>
    </p:spTree>
    <p:extLst>
      <p:ext uri="{BB962C8B-B14F-4D97-AF65-F5344CB8AC3E}">
        <p14:creationId xmlns:p14="http://schemas.microsoft.com/office/powerpoint/2010/main" val="1487939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a:extLst>
            <a:ext uri="{FF2B5EF4-FFF2-40B4-BE49-F238E27FC236}">
              <a16:creationId xmlns:a16="http://schemas.microsoft.com/office/drawing/2014/main" id="{789F7AFE-B51C-4C59-CD94-77C98F73AB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03B3E31-8B1E-BE2B-3065-9D882C2560F4}"/>
              </a:ext>
            </a:extLst>
          </p:cNvPr>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01 • FOUNDATIONS</a:t>
            </a:r>
          </a:p>
        </p:txBody>
      </p:sp>
      <p:sp>
        <p:nvSpPr>
          <p:cNvPr id="3" name="TextBox 2">
            <a:extLst>
              <a:ext uri="{FF2B5EF4-FFF2-40B4-BE49-F238E27FC236}">
                <a16:creationId xmlns:a16="http://schemas.microsoft.com/office/drawing/2014/main" id="{5A7517D1-7959-17F4-4335-B864CFEF477A}"/>
              </a:ext>
            </a:extLst>
          </p:cNvPr>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RAG: give an LLM relevant knowledge</a:t>
            </a:r>
          </a:p>
        </p:txBody>
      </p:sp>
      <p:sp>
        <p:nvSpPr>
          <p:cNvPr id="4" name="TextBox 3">
            <a:extLst>
              <a:ext uri="{FF2B5EF4-FFF2-40B4-BE49-F238E27FC236}">
                <a16:creationId xmlns:a16="http://schemas.microsoft.com/office/drawing/2014/main" id="{82938EB0-69AD-7059-1DF2-D1E1858B86B4}"/>
              </a:ext>
            </a:extLst>
          </p:cNvPr>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Connect language generation to a maintained, task-specific knowledge base.</a:t>
            </a:r>
          </a:p>
        </p:txBody>
      </p:sp>
      <p:sp>
        <p:nvSpPr>
          <p:cNvPr id="5" name="Rectangle 4">
            <a:extLst>
              <a:ext uri="{FF2B5EF4-FFF2-40B4-BE49-F238E27FC236}">
                <a16:creationId xmlns:a16="http://schemas.microsoft.com/office/drawing/2014/main" id="{7A4D1C20-7194-835C-CD09-127FE23821DF}"/>
              </a:ext>
            </a:extLst>
          </p:cNvPr>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250E6330-3CF0-2F12-EA16-FB4B6A7F1442}"/>
              </a:ext>
            </a:extLst>
          </p:cNvPr>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01 / 10</a:t>
            </a:r>
          </a:p>
        </p:txBody>
      </p:sp>
      <p:sp>
        <p:nvSpPr>
          <p:cNvPr id="7" name="Rounded Rectangle 6">
            <a:extLst>
              <a:ext uri="{FF2B5EF4-FFF2-40B4-BE49-F238E27FC236}">
                <a16:creationId xmlns:a16="http://schemas.microsoft.com/office/drawing/2014/main" id="{90038210-0DF4-A838-55C4-126475828674}"/>
              </a:ext>
            </a:extLst>
          </p:cNvPr>
          <p:cNvSpPr/>
          <p:nvPr/>
        </p:nvSpPr>
        <p:spPr>
          <a:xfrm>
            <a:off x="594360" y="1965960"/>
            <a:ext cx="6446520" cy="3977639"/>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45EA0C7F-2F27-E0F9-7F75-EB7B17A8E15A}"/>
              </a:ext>
            </a:extLst>
          </p:cNvPr>
          <p:cNvSpPr txBox="1"/>
          <p:nvPr/>
        </p:nvSpPr>
        <p:spPr>
          <a:xfrm>
            <a:off x="868680" y="2331720"/>
            <a:ext cx="5852160" cy="3200400"/>
          </a:xfrm>
          <a:prstGeom prst="rect">
            <a:avLst/>
          </a:prstGeom>
          <a:noFill/>
        </p:spPr>
        <p:txBody>
          <a:bodyPr wrap="square" lIns="45720" tIns="27432" rIns="45720" bIns="27432">
            <a:spAutoFit/>
          </a:bodyPr>
          <a:lstStyle/>
          <a:p>
            <a:pPr>
              <a:spcAft>
                <a:spcPts val="1800"/>
              </a:spcAft>
              <a:defRPr sz="1700">
                <a:solidFill>
                  <a:srgbClr val="F4F7FF"/>
                </a:solidFill>
                <a:latin typeface="Aptos"/>
              </a:defRPr>
            </a:pPr>
            <a:r>
              <a:rPr sz="1600">
                <a:solidFill>
                  <a:srgbClr val="42D3E6"/>
                </a:solidFill>
              </a:rPr>
              <a:t>●  </a:t>
            </a:r>
            <a:r>
              <a:rPr sz="1700" b="1">
                <a:solidFill>
                  <a:srgbClr val="F4F7FF"/>
                </a:solidFill>
              </a:rPr>
              <a:t>Retrieve relevant passages. </a:t>
            </a:r>
            <a:r>
              <a:rPr sz="1700">
                <a:solidFill>
                  <a:srgbClr val="F4F7FF"/>
                </a:solidFill>
              </a:rPr>
              <a:t>Search a knowledge source and add the best excerpts to the user's question.</a:t>
            </a:r>
          </a:p>
          <a:p>
            <a:pPr>
              <a:spcAft>
                <a:spcPts val="1800"/>
              </a:spcAft>
              <a:defRPr sz="1700">
                <a:solidFill>
                  <a:srgbClr val="F4F7FF"/>
                </a:solidFill>
                <a:latin typeface="Aptos"/>
              </a:defRPr>
            </a:pPr>
            <a:r>
              <a:rPr sz="1600">
                <a:solidFill>
                  <a:srgbClr val="42D3E6"/>
                </a:solidFill>
              </a:rPr>
              <a:t>●  </a:t>
            </a:r>
            <a:r>
              <a:rPr sz="1700" b="1">
                <a:solidFill>
                  <a:srgbClr val="F4F7FF"/>
                </a:solidFill>
              </a:rPr>
              <a:t>Bring your own knowledge. </a:t>
            </a:r>
            <a:r>
              <a:rPr sz="1700">
                <a:solidFill>
                  <a:srgbClr val="F4F7FF"/>
                </a:solidFill>
              </a:rPr>
              <a:t>The model can use project-specific material that was not in its original training data.</a:t>
            </a:r>
          </a:p>
          <a:p>
            <a:pPr>
              <a:spcAft>
                <a:spcPts val="1800"/>
              </a:spcAft>
              <a:defRPr sz="1700">
                <a:solidFill>
                  <a:srgbClr val="F4F7FF"/>
                </a:solidFill>
                <a:latin typeface="Aptos"/>
              </a:defRPr>
            </a:pPr>
            <a:r>
              <a:rPr sz="1600">
                <a:solidFill>
                  <a:srgbClr val="42D3E6"/>
                </a:solidFill>
              </a:rPr>
              <a:t>●  </a:t>
            </a:r>
            <a:r>
              <a:rPr sz="1700" b="1">
                <a:solidFill>
                  <a:srgbClr val="F4F7FF"/>
                </a:solidFill>
              </a:rPr>
              <a:t>Ground the response. </a:t>
            </a:r>
            <a:r>
              <a:rPr sz="1700">
                <a:solidFill>
                  <a:srgbClr val="F4F7FF"/>
                </a:solidFill>
              </a:rPr>
              <a:t>In this project, Markdown and text files under `knowledge/` supply the context.</a:t>
            </a:r>
          </a:p>
        </p:txBody>
      </p:sp>
      <p:sp>
        <p:nvSpPr>
          <p:cNvPr id="9" name="Rounded Rectangle 8">
            <a:extLst>
              <a:ext uri="{FF2B5EF4-FFF2-40B4-BE49-F238E27FC236}">
                <a16:creationId xmlns:a16="http://schemas.microsoft.com/office/drawing/2014/main" id="{0206266B-B8BC-4DBE-2496-A32A8F738AC8}"/>
              </a:ext>
            </a:extLst>
          </p:cNvPr>
          <p:cNvSpPr/>
          <p:nvPr/>
        </p:nvSpPr>
        <p:spPr>
          <a:xfrm>
            <a:off x="7315200" y="1965960"/>
            <a:ext cx="4251960" cy="3977639"/>
          </a:xfrm>
          <a:prstGeom prst="roundRect">
            <a:avLst/>
          </a:prstGeom>
          <a:solidFill>
            <a:srgbClr val="111C30"/>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a:extLst>
              <a:ext uri="{FF2B5EF4-FFF2-40B4-BE49-F238E27FC236}">
                <a16:creationId xmlns:a16="http://schemas.microsoft.com/office/drawing/2014/main" id="{376297A1-6108-24F2-3C06-CAFE21F6FC92}"/>
              </a:ext>
            </a:extLst>
          </p:cNvPr>
          <p:cNvSpPr/>
          <p:nvPr/>
        </p:nvSpPr>
        <p:spPr>
          <a:xfrm>
            <a:off x="7635240" y="2304288"/>
            <a:ext cx="15087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35CAC1C5-D95B-3532-095A-2CF86BE78C8C}"/>
              </a:ext>
            </a:extLst>
          </p:cNvPr>
          <p:cNvSpPr txBox="1"/>
          <p:nvPr/>
        </p:nvSpPr>
        <p:spPr>
          <a:xfrm>
            <a:off x="7671815" y="2322576"/>
            <a:ext cx="143560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rPr dirty="0"/>
              <a:t>THE CORE IDEA</a:t>
            </a:r>
          </a:p>
        </p:txBody>
      </p:sp>
      <p:sp>
        <p:nvSpPr>
          <p:cNvPr id="12" name="Rounded Rectangle 11">
            <a:extLst>
              <a:ext uri="{FF2B5EF4-FFF2-40B4-BE49-F238E27FC236}">
                <a16:creationId xmlns:a16="http://schemas.microsoft.com/office/drawing/2014/main" id="{B434CB42-4359-7622-457E-9DDD5EC6289C}"/>
              </a:ext>
            </a:extLst>
          </p:cNvPr>
          <p:cNvSpPr/>
          <p:nvPr/>
        </p:nvSpPr>
        <p:spPr>
          <a:xfrm>
            <a:off x="7699248" y="2971800"/>
            <a:ext cx="132588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400" b="1">
                <a:solidFill>
                  <a:srgbClr val="F4F7FF"/>
                </a:solidFill>
                <a:latin typeface="Aptos"/>
              </a:defRPr>
            </a:pPr>
            <a:r>
              <a:t>Project</a:t>
            </a:r>
            <a:br/>
            <a:r>
              <a:t>knowledge</a:t>
            </a:r>
          </a:p>
        </p:txBody>
      </p:sp>
      <p:sp>
        <p:nvSpPr>
          <p:cNvPr id="13" name="Rounded Rectangle 12">
            <a:extLst>
              <a:ext uri="{FF2B5EF4-FFF2-40B4-BE49-F238E27FC236}">
                <a16:creationId xmlns:a16="http://schemas.microsoft.com/office/drawing/2014/main" id="{9C3BACC5-3C81-65AE-93EB-8BDFFEB959A4}"/>
              </a:ext>
            </a:extLst>
          </p:cNvPr>
          <p:cNvSpPr/>
          <p:nvPr/>
        </p:nvSpPr>
        <p:spPr>
          <a:xfrm>
            <a:off x="9646920" y="2971800"/>
            <a:ext cx="132588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400" b="1">
                <a:solidFill>
                  <a:srgbClr val="F4F7FF"/>
                </a:solidFill>
                <a:latin typeface="Aptos"/>
              </a:defRPr>
            </a:pPr>
            <a:r>
              <a:t>Relevant</a:t>
            </a:r>
            <a:br/>
            <a:r>
              <a:t>context</a:t>
            </a:r>
          </a:p>
        </p:txBody>
      </p:sp>
      <p:cxnSp>
        <p:nvCxnSpPr>
          <p:cNvPr id="14" name="Connector 13">
            <a:extLst>
              <a:ext uri="{FF2B5EF4-FFF2-40B4-BE49-F238E27FC236}">
                <a16:creationId xmlns:a16="http://schemas.microsoft.com/office/drawing/2014/main" id="{1BFB1BCE-1BE6-F195-EEC7-45295F7DD37A}"/>
              </a:ext>
            </a:extLst>
          </p:cNvPr>
          <p:cNvCxnSpPr/>
          <p:nvPr/>
        </p:nvCxnSpPr>
        <p:spPr>
          <a:xfrm>
            <a:off x="9052560" y="3392424"/>
            <a:ext cx="521208"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15" name="Rounded Rectangle 14">
            <a:extLst>
              <a:ext uri="{FF2B5EF4-FFF2-40B4-BE49-F238E27FC236}">
                <a16:creationId xmlns:a16="http://schemas.microsoft.com/office/drawing/2014/main" id="{E8B164DD-9C1E-1B29-BEA6-97DFAD557FE3}"/>
              </a:ext>
            </a:extLst>
          </p:cNvPr>
          <p:cNvSpPr/>
          <p:nvPr/>
        </p:nvSpPr>
        <p:spPr>
          <a:xfrm>
            <a:off x="8668512" y="4315968"/>
            <a:ext cx="1325880" cy="68580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800" b="1">
                <a:solidFill>
                  <a:srgbClr val="F4F7FF"/>
                </a:solidFill>
                <a:latin typeface="Aptos"/>
              </a:defRPr>
            </a:pPr>
            <a:r>
              <a:t>LLM</a:t>
            </a:r>
          </a:p>
        </p:txBody>
      </p:sp>
      <p:cxnSp>
        <p:nvCxnSpPr>
          <p:cNvPr id="16" name="Connector 15">
            <a:extLst>
              <a:ext uri="{FF2B5EF4-FFF2-40B4-BE49-F238E27FC236}">
                <a16:creationId xmlns:a16="http://schemas.microsoft.com/office/drawing/2014/main" id="{05089BB0-E08B-3852-5EF6-F90A2F5FC92B}"/>
              </a:ext>
            </a:extLst>
          </p:cNvPr>
          <p:cNvCxnSpPr/>
          <p:nvPr/>
        </p:nvCxnSpPr>
        <p:spPr>
          <a:xfrm flipH="1">
            <a:off x="9646920" y="3877056"/>
            <a:ext cx="640080" cy="374904"/>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BE01C45-FAB0-49BF-0E52-56E271885768}"/>
              </a:ext>
            </a:extLst>
          </p:cNvPr>
          <p:cNvSpPr txBox="1"/>
          <p:nvPr/>
        </p:nvSpPr>
        <p:spPr>
          <a:xfrm>
            <a:off x="7635240" y="5257800"/>
            <a:ext cx="3611880" cy="457200"/>
          </a:xfrm>
          <a:prstGeom prst="rect">
            <a:avLst/>
          </a:prstGeom>
          <a:noFill/>
        </p:spPr>
        <p:txBody>
          <a:bodyPr wrap="square" lIns="36576" tIns="36576" rIns="36576" bIns="36576" anchor="t">
            <a:spAutoFit/>
          </a:bodyPr>
          <a:lstStyle/>
          <a:p>
            <a:pPr algn="ctr">
              <a:spcAft>
                <a:spcPts val="400"/>
              </a:spcAft>
              <a:defRPr sz="1300" b="0" i="0">
                <a:solidFill>
                  <a:srgbClr val="AEBBD3"/>
                </a:solidFill>
                <a:latin typeface="Aptos"/>
              </a:defRPr>
            </a:pPr>
            <a:r>
              <a:t>More useful, evidence-grounded answers — not a guarantee of correctness.</a:t>
            </a:r>
          </a:p>
        </p:txBody>
      </p:sp>
    </p:spTree>
    <p:extLst>
      <p:ext uri="{BB962C8B-B14F-4D97-AF65-F5344CB8AC3E}">
        <p14:creationId xmlns:p14="http://schemas.microsoft.com/office/powerpoint/2010/main" val="17762968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02 • HOW IT WORKS</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The RAG cycle: retrieve, ground, generate</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A repeatable pipeline turns documents into context for each question.</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02 / 10</a:t>
            </a:r>
          </a:p>
        </p:txBody>
      </p:sp>
      <p:sp>
        <p:nvSpPr>
          <p:cNvPr id="7" name="Rounded Rectangle 6"/>
          <p:cNvSpPr/>
          <p:nvPr/>
        </p:nvSpPr>
        <p:spPr>
          <a:xfrm>
            <a:off x="621792"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86384" y="2542032"/>
            <a:ext cx="475488"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560320"/>
            <a:ext cx="402336"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01</a:t>
            </a:r>
          </a:p>
        </p:txBody>
      </p:sp>
      <p:sp>
        <p:nvSpPr>
          <p:cNvPr id="10" name="TextBox 9"/>
          <p:cNvSpPr txBox="1"/>
          <p:nvPr/>
        </p:nvSpPr>
        <p:spPr>
          <a:xfrm>
            <a:off x="786384" y="2990088"/>
            <a:ext cx="1901952" cy="320040"/>
          </a:xfrm>
          <a:prstGeom prst="rect">
            <a:avLst/>
          </a:prstGeom>
          <a:noFill/>
        </p:spPr>
        <p:txBody>
          <a:bodyPr wrap="square" lIns="36576" tIns="36576" rIns="36576" bIns="36576" anchor="t">
            <a:spAutoFit/>
          </a:bodyPr>
          <a:lstStyle/>
          <a:p>
            <a:pPr algn="l">
              <a:spcAft>
                <a:spcPts val="400"/>
              </a:spcAft>
              <a:defRPr sz="1600" b="1" i="0">
                <a:solidFill>
                  <a:srgbClr val="42D3E6"/>
                </a:solidFill>
                <a:latin typeface="Aptos"/>
              </a:defRPr>
            </a:pPr>
            <a:r>
              <a:t>PREPARE</a:t>
            </a:r>
          </a:p>
        </p:txBody>
      </p:sp>
      <p:sp>
        <p:nvSpPr>
          <p:cNvPr id="11" name="TextBox 10"/>
          <p:cNvSpPr txBox="1"/>
          <p:nvPr/>
        </p:nvSpPr>
        <p:spPr>
          <a:xfrm>
            <a:off x="786384" y="3456432"/>
            <a:ext cx="1901952" cy="10058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Split documents into overlapping chunks; calculate an embedding vector for each chunk.</a:t>
            </a:r>
          </a:p>
        </p:txBody>
      </p:sp>
      <p:sp>
        <p:nvSpPr>
          <p:cNvPr id="12" name="Rounded Rectangle 11"/>
          <p:cNvSpPr/>
          <p:nvPr/>
        </p:nvSpPr>
        <p:spPr>
          <a:xfrm>
            <a:off x="3520440"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685032" y="2542032"/>
            <a:ext cx="475488"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21608" y="2560320"/>
            <a:ext cx="402336"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02</a:t>
            </a:r>
          </a:p>
        </p:txBody>
      </p:sp>
      <p:sp>
        <p:nvSpPr>
          <p:cNvPr id="15" name="TextBox 14"/>
          <p:cNvSpPr txBox="1"/>
          <p:nvPr/>
        </p:nvSpPr>
        <p:spPr>
          <a:xfrm>
            <a:off x="3685032" y="2990088"/>
            <a:ext cx="1901952" cy="320040"/>
          </a:xfrm>
          <a:prstGeom prst="rect">
            <a:avLst/>
          </a:prstGeom>
          <a:noFill/>
        </p:spPr>
        <p:txBody>
          <a:bodyPr wrap="square" lIns="36576" tIns="36576" rIns="36576" bIns="36576" anchor="t">
            <a:spAutoFit/>
          </a:bodyPr>
          <a:lstStyle/>
          <a:p>
            <a:pPr algn="l">
              <a:spcAft>
                <a:spcPts val="400"/>
              </a:spcAft>
              <a:defRPr sz="1600" b="1" i="0">
                <a:solidFill>
                  <a:srgbClr val="48E0B8"/>
                </a:solidFill>
                <a:latin typeface="Aptos"/>
              </a:defRPr>
            </a:pPr>
            <a:r>
              <a:t>RETRIEVE</a:t>
            </a:r>
          </a:p>
        </p:txBody>
      </p:sp>
      <p:sp>
        <p:nvSpPr>
          <p:cNvPr id="16" name="TextBox 15"/>
          <p:cNvSpPr txBox="1"/>
          <p:nvPr/>
        </p:nvSpPr>
        <p:spPr>
          <a:xfrm>
            <a:off x="3685032" y="3456432"/>
            <a:ext cx="1901952" cy="10058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Embed the question and rank chunks by vector similarity.</a:t>
            </a:r>
          </a:p>
        </p:txBody>
      </p:sp>
      <p:sp>
        <p:nvSpPr>
          <p:cNvPr id="17" name="Rounded Rectangle 16"/>
          <p:cNvSpPr/>
          <p:nvPr/>
        </p:nvSpPr>
        <p:spPr>
          <a:xfrm>
            <a:off x="6419088"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83679" y="2542032"/>
            <a:ext cx="475488"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20255" y="2560320"/>
            <a:ext cx="402336"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03</a:t>
            </a:r>
          </a:p>
        </p:txBody>
      </p:sp>
      <p:sp>
        <p:nvSpPr>
          <p:cNvPr id="20" name="TextBox 19"/>
          <p:cNvSpPr txBox="1"/>
          <p:nvPr/>
        </p:nvSpPr>
        <p:spPr>
          <a:xfrm>
            <a:off x="6583679" y="2990088"/>
            <a:ext cx="1901952" cy="320040"/>
          </a:xfrm>
          <a:prstGeom prst="rect">
            <a:avLst/>
          </a:prstGeom>
          <a:noFill/>
        </p:spPr>
        <p:txBody>
          <a:bodyPr wrap="square" lIns="36576" tIns="36576" rIns="36576" bIns="36576" anchor="t">
            <a:spAutoFit/>
          </a:bodyPr>
          <a:lstStyle/>
          <a:p>
            <a:pPr algn="l">
              <a:spcAft>
                <a:spcPts val="400"/>
              </a:spcAft>
              <a:defRPr sz="1600" b="1" i="0">
                <a:solidFill>
                  <a:srgbClr val="A07DFF"/>
                </a:solidFill>
                <a:latin typeface="Aptos"/>
              </a:defRPr>
            </a:pPr>
            <a:r>
              <a:t>GROUND</a:t>
            </a:r>
          </a:p>
        </p:txBody>
      </p:sp>
      <p:sp>
        <p:nvSpPr>
          <p:cNvPr id="21" name="TextBox 20"/>
          <p:cNvSpPr txBox="1"/>
          <p:nvPr/>
        </p:nvSpPr>
        <p:spPr>
          <a:xfrm>
            <a:off x="6583679" y="3456432"/>
            <a:ext cx="1901952" cy="10058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Add the best excerpts and source titles to the model request.</a:t>
            </a:r>
          </a:p>
        </p:txBody>
      </p:sp>
      <p:sp>
        <p:nvSpPr>
          <p:cNvPr id="22" name="Rounded Rectangle 21"/>
          <p:cNvSpPr/>
          <p:nvPr/>
        </p:nvSpPr>
        <p:spPr>
          <a:xfrm>
            <a:off x="9317736"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482328" y="2542032"/>
            <a:ext cx="475488" cy="292608"/>
          </a:xfrm>
          <a:prstGeom prst="roundRect">
            <a:avLst/>
          </a:prstGeom>
          <a:solidFill>
            <a:srgbClr val="FFB5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18903" y="2560320"/>
            <a:ext cx="402336"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04</a:t>
            </a:r>
          </a:p>
        </p:txBody>
      </p:sp>
      <p:sp>
        <p:nvSpPr>
          <p:cNvPr id="25" name="TextBox 24"/>
          <p:cNvSpPr txBox="1"/>
          <p:nvPr/>
        </p:nvSpPr>
        <p:spPr>
          <a:xfrm>
            <a:off x="9482328" y="2990088"/>
            <a:ext cx="1901952" cy="320040"/>
          </a:xfrm>
          <a:prstGeom prst="rect">
            <a:avLst/>
          </a:prstGeom>
          <a:noFill/>
        </p:spPr>
        <p:txBody>
          <a:bodyPr wrap="square" lIns="36576" tIns="36576" rIns="36576" bIns="36576" anchor="t">
            <a:spAutoFit/>
          </a:bodyPr>
          <a:lstStyle/>
          <a:p>
            <a:pPr algn="l">
              <a:spcAft>
                <a:spcPts val="400"/>
              </a:spcAft>
              <a:defRPr sz="1600" b="1" i="0">
                <a:solidFill>
                  <a:srgbClr val="FFB55B"/>
                </a:solidFill>
                <a:latin typeface="Aptos"/>
              </a:defRPr>
            </a:pPr>
            <a:r>
              <a:t>GENERATE</a:t>
            </a:r>
          </a:p>
        </p:txBody>
      </p:sp>
      <p:sp>
        <p:nvSpPr>
          <p:cNvPr id="26" name="TextBox 25"/>
          <p:cNvSpPr txBox="1"/>
          <p:nvPr/>
        </p:nvSpPr>
        <p:spPr>
          <a:xfrm>
            <a:off x="9482328" y="3456432"/>
            <a:ext cx="1901952" cy="10058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Ask the model to answer from those excerpts and cite relevant source titles.</a:t>
            </a:r>
          </a:p>
        </p:txBody>
      </p:sp>
      <p:cxnSp>
        <p:nvCxnSpPr>
          <p:cNvPr id="27" name="Connector 26"/>
          <p:cNvCxnSpPr/>
          <p:nvPr/>
        </p:nvCxnSpPr>
        <p:spPr>
          <a:xfrm>
            <a:off x="2953512"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52160"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750808"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1792" y="5102352"/>
            <a:ext cx="10972800" cy="777240"/>
          </a:xfrm>
          <a:prstGeom prst="roundRect">
            <a:avLst/>
          </a:prstGeom>
          <a:solidFill>
            <a:srgbClr val="251E2B"/>
          </a:solidFill>
          <a:ln w="12700">
            <a:solidFill>
              <a:srgbClr val="644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321808"/>
            <a:ext cx="1143000" cy="228600"/>
          </a:xfrm>
          <a:prstGeom prst="rect">
            <a:avLst/>
          </a:prstGeom>
          <a:noFill/>
        </p:spPr>
        <p:txBody>
          <a:bodyPr wrap="square" lIns="36576" tIns="36576" rIns="36576" bIns="36576" anchor="t">
            <a:spAutoFit/>
          </a:bodyPr>
          <a:lstStyle/>
          <a:p>
            <a:pPr algn="l">
              <a:spcAft>
                <a:spcPts val="400"/>
              </a:spcAft>
              <a:defRPr sz="1000" b="1" i="0">
                <a:solidFill>
                  <a:srgbClr val="FFB55B"/>
                </a:solidFill>
                <a:latin typeface="Aptos"/>
              </a:defRPr>
            </a:pPr>
            <a:r>
              <a:t>IMPORTANT</a:t>
            </a:r>
          </a:p>
        </p:txBody>
      </p:sp>
      <p:sp>
        <p:nvSpPr>
          <p:cNvPr id="32" name="TextBox 31"/>
          <p:cNvSpPr txBox="1"/>
          <p:nvPr/>
        </p:nvSpPr>
        <p:spPr>
          <a:xfrm>
            <a:off x="1920240" y="5257800"/>
            <a:ext cx="9235440" cy="384048"/>
          </a:xfrm>
          <a:prstGeom prst="rect">
            <a:avLst/>
          </a:prstGeom>
          <a:noFill/>
        </p:spPr>
        <p:txBody>
          <a:bodyPr wrap="square" lIns="36576" tIns="36576" rIns="36576" bIns="36576" anchor="t">
            <a:spAutoFit/>
          </a:bodyPr>
          <a:lstStyle/>
          <a:p>
            <a:pPr algn="l">
              <a:spcAft>
                <a:spcPts val="400"/>
              </a:spcAft>
              <a:defRPr sz="1300" b="0" i="0">
                <a:solidFill>
                  <a:srgbClr val="F4F7FF"/>
                </a:solidFill>
                <a:latin typeface="Aptos"/>
              </a:defRPr>
            </a:pPr>
            <a:r>
              <a:t>Similarity thresholds are heuristics. Grounding helps traceability; it does not prove facts or prevent prompt injection.</a:t>
            </a:r>
          </a:p>
        </p:txBody>
      </p:sp>
      <p:sp>
        <p:nvSpPr>
          <p:cNvPr id="33" name="TextBox 32"/>
          <p:cNvSpPr txBox="1"/>
          <p:nvPr/>
        </p:nvSpPr>
        <p:spPr>
          <a:xfrm>
            <a:off x="731520" y="6053328"/>
            <a:ext cx="10881360" cy="256032"/>
          </a:xfrm>
          <a:prstGeom prst="rect">
            <a:avLst/>
          </a:prstGeom>
          <a:noFill/>
        </p:spPr>
        <p:txBody>
          <a:bodyPr wrap="square" lIns="36576" tIns="36576" rIns="36576" bIns="36576" anchor="t">
            <a:spAutoFit/>
          </a:bodyPr>
          <a:lstStyle/>
          <a:p>
            <a:pPr algn="l">
              <a:spcAft>
                <a:spcPts val="400"/>
              </a:spcAft>
              <a:defRPr sz="1000" b="0" i="0">
                <a:solidFill>
                  <a:srgbClr val="AEBBD3"/>
                </a:solidFill>
                <a:latin typeface="Aptos"/>
              </a:defRPr>
            </a:pPr>
            <a:r>
              <a:t>LOCAL: empty / below-threshold result → “I don't know” (no generation call)     •     KONNECT: AI RAG Injector supplies context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03 • DEPLOYMENT CHOICES</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One chatbot API, two deployment modes</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RAG_MODE selects where retrieval happens; the Spring-facing API stays consistent.</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03 / 10</a:t>
            </a:r>
          </a:p>
        </p:txBody>
      </p:sp>
      <p:sp>
        <p:nvSpPr>
          <p:cNvPr id="7" name="Rounded Rectangle 6"/>
          <p:cNvSpPr/>
          <p:nvPr/>
        </p:nvSpPr>
        <p:spPr>
          <a:xfrm>
            <a:off x="4983480" y="1847088"/>
            <a:ext cx="1920240" cy="502920"/>
          </a:xfrm>
          <a:prstGeom prst="roundRect">
            <a:avLst/>
          </a:prstGeom>
          <a:solidFill>
            <a:srgbClr val="1A2641"/>
          </a:solidFill>
          <a:ln w="17780">
            <a:solidFill>
              <a:srgbClr val="F4F7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400" b="1">
                <a:solidFill>
                  <a:srgbClr val="F4F7FF"/>
                </a:solidFill>
                <a:latin typeface="Aptos"/>
              </a:defRPr>
            </a:pPr>
            <a:r>
              <a:t>Client</a:t>
            </a:r>
          </a:p>
        </p:txBody>
      </p:sp>
      <p:sp>
        <p:nvSpPr>
          <p:cNvPr id="8" name="Rounded Rectangle 7"/>
          <p:cNvSpPr/>
          <p:nvPr/>
        </p:nvSpPr>
        <p:spPr>
          <a:xfrm>
            <a:off x="4709160" y="2670048"/>
            <a:ext cx="2468880" cy="713232"/>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500" b="1">
                <a:solidFill>
                  <a:srgbClr val="F4F7FF"/>
                </a:solidFill>
                <a:latin typeface="Aptos"/>
              </a:defRPr>
            </a:pPr>
            <a:r>
              <a:t>Spring Boot API</a:t>
            </a:r>
            <a:br/>
            <a:r>
              <a:t>:8080</a:t>
            </a:r>
          </a:p>
        </p:txBody>
      </p:sp>
      <p:cxnSp>
        <p:nvCxnSpPr>
          <p:cNvPr id="9" name="Connector 8"/>
          <p:cNvCxnSpPr/>
          <p:nvPr/>
        </p:nvCxnSpPr>
        <p:spPr>
          <a:xfrm>
            <a:off x="5943600" y="2359152"/>
            <a:ext cx="0" cy="27432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108960" y="3401568"/>
            <a:ext cx="2377440" cy="484632"/>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00800" y="3401568"/>
            <a:ext cx="2651760" cy="484632"/>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68680" y="3611880"/>
            <a:ext cx="100584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5256" y="3630168"/>
            <a:ext cx="93268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LOCAL</a:t>
            </a:r>
          </a:p>
        </p:txBody>
      </p:sp>
      <p:sp>
        <p:nvSpPr>
          <p:cNvPr id="14" name="Rounded Rectangle 13"/>
          <p:cNvSpPr/>
          <p:nvPr/>
        </p:nvSpPr>
        <p:spPr>
          <a:xfrm>
            <a:off x="7818120" y="3611880"/>
            <a:ext cx="123444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54696" y="3630168"/>
            <a:ext cx="116128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KONNECT</a:t>
            </a:r>
          </a:p>
        </p:txBody>
      </p:sp>
      <p:sp>
        <p:nvSpPr>
          <p:cNvPr id="16" name="Rounded Rectangle 15"/>
          <p:cNvSpPr/>
          <p:nvPr/>
        </p:nvSpPr>
        <p:spPr>
          <a:xfrm>
            <a:off x="594360" y="3977639"/>
            <a:ext cx="5074920" cy="1993392"/>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68680" y="4407408"/>
            <a:ext cx="1234440"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Kong OSS</a:t>
            </a:r>
            <a:br/>
            <a:r>
              <a:t>:8000</a:t>
            </a:r>
          </a:p>
        </p:txBody>
      </p:sp>
      <p:sp>
        <p:nvSpPr>
          <p:cNvPr id="18" name="Rounded Rectangle 17"/>
          <p:cNvSpPr/>
          <p:nvPr/>
        </p:nvSpPr>
        <p:spPr>
          <a:xfrm>
            <a:off x="2514600" y="4407408"/>
            <a:ext cx="1325880"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Ollama chat</a:t>
            </a:r>
            <a:br/>
            <a:r>
              <a:t>+ embeddings</a:t>
            </a:r>
          </a:p>
        </p:txBody>
      </p:sp>
      <p:sp>
        <p:nvSpPr>
          <p:cNvPr id="19" name="Rounded Rectangle 18"/>
          <p:cNvSpPr/>
          <p:nvPr/>
        </p:nvSpPr>
        <p:spPr>
          <a:xfrm>
            <a:off x="4096512" y="4407408"/>
            <a:ext cx="1298448"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t>Spring in-memory</a:t>
            </a:r>
            <a:br/>
            <a:r>
              <a:t>vector index</a:t>
            </a:r>
          </a:p>
        </p:txBody>
      </p:sp>
      <p:cxnSp>
        <p:nvCxnSpPr>
          <p:cNvPr id="20" name="Connector 19"/>
          <p:cNvCxnSpPr/>
          <p:nvPr/>
        </p:nvCxnSpPr>
        <p:spPr>
          <a:xfrm>
            <a:off x="2130552" y="4736592"/>
            <a:ext cx="329184"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867912" y="4736592"/>
            <a:ext cx="173736"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5330952"/>
            <a:ext cx="4526280" cy="365760"/>
          </a:xfrm>
          <a:prstGeom prst="rect">
            <a:avLst/>
          </a:prstGeom>
          <a:noFill/>
        </p:spPr>
        <p:txBody>
          <a:bodyPr wrap="square" lIns="36576" tIns="36576" rIns="36576" bIns="36576" anchor="t">
            <a:spAutoFit/>
          </a:bodyPr>
          <a:lstStyle/>
          <a:p>
            <a:pPr algn="l">
              <a:spcAft>
                <a:spcPts val="400"/>
              </a:spcAft>
              <a:defRPr sz="1000" b="0" i="0">
                <a:solidFill>
                  <a:srgbClr val="AEBBD3"/>
                </a:solidFill>
                <a:latin typeface="Aptos"/>
              </a:defRPr>
            </a:pPr>
            <a:r>
              <a:t>Local development • no Kong account or external model credentials</a:t>
            </a:r>
          </a:p>
        </p:txBody>
      </p:sp>
      <p:sp>
        <p:nvSpPr>
          <p:cNvPr id="23" name="Rounded Rectangle 22"/>
          <p:cNvSpPr/>
          <p:nvPr/>
        </p:nvSpPr>
        <p:spPr>
          <a:xfrm>
            <a:off x="6492240" y="3977639"/>
            <a:ext cx="5074920" cy="1993392"/>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748272" y="4407408"/>
            <a:ext cx="137160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t>Kong Gateway</a:t>
            </a:r>
            <a:br/>
            <a:r>
              <a:t>data plane :8000</a:t>
            </a:r>
          </a:p>
        </p:txBody>
      </p:sp>
      <p:sp>
        <p:nvSpPr>
          <p:cNvPr id="25" name="Rounded Rectangle 24"/>
          <p:cNvSpPr/>
          <p:nvPr/>
        </p:nvSpPr>
        <p:spPr>
          <a:xfrm>
            <a:off x="8430768" y="4407408"/>
            <a:ext cx="105156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AI RAG</a:t>
            </a:r>
            <a:br/>
            <a:r>
              <a:t>Injector</a:t>
            </a:r>
          </a:p>
        </p:txBody>
      </p:sp>
      <p:sp>
        <p:nvSpPr>
          <p:cNvPr id="26" name="Rounded Rectangle 25"/>
          <p:cNvSpPr/>
          <p:nvPr/>
        </p:nvSpPr>
        <p:spPr>
          <a:xfrm>
            <a:off x="9802368" y="4407408"/>
            <a:ext cx="132588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t>Redis Stack</a:t>
            </a:r>
            <a:br/>
            <a:r>
              <a:t>vector index</a:t>
            </a:r>
          </a:p>
        </p:txBody>
      </p:sp>
      <p:cxnSp>
        <p:nvCxnSpPr>
          <p:cNvPr id="27" name="Connector 26"/>
          <p:cNvCxnSpPr/>
          <p:nvPr/>
        </p:nvCxnSpPr>
        <p:spPr>
          <a:xfrm>
            <a:off x="8156448" y="4736592"/>
            <a:ext cx="219456"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500616" y="4736592"/>
            <a:ext cx="246888"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5330952"/>
            <a:ext cx="4480560" cy="365760"/>
          </a:xfrm>
          <a:prstGeom prst="rect">
            <a:avLst/>
          </a:prstGeom>
          <a:noFill/>
        </p:spPr>
        <p:txBody>
          <a:bodyPr wrap="square" lIns="36576" tIns="36576" rIns="36576" bIns="36576" anchor="t">
            <a:spAutoFit/>
          </a:bodyPr>
          <a:lstStyle/>
          <a:p>
            <a:pPr algn="l">
              <a:spcAft>
                <a:spcPts val="400"/>
              </a:spcAft>
              <a:defRPr sz="1000" b="0" i="0">
                <a:solidFill>
                  <a:srgbClr val="AEBBD3"/>
                </a:solidFill>
                <a:latin typeface="Aptos"/>
              </a:defRPr>
            </a:pPr>
            <a:r>
              <a:t>Konnect control plane manages config • AI Proxy → OpenAI</a:t>
            </a:r>
          </a:p>
        </p:txBody>
      </p:sp>
      <p:sp>
        <p:nvSpPr>
          <p:cNvPr id="30" name="TextBox 29"/>
          <p:cNvSpPr txBox="1"/>
          <p:nvPr/>
        </p:nvSpPr>
        <p:spPr>
          <a:xfrm>
            <a:off x="1097280" y="6144768"/>
            <a:ext cx="9966960" cy="201168"/>
          </a:xfrm>
          <a:prstGeom prst="rect">
            <a:avLst/>
          </a:prstGeom>
          <a:noFill/>
        </p:spPr>
        <p:txBody>
          <a:bodyPr wrap="square" lIns="36576" tIns="36576" rIns="36576" bIns="36576" anchor="t">
            <a:spAutoFit/>
          </a:bodyPr>
          <a:lstStyle/>
          <a:p>
            <a:pPr algn="ctr">
              <a:spcAft>
                <a:spcPts val="400"/>
              </a:spcAft>
              <a:defRPr sz="1000" b="1" i="0">
                <a:solidFill>
                  <a:srgbClr val="FFB55B"/>
                </a:solidFill>
                <a:latin typeface="Aptos"/>
              </a:defRPr>
            </a:pPr>
            <a:r>
              <a:t>Compose + Terraform provision a local Docker environment — not a cloud-platform deployment.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04 • GATEWAY BOUNDARY</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Kong Gateway: the model-traffic boundary</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The application talks to Kong; Kong routes model traffic according to the selected mode.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04 / 10</a:t>
            </a:r>
          </a:p>
        </p:txBody>
      </p:sp>
      <p:sp>
        <p:nvSpPr>
          <p:cNvPr id="7" name="Rounded Rectangle 6"/>
          <p:cNvSpPr/>
          <p:nvPr/>
        </p:nvSpPr>
        <p:spPr>
          <a:xfrm>
            <a:off x="621792" y="1993392"/>
            <a:ext cx="5321808"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4400" y="2286000"/>
            <a:ext cx="169164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304288"/>
            <a:ext cx="161848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LOCAL • KONG OSS</a:t>
            </a:r>
          </a:p>
        </p:txBody>
      </p:sp>
      <p:sp>
        <p:nvSpPr>
          <p:cNvPr id="10" name="Rounded Rectangle 9"/>
          <p:cNvSpPr/>
          <p:nvPr/>
        </p:nvSpPr>
        <p:spPr>
          <a:xfrm>
            <a:off x="960120" y="3035808"/>
            <a:ext cx="1417320" cy="694944"/>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Spring Boot</a:t>
            </a:r>
          </a:p>
        </p:txBody>
      </p:sp>
      <p:sp>
        <p:nvSpPr>
          <p:cNvPr id="11" name="Rounded Rectangle 10"/>
          <p:cNvSpPr/>
          <p:nvPr/>
        </p:nvSpPr>
        <p:spPr>
          <a:xfrm>
            <a:off x="2743200" y="3035808"/>
            <a:ext cx="1417320" cy="694944"/>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Kong OSS</a:t>
            </a:r>
            <a:br/>
            <a:r>
              <a:t>DB-less routes</a:t>
            </a:r>
          </a:p>
        </p:txBody>
      </p:sp>
      <p:sp>
        <p:nvSpPr>
          <p:cNvPr id="12" name="Rounded Rectangle 11"/>
          <p:cNvSpPr/>
          <p:nvPr/>
        </p:nvSpPr>
        <p:spPr>
          <a:xfrm>
            <a:off x="4526280" y="3035808"/>
            <a:ext cx="1005840" cy="694944"/>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Ollama</a:t>
            </a:r>
          </a:p>
        </p:txBody>
      </p:sp>
      <p:cxnSp>
        <p:nvCxnSpPr>
          <p:cNvPr id="13" name="Connector 12"/>
          <p:cNvCxnSpPr/>
          <p:nvPr/>
        </p:nvCxnSpPr>
        <p:spPr>
          <a:xfrm>
            <a:off x="2414016" y="3383280"/>
            <a:ext cx="274320"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7096" y="3383280"/>
            <a:ext cx="274320"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4160520"/>
            <a:ext cx="4617720" cy="594360"/>
          </a:xfrm>
          <a:prstGeom prst="rect">
            <a:avLst/>
          </a:prstGeom>
          <a:noFill/>
        </p:spPr>
        <p:txBody>
          <a:bodyPr wrap="square" lIns="36576" tIns="36576" rIns="36576" bIns="36576" anchor="t">
            <a:spAutoFit/>
          </a:bodyPr>
          <a:lstStyle/>
          <a:p>
            <a:pPr algn="l">
              <a:spcAft>
                <a:spcPts val="400"/>
              </a:spcAft>
              <a:defRPr sz="1300" b="0" i="0">
                <a:solidFill>
                  <a:srgbClr val="AEBBD3"/>
                </a:solidFill>
                <a:latin typeface="Aptos"/>
              </a:defRPr>
            </a:pPr>
            <a:r>
              <a:t>Chat + embedding HTTP requests are proxied to local models.</a:t>
            </a:r>
          </a:p>
        </p:txBody>
      </p:sp>
      <p:sp>
        <p:nvSpPr>
          <p:cNvPr id="16" name="TextBox 15"/>
          <p:cNvSpPr txBox="1"/>
          <p:nvPr/>
        </p:nvSpPr>
        <p:spPr>
          <a:xfrm>
            <a:off x="932688" y="4983480"/>
            <a:ext cx="4389120" cy="256032"/>
          </a:xfrm>
          <a:prstGeom prst="rect">
            <a:avLst/>
          </a:prstGeom>
          <a:noFill/>
        </p:spPr>
        <p:txBody>
          <a:bodyPr wrap="square" lIns="36576" tIns="36576" rIns="36576" bIns="36576" anchor="t">
            <a:spAutoFit/>
          </a:bodyPr>
          <a:lstStyle/>
          <a:p>
            <a:pPr algn="l">
              <a:spcAft>
                <a:spcPts val="400"/>
              </a:spcAft>
              <a:defRPr sz="1000" b="1" i="0">
                <a:solidFill>
                  <a:srgbClr val="48E0B8"/>
                </a:solidFill>
                <a:latin typeface="Aptos"/>
              </a:defRPr>
            </a:pPr>
            <a:r>
              <a:t>Configured in kong/local.yaml</a:t>
            </a:r>
          </a:p>
        </p:txBody>
      </p:sp>
      <p:sp>
        <p:nvSpPr>
          <p:cNvPr id="17" name="Rounded Rectangle 16"/>
          <p:cNvSpPr/>
          <p:nvPr/>
        </p:nvSpPr>
        <p:spPr>
          <a:xfrm>
            <a:off x="6236208" y="1993392"/>
            <a:ext cx="5321808"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37960" y="2286000"/>
            <a:ext cx="196596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74536" y="2304288"/>
            <a:ext cx="189280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KONNECT • AI GATEWAY</a:t>
            </a:r>
          </a:p>
        </p:txBody>
      </p:sp>
      <p:sp>
        <p:nvSpPr>
          <p:cNvPr id="20" name="Rounded Rectangle 19"/>
          <p:cNvSpPr/>
          <p:nvPr/>
        </p:nvSpPr>
        <p:spPr>
          <a:xfrm>
            <a:off x="6537960" y="3035808"/>
            <a:ext cx="1234440" cy="694944"/>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Spring Boot</a:t>
            </a:r>
          </a:p>
        </p:txBody>
      </p:sp>
      <p:sp>
        <p:nvSpPr>
          <p:cNvPr id="21" name="Rounded Rectangle 20"/>
          <p:cNvSpPr/>
          <p:nvPr/>
        </p:nvSpPr>
        <p:spPr>
          <a:xfrm>
            <a:off x="8138160" y="3035808"/>
            <a:ext cx="1280160" cy="694944"/>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Kong Gateway</a:t>
            </a:r>
          </a:p>
        </p:txBody>
      </p:sp>
      <p:sp>
        <p:nvSpPr>
          <p:cNvPr id="22" name="Rounded Rectangle 21"/>
          <p:cNvSpPr/>
          <p:nvPr/>
        </p:nvSpPr>
        <p:spPr>
          <a:xfrm>
            <a:off x="9738360" y="2852928"/>
            <a:ext cx="1280160" cy="64008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t>AI Proxy</a:t>
            </a:r>
            <a:br/>
            <a:r>
              <a:t>Advanced</a:t>
            </a:r>
          </a:p>
        </p:txBody>
      </p:sp>
      <p:sp>
        <p:nvSpPr>
          <p:cNvPr id="23" name="Rounded Rectangle 22"/>
          <p:cNvSpPr/>
          <p:nvPr/>
        </p:nvSpPr>
        <p:spPr>
          <a:xfrm>
            <a:off x="9738360" y="3593592"/>
            <a:ext cx="1280160" cy="64008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t>AI RAG</a:t>
            </a:r>
            <a:br/>
            <a:r>
              <a:t>Injector</a:t>
            </a:r>
          </a:p>
        </p:txBody>
      </p:sp>
      <p:cxnSp>
        <p:nvCxnSpPr>
          <p:cNvPr id="24" name="Connector 23"/>
          <p:cNvCxnSpPr/>
          <p:nvPr/>
        </p:nvCxnSpPr>
        <p:spPr>
          <a:xfrm>
            <a:off x="7808975" y="3383280"/>
            <a:ext cx="274321"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9454896" y="3163824"/>
            <a:ext cx="228600" cy="8229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454896" y="3520440"/>
            <a:ext cx="228600" cy="35661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37960" y="4526280"/>
            <a:ext cx="4526280" cy="65836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Centralizes provider connectivity, credentials, routing and AI policies as the platform evolves.</a:t>
            </a:r>
          </a:p>
        </p:txBody>
      </p:sp>
      <p:sp>
        <p:nvSpPr>
          <p:cNvPr id="28" name="Rounded Rectangle 27"/>
          <p:cNvSpPr/>
          <p:nvPr/>
        </p:nvSpPr>
        <p:spPr>
          <a:xfrm>
            <a:off x="1188720" y="5833872"/>
            <a:ext cx="9829800" cy="438912"/>
          </a:xfrm>
          <a:prstGeom prst="roundRect">
            <a:avLst/>
          </a:prstGeom>
          <a:solidFill>
            <a:srgbClr val="231E2C"/>
          </a:solidFill>
          <a:ln w="12700">
            <a:solidFill>
              <a:srgbClr val="504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71600" y="5925312"/>
            <a:ext cx="9464040" cy="201168"/>
          </a:xfrm>
          <a:prstGeom prst="rect">
            <a:avLst/>
          </a:prstGeom>
          <a:noFill/>
        </p:spPr>
        <p:txBody>
          <a:bodyPr wrap="square" lIns="36576" tIns="36576" rIns="36576" bIns="36576" anchor="t">
            <a:spAutoFit/>
          </a:bodyPr>
          <a:lstStyle/>
          <a:p>
            <a:pPr algn="ctr">
              <a:spcAft>
                <a:spcPts val="400"/>
              </a:spcAft>
              <a:defRPr sz="1100" b="1" i="0">
                <a:solidFill>
                  <a:srgbClr val="FFB55B"/>
                </a:solidFill>
                <a:latin typeface="Aptos"/>
              </a:defRPr>
            </a:pPr>
            <a:r>
              <a:t>Local mode uses ordinary OSS routes — the proprietary Konnect AI plugins are not enabled there.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05 • MANAGED CONFIGURATION</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Kong Konnect: centrally managed gateway configuration</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Control-plane management and data-plane request serving are separate responsibilities.</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05 / 10</a:t>
            </a:r>
          </a:p>
        </p:txBody>
      </p:sp>
      <p:sp>
        <p:nvSpPr>
          <p:cNvPr id="7" name="Rounded Rectangle 6"/>
          <p:cNvSpPr/>
          <p:nvPr/>
        </p:nvSpPr>
        <p:spPr>
          <a:xfrm>
            <a:off x="640080" y="2011680"/>
            <a:ext cx="2743200" cy="3383280"/>
          </a:xfrm>
          <a:prstGeom prst="roundRect">
            <a:avLst/>
          </a:prstGeom>
          <a:solidFill>
            <a:srgbClr val="181C36"/>
          </a:solidFill>
          <a:ln w="1270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4400" y="2304288"/>
            <a:ext cx="141732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322576"/>
            <a:ext cx="134416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CONTROL PLANE</a:t>
            </a:r>
          </a:p>
        </p:txBody>
      </p:sp>
      <p:sp>
        <p:nvSpPr>
          <p:cNvPr id="10" name="Rounded Rectangle 9"/>
          <p:cNvSpPr/>
          <p:nvPr/>
        </p:nvSpPr>
        <p:spPr>
          <a:xfrm>
            <a:off x="1097280" y="2971800"/>
            <a:ext cx="173736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700" b="1">
                <a:solidFill>
                  <a:srgbClr val="F4F7FF"/>
                </a:solidFill>
                <a:latin typeface="Aptos"/>
              </a:defRPr>
            </a:pPr>
            <a:r>
              <a:t>Konnect</a:t>
            </a:r>
          </a:p>
        </p:txBody>
      </p:sp>
      <p:sp>
        <p:nvSpPr>
          <p:cNvPr id="11" name="TextBox 10"/>
          <p:cNvSpPr txBox="1"/>
          <p:nvPr/>
        </p:nvSpPr>
        <p:spPr>
          <a:xfrm>
            <a:off x="914400" y="3886200"/>
            <a:ext cx="2148840" cy="640080"/>
          </a:xfrm>
          <a:prstGeom prst="rect">
            <a:avLst/>
          </a:prstGeom>
          <a:noFill/>
        </p:spPr>
        <p:txBody>
          <a:bodyPr wrap="square" lIns="36576" tIns="36576" rIns="36576" bIns="36576" anchor="t">
            <a:spAutoFit/>
          </a:bodyPr>
          <a:lstStyle/>
          <a:p>
            <a:pPr algn="ctr">
              <a:spcAft>
                <a:spcPts val="400"/>
              </a:spcAft>
              <a:defRPr sz="1300" b="0" i="0">
                <a:solidFill>
                  <a:srgbClr val="AEBBD3"/>
                </a:solidFill>
                <a:latin typeface="Aptos"/>
              </a:defRPr>
            </a:pPr>
            <a:r>
              <a:t>Manages gateway configuration and plugin policy</a:t>
            </a:r>
          </a:p>
        </p:txBody>
      </p:sp>
      <p:cxnSp>
        <p:nvCxnSpPr>
          <p:cNvPr id="12" name="Connector 11"/>
          <p:cNvCxnSpPr/>
          <p:nvPr/>
        </p:nvCxnSpPr>
        <p:spPr>
          <a:xfrm>
            <a:off x="3438144" y="3273552"/>
            <a:ext cx="722376"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51960" y="2011680"/>
            <a:ext cx="3703320" cy="33832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26280" y="2304288"/>
            <a:ext cx="123444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62856" y="2322576"/>
            <a:ext cx="116128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DATA PLANE</a:t>
            </a:r>
          </a:p>
        </p:txBody>
      </p:sp>
      <p:sp>
        <p:nvSpPr>
          <p:cNvPr id="16" name="Rounded Rectangle 15"/>
          <p:cNvSpPr/>
          <p:nvPr/>
        </p:nvSpPr>
        <p:spPr>
          <a:xfrm>
            <a:off x="4709160" y="2944368"/>
            <a:ext cx="2697480" cy="59436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600" b="1">
                <a:solidFill>
                  <a:srgbClr val="F4F7FF"/>
                </a:solidFill>
                <a:latin typeface="Aptos"/>
              </a:defRPr>
            </a:pPr>
            <a:r>
              <a:t>Kong Gateway</a:t>
            </a:r>
          </a:p>
        </p:txBody>
      </p:sp>
      <p:sp>
        <p:nvSpPr>
          <p:cNvPr id="17" name="Rounded Rectangle 16"/>
          <p:cNvSpPr/>
          <p:nvPr/>
        </p:nvSpPr>
        <p:spPr>
          <a:xfrm>
            <a:off x="4553712" y="3886200"/>
            <a:ext cx="141732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AI RAG Injector</a:t>
            </a:r>
          </a:p>
        </p:txBody>
      </p:sp>
      <p:sp>
        <p:nvSpPr>
          <p:cNvPr id="18" name="Rounded Rectangle 17"/>
          <p:cNvSpPr/>
          <p:nvPr/>
        </p:nvSpPr>
        <p:spPr>
          <a:xfrm>
            <a:off x="6199632" y="3886200"/>
            <a:ext cx="141732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AI Proxy</a:t>
            </a:r>
            <a:br/>
            <a:r>
              <a:t>Advanced</a:t>
            </a:r>
          </a:p>
        </p:txBody>
      </p:sp>
      <p:cxnSp>
        <p:nvCxnSpPr>
          <p:cNvPr id="19" name="Connector 18"/>
          <p:cNvCxnSpPr/>
          <p:nvPr/>
        </p:nvCxnSpPr>
        <p:spPr>
          <a:xfrm flipH="1">
            <a:off x="5257800" y="3566160"/>
            <a:ext cx="777240" cy="26517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35040" y="3566160"/>
            <a:ext cx="868680" cy="26517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229600" y="2011680"/>
            <a:ext cx="3337560" cy="3383280"/>
          </a:xfrm>
          <a:prstGeom prst="roundRect">
            <a:avLst/>
          </a:prstGeom>
          <a:solidFill>
            <a:srgbClr val="10232B"/>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503920" y="2304288"/>
            <a:ext cx="1874519"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0496" y="2322576"/>
            <a:ext cx="180136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SUPPORTING SERVICES</a:t>
            </a:r>
          </a:p>
        </p:txBody>
      </p:sp>
      <p:sp>
        <p:nvSpPr>
          <p:cNvPr id="24" name="Rounded Rectangle 23"/>
          <p:cNvSpPr/>
          <p:nvPr/>
        </p:nvSpPr>
        <p:spPr>
          <a:xfrm>
            <a:off x="9386316" y="2944368"/>
            <a:ext cx="123444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Redis Stack</a:t>
            </a:r>
            <a:br/>
            <a:r>
              <a:t>vector index</a:t>
            </a:r>
          </a:p>
        </p:txBody>
      </p:sp>
      <p:sp>
        <p:nvSpPr>
          <p:cNvPr id="25" name="Rounded Rectangle 24"/>
          <p:cNvSpPr/>
          <p:nvPr/>
        </p:nvSpPr>
        <p:spPr>
          <a:xfrm>
            <a:off x="9386316" y="4023360"/>
            <a:ext cx="123444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100" b="1">
                <a:solidFill>
                  <a:srgbClr val="F4F7FF"/>
                </a:solidFill>
                <a:latin typeface="Aptos"/>
              </a:defRPr>
            </a:pPr>
            <a:r>
              <a:rPr dirty="0"/>
              <a:t>OpenAI</a:t>
            </a:r>
            <a:br>
              <a:rPr dirty="0"/>
            </a:br>
            <a:r>
              <a:rPr dirty="0"/>
              <a:t>embeddings + chat</a:t>
            </a:r>
          </a:p>
        </p:txBody>
      </p:sp>
      <p:cxnSp>
        <p:nvCxnSpPr>
          <p:cNvPr id="26" name="Connector 25"/>
          <p:cNvCxnSpPr>
            <a:cxnSpLocks/>
            <a:endCxn id="24" idx="1"/>
          </p:cNvCxnSpPr>
          <p:nvPr/>
        </p:nvCxnSpPr>
        <p:spPr>
          <a:xfrm flipV="1">
            <a:off x="7982712" y="3310128"/>
            <a:ext cx="1403604" cy="859535"/>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a:cxnSpLocks/>
            <a:endCxn id="25" idx="1"/>
          </p:cNvCxnSpPr>
          <p:nvPr/>
        </p:nvCxnSpPr>
        <p:spPr>
          <a:xfrm>
            <a:off x="7982712" y="4169663"/>
            <a:ext cx="1403604" cy="219457"/>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22960" y="5596128"/>
            <a:ext cx="5166360" cy="438912"/>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Bootstrap configures the data-plane certificate, service, routes and plugins.</a:t>
            </a:r>
          </a:p>
        </p:txBody>
      </p:sp>
      <p:sp>
        <p:nvSpPr>
          <p:cNvPr id="29" name="TextBox 28"/>
          <p:cNvSpPr txBox="1"/>
          <p:nvPr/>
        </p:nvSpPr>
        <p:spPr>
          <a:xfrm>
            <a:off x="6217920" y="5596128"/>
            <a:ext cx="5166360" cy="566928"/>
          </a:xfrm>
          <a:prstGeom prst="rect">
            <a:avLst/>
          </a:prstGeom>
          <a:noFill/>
        </p:spPr>
        <p:txBody>
          <a:bodyPr wrap="square" lIns="36576" tIns="36576" rIns="36576" bIns="36576" anchor="t">
            <a:spAutoFit/>
          </a:bodyPr>
          <a:lstStyle/>
          <a:p>
            <a:pPr algn="l">
              <a:spcAft>
                <a:spcPts val="400"/>
              </a:spcAft>
              <a:defRPr sz="1100" b="0" i="0">
                <a:solidFill>
                  <a:srgbClr val="FFB55B"/>
                </a:solidFill>
                <a:latin typeface="Aptos"/>
              </a:defRPr>
            </a:pPr>
            <a:r>
              <a:t>Requires compatible Konnect entitlement + OpenAI credentials. Ingestion has additional standalone Enterprise licensing requirements.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06 • APPLICATION LAYER</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Spring Boot: API and application orchestration</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A stable HTTP API coordinates chat behavior while retrieval stays mode-dependent.</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06 / 10</a:t>
            </a:r>
          </a:p>
        </p:txBody>
      </p:sp>
      <p:sp>
        <p:nvSpPr>
          <p:cNvPr id="7" name="Rounded Rectangle 6"/>
          <p:cNvSpPr/>
          <p:nvPr/>
        </p:nvSpPr>
        <p:spPr>
          <a:xfrm>
            <a:off x="640080"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86384"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176272"/>
            <a:ext cx="52120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POST</a:t>
            </a:r>
          </a:p>
        </p:txBody>
      </p:sp>
      <p:sp>
        <p:nvSpPr>
          <p:cNvPr id="10" name="TextBox 9"/>
          <p:cNvSpPr txBox="1"/>
          <p:nvPr/>
        </p:nvSpPr>
        <p:spPr>
          <a:xfrm>
            <a:off x="1463040" y="2139696"/>
            <a:ext cx="1645920" cy="219456"/>
          </a:xfrm>
          <a:prstGeom prst="rect">
            <a:avLst/>
          </a:prstGeom>
          <a:noFill/>
        </p:spPr>
        <p:txBody>
          <a:bodyPr wrap="square" lIns="36576" tIns="36576" rIns="36576" bIns="36576" anchor="t">
            <a:spAutoFit/>
          </a:bodyPr>
          <a:lstStyle/>
          <a:p>
            <a:pPr algn="l">
              <a:spcAft>
                <a:spcPts val="400"/>
              </a:spcAft>
              <a:defRPr sz="1200" b="1" i="0">
                <a:solidFill>
                  <a:srgbClr val="F4F7FF"/>
                </a:solidFill>
                <a:latin typeface="Aptos"/>
              </a:defRPr>
            </a:pPr>
            <a:r>
              <a:t>/api/rag/chat</a:t>
            </a:r>
          </a:p>
        </p:txBody>
      </p:sp>
      <p:sp>
        <p:nvSpPr>
          <p:cNvPr id="11" name="TextBox 10"/>
          <p:cNvSpPr txBox="1"/>
          <p:nvPr/>
        </p:nvSpPr>
        <p:spPr>
          <a:xfrm>
            <a:off x="1463040" y="2404872"/>
            <a:ext cx="1645920" cy="182880"/>
          </a:xfrm>
          <a:prstGeom prst="rect">
            <a:avLst/>
          </a:prstGeom>
          <a:noFill/>
        </p:spPr>
        <p:txBody>
          <a:bodyPr wrap="square" lIns="36576" tIns="36576" rIns="36576" bIns="36576" anchor="t">
            <a:spAutoFit/>
          </a:bodyPr>
          <a:lstStyle/>
          <a:p>
            <a:pPr algn="l">
              <a:spcAft>
                <a:spcPts val="400"/>
              </a:spcAft>
              <a:defRPr sz="900" b="0" i="0">
                <a:solidFill>
                  <a:srgbClr val="AEBBD3"/>
                </a:solidFill>
                <a:latin typeface="Aptos"/>
              </a:defRPr>
            </a:pPr>
            <a:r>
              <a:t>RAG chat</a:t>
            </a:r>
          </a:p>
        </p:txBody>
      </p:sp>
      <p:sp>
        <p:nvSpPr>
          <p:cNvPr id="12" name="Rounded Rectangle 11"/>
          <p:cNvSpPr/>
          <p:nvPr/>
        </p:nvSpPr>
        <p:spPr>
          <a:xfrm>
            <a:off x="3502152"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648456"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85032" y="2176272"/>
            <a:ext cx="52120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POST</a:t>
            </a:r>
          </a:p>
        </p:txBody>
      </p:sp>
      <p:sp>
        <p:nvSpPr>
          <p:cNvPr id="15" name="TextBox 14"/>
          <p:cNvSpPr txBox="1"/>
          <p:nvPr/>
        </p:nvSpPr>
        <p:spPr>
          <a:xfrm>
            <a:off x="4325112" y="2139696"/>
            <a:ext cx="1645920" cy="219456"/>
          </a:xfrm>
          <a:prstGeom prst="rect">
            <a:avLst/>
          </a:prstGeom>
          <a:noFill/>
        </p:spPr>
        <p:txBody>
          <a:bodyPr wrap="square" lIns="36576" tIns="36576" rIns="36576" bIns="36576" anchor="t">
            <a:spAutoFit/>
          </a:bodyPr>
          <a:lstStyle/>
          <a:p>
            <a:pPr algn="l">
              <a:spcAft>
                <a:spcPts val="400"/>
              </a:spcAft>
              <a:defRPr sz="1200" b="1" i="0">
                <a:solidFill>
                  <a:srgbClr val="F4F7FF"/>
                </a:solidFill>
                <a:latin typeface="Aptos"/>
              </a:defRPr>
            </a:pPr>
            <a:r>
              <a:t>/api/support/chat</a:t>
            </a:r>
          </a:p>
        </p:txBody>
      </p:sp>
      <p:sp>
        <p:nvSpPr>
          <p:cNvPr id="16" name="TextBox 15"/>
          <p:cNvSpPr txBox="1"/>
          <p:nvPr/>
        </p:nvSpPr>
        <p:spPr>
          <a:xfrm>
            <a:off x="4325112" y="2404872"/>
            <a:ext cx="1645920" cy="182880"/>
          </a:xfrm>
          <a:prstGeom prst="rect">
            <a:avLst/>
          </a:prstGeom>
          <a:noFill/>
        </p:spPr>
        <p:txBody>
          <a:bodyPr wrap="square" lIns="36576" tIns="36576" rIns="36576" bIns="36576" anchor="t">
            <a:spAutoFit/>
          </a:bodyPr>
          <a:lstStyle/>
          <a:p>
            <a:pPr algn="l">
              <a:spcAft>
                <a:spcPts val="400"/>
              </a:spcAft>
              <a:defRPr sz="900" b="0" i="0">
                <a:solidFill>
                  <a:srgbClr val="AEBBD3"/>
                </a:solidFill>
                <a:latin typeface="Aptos"/>
              </a:defRPr>
            </a:pPr>
            <a:r>
              <a:t>Support chat</a:t>
            </a:r>
          </a:p>
        </p:txBody>
      </p:sp>
      <p:sp>
        <p:nvSpPr>
          <p:cNvPr id="17" name="Rounded Rectangle 16"/>
          <p:cNvSpPr/>
          <p:nvPr/>
        </p:nvSpPr>
        <p:spPr>
          <a:xfrm>
            <a:off x="6364224"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10528"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47104" y="2176272"/>
            <a:ext cx="52120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POST</a:t>
            </a:r>
          </a:p>
        </p:txBody>
      </p:sp>
      <p:sp>
        <p:nvSpPr>
          <p:cNvPr id="20" name="TextBox 19"/>
          <p:cNvSpPr txBox="1"/>
          <p:nvPr/>
        </p:nvSpPr>
        <p:spPr>
          <a:xfrm>
            <a:off x="7187184" y="2139696"/>
            <a:ext cx="1645920" cy="219456"/>
          </a:xfrm>
          <a:prstGeom prst="rect">
            <a:avLst/>
          </a:prstGeom>
          <a:noFill/>
        </p:spPr>
        <p:txBody>
          <a:bodyPr wrap="square" lIns="36576" tIns="36576" rIns="36576" bIns="36576" anchor="t">
            <a:spAutoFit/>
          </a:bodyPr>
          <a:lstStyle/>
          <a:p>
            <a:pPr algn="l">
              <a:spcAft>
                <a:spcPts val="400"/>
              </a:spcAft>
              <a:defRPr sz="1200" b="1" i="0">
                <a:solidFill>
                  <a:srgbClr val="F4F7FF"/>
                </a:solidFill>
                <a:latin typeface="Aptos"/>
              </a:defRPr>
            </a:pPr>
            <a:r>
              <a:t>/api/chat</a:t>
            </a:r>
          </a:p>
        </p:txBody>
      </p:sp>
      <p:sp>
        <p:nvSpPr>
          <p:cNvPr id="21" name="TextBox 20"/>
          <p:cNvSpPr txBox="1"/>
          <p:nvPr/>
        </p:nvSpPr>
        <p:spPr>
          <a:xfrm>
            <a:off x="7187184" y="2404872"/>
            <a:ext cx="1645920" cy="182880"/>
          </a:xfrm>
          <a:prstGeom prst="rect">
            <a:avLst/>
          </a:prstGeom>
          <a:noFill/>
        </p:spPr>
        <p:txBody>
          <a:bodyPr wrap="square" lIns="36576" tIns="36576" rIns="36576" bIns="36576" anchor="t">
            <a:spAutoFit/>
          </a:bodyPr>
          <a:lstStyle/>
          <a:p>
            <a:pPr algn="l">
              <a:spcAft>
                <a:spcPts val="400"/>
              </a:spcAft>
              <a:defRPr sz="900" b="0" i="0">
                <a:solidFill>
                  <a:srgbClr val="AEBBD3"/>
                </a:solidFill>
                <a:latin typeface="Aptos"/>
              </a:defRPr>
            </a:pPr>
            <a:r>
              <a:t>Compatibility alias</a:t>
            </a:r>
          </a:p>
        </p:txBody>
      </p:sp>
      <p:sp>
        <p:nvSpPr>
          <p:cNvPr id="22" name="Rounded Rectangle 21"/>
          <p:cNvSpPr/>
          <p:nvPr/>
        </p:nvSpPr>
        <p:spPr>
          <a:xfrm>
            <a:off x="9226296"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372600" y="2157984"/>
            <a:ext cx="5943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09176" y="2176272"/>
            <a:ext cx="52120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GET</a:t>
            </a:r>
          </a:p>
        </p:txBody>
      </p:sp>
      <p:sp>
        <p:nvSpPr>
          <p:cNvPr id="25" name="TextBox 24"/>
          <p:cNvSpPr txBox="1"/>
          <p:nvPr/>
        </p:nvSpPr>
        <p:spPr>
          <a:xfrm>
            <a:off x="10049256" y="2139696"/>
            <a:ext cx="1645920" cy="219456"/>
          </a:xfrm>
          <a:prstGeom prst="rect">
            <a:avLst/>
          </a:prstGeom>
          <a:noFill/>
        </p:spPr>
        <p:txBody>
          <a:bodyPr wrap="square" lIns="36576" tIns="36576" rIns="36576" bIns="36576" anchor="t">
            <a:spAutoFit/>
          </a:bodyPr>
          <a:lstStyle/>
          <a:p>
            <a:pPr algn="l">
              <a:spcAft>
                <a:spcPts val="400"/>
              </a:spcAft>
              <a:defRPr sz="1200" b="1" i="0">
                <a:solidFill>
                  <a:srgbClr val="F4F7FF"/>
                </a:solidFill>
                <a:latin typeface="Aptos"/>
              </a:defRPr>
            </a:pPr>
            <a:r>
              <a:t>/health</a:t>
            </a:r>
          </a:p>
        </p:txBody>
      </p:sp>
      <p:sp>
        <p:nvSpPr>
          <p:cNvPr id="26" name="TextBox 25"/>
          <p:cNvSpPr txBox="1"/>
          <p:nvPr/>
        </p:nvSpPr>
        <p:spPr>
          <a:xfrm>
            <a:off x="10049256" y="2404872"/>
            <a:ext cx="1645920" cy="182880"/>
          </a:xfrm>
          <a:prstGeom prst="rect">
            <a:avLst/>
          </a:prstGeom>
          <a:noFill/>
        </p:spPr>
        <p:txBody>
          <a:bodyPr wrap="square" lIns="36576" tIns="36576" rIns="36576" bIns="36576" anchor="t">
            <a:spAutoFit/>
          </a:bodyPr>
          <a:lstStyle/>
          <a:p>
            <a:pPr algn="l">
              <a:spcAft>
                <a:spcPts val="400"/>
              </a:spcAft>
              <a:defRPr sz="900" b="0" i="0">
                <a:solidFill>
                  <a:srgbClr val="AEBBD3"/>
                </a:solidFill>
                <a:latin typeface="Aptos"/>
              </a:defRPr>
            </a:pPr>
            <a:r>
              <a:t>Health check</a:t>
            </a:r>
          </a:p>
        </p:txBody>
      </p:sp>
      <p:sp>
        <p:nvSpPr>
          <p:cNvPr id="27" name="Rounded Rectangle 26"/>
          <p:cNvSpPr/>
          <p:nvPr/>
        </p:nvSpPr>
        <p:spPr>
          <a:xfrm>
            <a:off x="822960" y="3703320"/>
            <a:ext cx="1965960" cy="73152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ChatController</a:t>
            </a:r>
          </a:p>
        </p:txBody>
      </p:sp>
      <p:sp>
        <p:nvSpPr>
          <p:cNvPr id="28" name="Rounded Rectangle 27"/>
          <p:cNvSpPr/>
          <p:nvPr/>
        </p:nvSpPr>
        <p:spPr>
          <a:xfrm>
            <a:off x="3337560" y="3703320"/>
            <a:ext cx="182880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ChatService</a:t>
            </a:r>
          </a:p>
        </p:txBody>
      </p:sp>
      <p:sp>
        <p:nvSpPr>
          <p:cNvPr id="29" name="Rounded Rectangle 28"/>
          <p:cNvSpPr/>
          <p:nvPr/>
        </p:nvSpPr>
        <p:spPr>
          <a:xfrm>
            <a:off x="5715000" y="3703320"/>
            <a:ext cx="1965960" cy="73152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KongAiGateway</a:t>
            </a:r>
            <a:br/>
            <a:r>
              <a:t>Client</a:t>
            </a:r>
          </a:p>
        </p:txBody>
      </p:sp>
      <p:sp>
        <p:nvSpPr>
          <p:cNvPr id="30" name="Rounded Rectangle 29"/>
          <p:cNvSpPr/>
          <p:nvPr/>
        </p:nvSpPr>
        <p:spPr>
          <a:xfrm>
            <a:off x="8229600" y="3703320"/>
            <a:ext cx="1828800" cy="73152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300" b="1">
                <a:solidFill>
                  <a:srgbClr val="F4F7FF"/>
                </a:solidFill>
                <a:latin typeface="Aptos"/>
              </a:defRPr>
            </a:pPr>
            <a:r>
              <a:t>Kong Gateway</a:t>
            </a:r>
          </a:p>
        </p:txBody>
      </p:sp>
      <p:cxnSp>
        <p:nvCxnSpPr>
          <p:cNvPr id="31" name="Connector 30"/>
          <p:cNvCxnSpPr/>
          <p:nvPr/>
        </p:nvCxnSpPr>
        <p:spPr>
          <a:xfrm>
            <a:off x="2816352" y="4069080"/>
            <a:ext cx="457200"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212080" y="406908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726679" y="4069080"/>
            <a:ext cx="438913"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22960" y="4828032"/>
            <a:ext cx="5212080" cy="914400"/>
          </a:xfrm>
          <a:prstGeom prst="roundRect">
            <a:avLst/>
          </a:prstGeom>
          <a:solidFill>
            <a:srgbClr val="122429"/>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51560" y="5010912"/>
            <a:ext cx="1143000" cy="201168"/>
          </a:xfrm>
          <a:prstGeom prst="rect">
            <a:avLst/>
          </a:prstGeom>
          <a:noFill/>
        </p:spPr>
        <p:txBody>
          <a:bodyPr wrap="square" lIns="36576" tIns="36576" rIns="36576" bIns="36576" anchor="t">
            <a:spAutoFit/>
          </a:bodyPr>
          <a:lstStyle/>
          <a:p>
            <a:pPr algn="l">
              <a:spcAft>
                <a:spcPts val="400"/>
              </a:spcAft>
              <a:defRPr sz="1000" b="1" i="0">
                <a:solidFill>
                  <a:srgbClr val="48E0B8"/>
                </a:solidFill>
                <a:latin typeface="Aptos"/>
              </a:defRPr>
            </a:pPr>
            <a:r>
              <a:t>LOCAL MODE</a:t>
            </a:r>
          </a:p>
        </p:txBody>
      </p:sp>
      <p:sp>
        <p:nvSpPr>
          <p:cNvPr id="36" name="TextBox 35"/>
          <p:cNvSpPr txBox="1"/>
          <p:nvPr/>
        </p:nvSpPr>
        <p:spPr>
          <a:xfrm>
            <a:off x="2148840" y="4965192"/>
            <a:ext cx="3611880" cy="384048"/>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Startup indexing + question-time retrieval via KnowledgeContextProvider</a:t>
            </a:r>
          </a:p>
        </p:txBody>
      </p:sp>
      <p:sp>
        <p:nvSpPr>
          <p:cNvPr id="37" name="Rounded Rectangle 36"/>
          <p:cNvSpPr/>
          <p:nvPr/>
        </p:nvSpPr>
        <p:spPr>
          <a:xfrm>
            <a:off x="6263640" y="4828032"/>
            <a:ext cx="5074920" cy="914400"/>
          </a:xfrm>
          <a:prstGeom prst="roundRect">
            <a:avLst/>
          </a:prstGeom>
          <a:solidFill>
            <a:srgbClr val="1E1A30"/>
          </a:solidFill>
          <a:ln w="1270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492240" y="5010912"/>
            <a:ext cx="1371600" cy="201168"/>
          </a:xfrm>
          <a:prstGeom prst="rect">
            <a:avLst/>
          </a:prstGeom>
          <a:noFill/>
        </p:spPr>
        <p:txBody>
          <a:bodyPr wrap="square" lIns="36576" tIns="36576" rIns="36576" bIns="36576" anchor="t">
            <a:spAutoFit/>
          </a:bodyPr>
          <a:lstStyle/>
          <a:p>
            <a:pPr algn="l">
              <a:spcAft>
                <a:spcPts val="400"/>
              </a:spcAft>
              <a:defRPr sz="1000" b="1" i="0">
                <a:solidFill>
                  <a:srgbClr val="A07DFF"/>
                </a:solidFill>
                <a:latin typeface="Aptos"/>
              </a:defRPr>
            </a:pPr>
            <a:r>
              <a:t>KONNECT MODE</a:t>
            </a:r>
          </a:p>
        </p:txBody>
      </p:sp>
      <p:sp>
        <p:nvSpPr>
          <p:cNvPr id="39" name="TextBox 38"/>
          <p:cNvSpPr txBox="1"/>
          <p:nvPr/>
        </p:nvSpPr>
        <p:spPr>
          <a:xfrm>
            <a:off x="7818120" y="4965192"/>
            <a:ext cx="3200400" cy="384048"/>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Retrieval is delegated to Kong's configured RAG plugin</a:t>
            </a:r>
          </a:p>
        </p:txBody>
      </p:sp>
      <p:sp>
        <p:nvSpPr>
          <p:cNvPr id="40" name="TextBox 39"/>
          <p:cNvSpPr txBox="1"/>
          <p:nvPr/>
        </p:nvSpPr>
        <p:spPr>
          <a:xfrm>
            <a:off x="960120" y="6053328"/>
            <a:ext cx="10241280" cy="256032"/>
          </a:xfrm>
          <a:prstGeom prst="rect">
            <a:avLst/>
          </a:prstGeom>
          <a:noFill/>
        </p:spPr>
        <p:txBody>
          <a:bodyPr wrap="square" lIns="36576" tIns="36576" rIns="36576" bIns="36576" anchor="t">
            <a:spAutoFit/>
          </a:bodyPr>
          <a:lstStyle/>
          <a:p>
            <a:pPr algn="ctr">
              <a:spcAft>
                <a:spcPts val="400"/>
              </a:spcAft>
              <a:defRPr sz="1100" b="0" i="0">
                <a:solidFill>
                  <a:srgbClr val="AEBBD3"/>
                </a:solidFill>
                <a:latin typeface="Aptos"/>
              </a:defRPr>
            </a:pPr>
            <a:r>
              <a:t>Validation and gateway failures are explicit; local context includes source titles.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07 • LOCAL IMPLEMENTATION</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Local mode: end-to-end RAG without external accounts</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A compact development loop using local files, an in-memory index and Ollama models.</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07 / 10</a:t>
            </a:r>
          </a:p>
        </p:txBody>
      </p:sp>
      <p:sp>
        <p:nvSpPr>
          <p:cNvPr id="7" name="Rounded Rectangle 6"/>
          <p:cNvSpPr/>
          <p:nvPr/>
        </p:nvSpPr>
        <p:spPr>
          <a:xfrm>
            <a:off x="594360" y="2395728"/>
            <a:ext cx="182880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knowledge/</a:t>
            </a:r>
            <a:br/>
            <a:r>
              <a:t>Markdown + text</a:t>
            </a:r>
          </a:p>
        </p:txBody>
      </p:sp>
      <p:sp>
        <p:nvSpPr>
          <p:cNvPr id="8" name="Rounded Rectangle 7"/>
          <p:cNvSpPr/>
          <p:nvPr/>
        </p:nvSpPr>
        <p:spPr>
          <a:xfrm>
            <a:off x="2880360" y="2395728"/>
            <a:ext cx="182880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Chunk + embed</a:t>
            </a:r>
            <a:br/>
            <a:r>
              <a:t>via Ollama</a:t>
            </a:r>
          </a:p>
        </p:txBody>
      </p:sp>
      <p:sp>
        <p:nvSpPr>
          <p:cNvPr id="9" name="Rounded Rectangle 8"/>
          <p:cNvSpPr/>
          <p:nvPr/>
        </p:nvSpPr>
        <p:spPr>
          <a:xfrm>
            <a:off x="5166360" y="2395728"/>
            <a:ext cx="1828800" cy="84124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In-memory</a:t>
            </a:r>
            <a:br/>
            <a:r>
              <a:t>vector index</a:t>
            </a:r>
          </a:p>
        </p:txBody>
      </p:sp>
      <p:sp>
        <p:nvSpPr>
          <p:cNvPr id="10" name="Rounded Rectangle 9"/>
          <p:cNvSpPr/>
          <p:nvPr/>
        </p:nvSpPr>
        <p:spPr>
          <a:xfrm>
            <a:off x="7452360" y="2395728"/>
            <a:ext cx="182880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Kong OSS</a:t>
            </a:r>
            <a:br/>
            <a:r>
              <a:t>proxy</a:t>
            </a:r>
          </a:p>
        </p:txBody>
      </p:sp>
      <p:sp>
        <p:nvSpPr>
          <p:cNvPr id="11" name="Rounded Rectangle 10"/>
          <p:cNvSpPr/>
          <p:nvPr/>
        </p:nvSpPr>
        <p:spPr>
          <a:xfrm>
            <a:off x="9738360" y="2395728"/>
            <a:ext cx="182880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defRPr sz="1200" b="1">
                <a:solidFill>
                  <a:srgbClr val="F4F7FF"/>
                </a:solidFill>
                <a:latin typeface="Aptos"/>
              </a:defRPr>
            </a:pPr>
            <a:r>
              <a:t>Ollama chat</a:t>
            </a:r>
            <a:br/>
            <a:r>
              <a:t>model</a:t>
            </a:r>
          </a:p>
        </p:txBody>
      </p:sp>
      <p:cxnSp>
        <p:nvCxnSpPr>
          <p:cNvPr id="12" name="Connector 11"/>
          <p:cNvCxnSpPr/>
          <p:nvPr/>
        </p:nvCxnSpPr>
        <p:spPr>
          <a:xfrm>
            <a:off x="2468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54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40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326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794760"/>
            <a:ext cx="5166360" cy="160020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60120" y="4041648"/>
            <a:ext cx="109728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6696" y="4059935"/>
            <a:ext cx="102412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AT STARTUP</a:t>
            </a:r>
          </a:p>
        </p:txBody>
      </p:sp>
      <p:sp>
        <p:nvSpPr>
          <p:cNvPr id="19" name="TextBox 18"/>
          <p:cNvSpPr txBox="1"/>
          <p:nvPr/>
        </p:nvSpPr>
        <p:spPr>
          <a:xfrm>
            <a:off x="960120" y="4526280"/>
            <a:ext cx="4480560" cy="502920"/>
          </a:xfrm>
          <a:prstGeom prst="rect">
            <a:avLst/>
          </a:prstGeom>
          <a:noFill/>
        </p:spPr>
        <p:txBody>
          <a:bodyPr wrap="square" lIns="36576" tIns="36576" rIns="36576" bIns="36576" anchor="t">
            <a:spAutoFit/>
          </a:bodyPr>
          <a:lstStyle/>
          <a:p>
            <a:pPr algn="l">
              <a:spcAft>
                <a:spcPts val="400"/>
              </a:spcAft>
              <a:defRPr sz="1300" b="0" i="0">
                <a:solidFill>
                  <a:srgbClr val="F4F7FF"/>
                </a:solidFill>
                <a:latin typeface="Aptos"/>
              </a:defRPr>
            </a:pPr>
            <a:r>
              <a:t>Read mounted, read-only files; split into chunks; embed; build the in-memory index.</a:t>
            </a:r>
          </a:p>
        </p:txBody>
      </p:sp>
      <p:sp>
        <p:nvSpPr>
          <p:cNvPr id="20" name="Rounded Rectangle 19"/>
          <p:cNvSpPr/>
          <p:nvPr/>
        </p:nvSpPr>
        <p:spPr>
          <a:xfrm>
            <a:off x="6263640" y="3794760"/>
            <a:ext cx="5166360" cy="160020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37960" y="4041648"/>
            <a:ext cx="132588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74536" y="4059935"/>
            <a:ext cx="125272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PER QUESTION</a:t>
            </a:r>
          </a:p>
        </p:txBody>
      </p:sp>
      <p:sp>
        <p:nvSpPr>
          <p:cNvPr id="23" name="TextBox 22"/>
          <p:cNvSpPr txBox="1"/>
          <p:nvPr/>
        </p:nvSpPr>
        <p:spPr>
          <a:xfrm>
            <a:off x="6537960" y="4526280"/>
            <a:ext cx="4480560" cy="502920"/>
          </a:xfrm>
          <a:prstGeom prst="rect">
            <a:avLst/>
          </a:prstGeom>
          <a:noFill/>
        </p:spPr>
        <p:txBody>
          <a:bodyPr wrap="square" lIns="36576" tIns="36576" rIns="36576" bIns="36576" anchor="t">
            <a:spAutoFit/>
          </a:bodyPr>
          <a:lstStyle/>
          <a:p>
            <a:pPr algn="l">
              <a:spcAft>
                <a:spcPts val="400"/>
              </a:spcAft>
              <a:defRPr sz="1300" b="0" i="0">
                <a:solidFill>
                  <a:srgbClr val="F4F7FF"/>
                </a:solidFill>
                <a:latin typeface="Aptos"/>
              </a:defRPr>
            </a:pPr>
            <a:r>
              <a:t>Embed query; rank by cosine similarity; send best passages and titles to the chat route.</a:t>
            </a:r>
          </a:p>
        </p:txBody>
      </p:sp>
      <p:sp>
        <p:nvSpPr>
          <p:cNvPr id="24" name="Rounded Rectangle 23"/>
          <p:cNvSpPr/>
          <p:nvPr/>
        </p:nvSpPr>
        <p:spPr>
          <a:xfrm>
            <a:off x="1097280" y="5715000"/>
            <a:ext cx="10012680" cy="502920"/>
          </a:xfrm>
          <a:prstGeom prst="roundRect">
            <a:avLst/>
          </a:prstGeom>
          <a:solidFill>
            <a:srgbClr val="271F22"/>
          </a:solidFill>
          <a:ln w="12700">
            <a:solidFill>
              <a:srgbClr val="68493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325880" y="5843016"/>
            <a:ext cx="9509760" cy="201168"/>
          </a:xfrm>
          <a:prstGeom prst="rect">
            <a:avLst/>
          </a:prstGeom>
          <a:noFill/>
        </p:spPr>
        <p:txBody>
          <a:bodyPr wrap="square" lIns="36576" tIns="36576" rIns="36576" bIns="36576" anchor="t">
            <a:spAutoFit/>
          </a:bodyPr>
          <a:lstStyle/>
          <a:p>
            <a:pPr algn="ctr">
              <a:spcAft>
                <a:spcPts val="400"/>
              </a:spcAft>
              <a:defRPr sz="1100" b="1" i="0">
                <a:solidFill>
                  <a:srgbClr val="FFB55B"/>
                </a:solidFill>
                <a:latin typeface="Aptos"/>
              </a:defRPr>
            </a:pPr>
            <a:r>
              <a:t>Operational note: empty corpus or embedding failure prevents startup; restart rebuilds and re-embeds the index.</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08 • REPEATABILITY</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Infrastructure as Code: repeatable environments</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Describe the environment once, review changes, and provision it consistently.</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08 / 10</a:t>
            </a:r>
          </a:p>
        </p:txBody>
      </p:sp>
      <p:sp>
        <p:nvSpPr>
          <p:cNvPr id="7" name="Rounded Rectangle 6"/>
          <p:cNvSpPr/>
          <p:nvPr/>
        </p:nvSpPr>
        <p:spPr>
          <a:xfrm>
            <a:off x="685800" y="2029968"/>
            <a:ext cx="3063240" cy="352044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60120" y="2304288"/>
            <a:ext cx="10515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96696" y="2322576"/>
            <a:ext cx="97840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COMPOSE</a:t>
            </a:r>
          </a:p>
        </p:txBody>
      </p:sp>
      <p:sp>
        <p:nvSpPr>
          <p:cNvPr id="10" name="TextBox 9"/>
          <p:cNvSpPr txBox="1"/>
          <p:nvPr/>
        </p:nvSpPr>
        <p:spPr>
          <a:xfrm>
            <a:off x="960120" y="2880360"/>
            <a:ext cx="2468880" cy="320040"/>
          </a:xfrm>
          <a:prstGeom prst="rect">
            <a:avLst/>
          </a:prstGeom>
          <a:noFill/>
        </p:spPr>
        <p:txBody>
          <a:bodyPr wrap="square" lIns="36576" tIns="36576" rIns="36576" bIns="36576" anchor="t">
            <a:spAutoFit/>
          </a:bodyPr>
          <a:lstStyle/>
          <a:p>
            <a:pPr algn="l">
              <a:spcAft>
                <a:spcPts val="400"/>
              </a:spcAft>
              <a:defRPr sz="1800" b="1" i="0">
                <a:solidFill>
                  <a:srgbClr val="F4F7FF"/>
                </a:solidFill>
                <a:latin typeface="Aptos"/>
              </a:defRPr>
            </a:pPr>
            <a:r>
              <a:t>Container stacks</a:t>
            </a:r>
          </a:p>
        </p:txBody>
      </p:sp>
      <p:sp>
        <p:nvSpPr>
          <p:cNvPr id="11" name="TextBox 10"/>
          <p:cNvSpPr txBox="1"/>
          <p:nvPr/>
        </p:nvSpPr>
        <p:spPr>
          <a:xfrm>
            <a:off x="960120" y="3429000"/>
            <a:ext cx="2514600" cy="1508760"/>
          </a:xfrm>
          <a:prstGeom prst="rect">
            <a:avLst/>
          </a:prstGeom>
          <a:noFill/>
        </p:spPr>
        <p:txBody>
          <a:bodyPr wrap="square" lIns="45720" tIns="27432" rIns="45720" bIns="27432">
            <a:spAutoFit/>
          </a:bodyPr>
          <a:lstStyle/>
          <a:p>
            <a:pPr>
              <a:spcAft>
                <a:spcPts val="1000"/>
              </a:spcAft>
              <a:defRPr sz="1200">
                <a:solidFill>
                  <a:srgbClr val="F4F7FF"/>
                </a:solidFill>
                <a:latin typeface="Aptos"/>
              </a:defRPr>
            </a:pPr>
            <a:r>
              <a:rPr sz="1100">
                <a:solidFill>
                  <a:srgbClr val="42D3E6"/>
                </a:solidFill>
              </a:rPr>
              <a:t>●  </a:t>
            </a:r>
            <a:r>
              <a:rPr sz="1200">
                <a:solidFill>
                  <a:srgbClr val="F4F7FF"/>
                </a:solidFill>
              </a:rPr>
              <a:t>Local and Konnect services</a:t>
            </a:r>
          </a:p>
          <a:p>
            <a:pPr>
              <a:spcAft>
                <a:spcPts val="1000"/>
              </a:spcAft>
              <a:defRPr sz="1200">
                <a:solidFill>
                  <a:srgbClr val="F4F7FF"/>
                </a:solidFill>
                <a:latin typeface="Aptos"/>
              </a:defRPr>
            </a:pPr>
            <a:r>
              <a:rPr sz="1100">
                <a:solidFill>
                  <a:srgbClr val="42D3E6"/>
                </a:solidFill>
              </a:rPr>
              <a:t>●  </a:t>
            </a:r>
            <a:r>
              <a:rPr sz="1200">
                <a:solidFill>
                  <a:srgbClr val="F4F7FF"/>
                </a:solidFill>
              </a:rPr>
              <a:t>Volumes, ports and environment</a:t>
            </a:r>
          </a:p>
          <a:p>
            <a:pPr>
              <a:spcAft>
                <a:spcPts val="1000"/>
              </a:spcAft>
              <a:defRPr sz="1200">
                <a:solidFill>
                  <a:srgbClr val="F4F7FF"/>
                </a:solidFill>
                <a:latin typeface="Aptos"/>
              </a:defRPr>
            </a:pPr>
            <a:r>
              <a:rPr sz="1100">
                <a:solidFill>
                  <a:srgbClr val="42D3E6"/>
                </a:solidFill>
              </a:rPr>
              <a:t>●  </a:t>
            </a:r>
            <a:r>
              <a:rPr sz="1200">
                <a:solidFill>
                  <a:srgbClr val="F4F7FF"/>
                </a:solidFill>
              </a:rPr>
              <a:t>Mode-specific container settings</a:t>
            </a:r>
          </a:p>
        </p:txBody>
      </p:sp>
      <p:sp>
        <p:nvSpPr>
          <p:cNvPr id="12" name="Rounded Rectangle 11"/>
          <p:cNvSpPr/>
          <p:nvPr/>
        </p:nvSpPr>
        <p:spPr>
          <a:xfrm>
            <a:off x="4526280" y="2029968"/>
            <a:ext cx="3063240" cy="352044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800600" y="2304288"/>
            <a:ext cx="123444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37176" y="2322576"/>
            <a:ext cx="116128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TERRAFORM</a:t>
            </a:r>
          </a:p>
        </p:txBody>
      </p:sp>
      <p:sp>
        <p:nvSpPr>
          <p:cNvPr id="15" name="TextBox 14"/>
          <p:cNvSpPr txBox="1"/>
          <p:nvPr/>
        </p:nvSpPr>
        <p:spPr>
          <a:xfrm>
            <a:off x="4800600" y="2880360"/>
            <a:ext cx="2468880" cy="320040"/>
          </a:xfrm>
          <a:prstGeom prst="rect">
            <a:avLst/>
          </a:prstGeom>
          <a:noFill/>
        </p:spPr>
        <p:txBody>
          <a:bodyPr wrap="square" lIns="36576" tIns="36576" rIns="36576" bIns="36576" anchor="t">
            <a:spAutoFit/>
          </a:bodyPr>
          <a:lstStyle/>
          <a:p>
            <a:pPr algn="l">
              <a:spcAft>
                <a:spcPts val="400"/>
              </a:spcAft>
              <a:defRPr sz="1800" b="1" i="0">
                <a:solidFill>
                  <a:srgbClr val="F4F7FF"/>
                </a:solidFill>
                <a:latin typeface="Aptos"/>
              </a:defRPr>
            </a:pPr>
            <a:r>
              <a:t>Declarative resources</a:t>
            </a:r>
          </a:p>
        </p:txBody>
      </p:sp>
      <p:sp>
        <p:nvSpPr>
          <p:cNvPr id="16" name="TextBox 15"/>
          <p:cNvSpPr txBox="1"/>
          <p:nvPr/>
        </p:nvSpPr>
        <p:spPr>
          <a:xfrm>
            <a:off x="4800600" y="3429000"/>
            <a:ext cx="2514600" cy="1508760"/>
          </a:xfrm>
          <a:prstGeom prst="rect">
            <a:avLst/>
          </a:prstGeom>
          <a:noFill/>
        </p:spPr>
        <p:txBody>
          <a:bodyPr wrap="square" lIns="45720" tIns="27432" rIns="45720" bIns="27432">
            <a:spAutoFit/>
          </a:bodyPr>
          <a:lstStyle/>
          <a:p>
            <a:pPr>
              <a:spcAft>
                <a:spcPts val="1000"/>
              </a:spcAft>
              <a:defRPr sz="1200">
                <a:solidFill>
                  <a:srgbClr val="F4F7FF"/>
                </a:solidFill>
                <a:latin typeface="Aptos"/>
              </a:defRPr>
            </a:pPr>
            <a:r>
              <a:rPr sz="1100">
                <a:solidFill>
                  <a:srgbClr val="A07DFF"/>
                </a:solidFill>
              </a:rPr>
              <a:t>●  </a:t>
            </a:r>
            <a:r>
              <a:rPr sz="1200">
                <a:solidFill>
                  <a:srgbClr val="F4F7FF"/>
                </a:solidFill>
              </a:rPr>
              <a:t>Docker networks + images</a:t>
            </a:r>
          </a:p>
          <a:p>
            <a:pPr>
              <a:spcAft>
                <a:spcPts val="1000"/>
              </a:spcAft>
              <a:defRPr sz="1200">
                <a:solidFill>
                  <a:srgbClr val="F4F7FF"/>
                </a:solidFill>
                <a:latin typeface="Aptos"/>
              </a:defRPr>
            </a:pPr>
            <a:r>
              <a:rPr sz="1100">
                <a:solidFill>
                  <a:srgbClr val="A07DFF"/>
                </a:solidFill>
              </a:rPr>
              <a:t>●  </a:t>
            </a:r>
            <a:r>
              <a:rPr sz="1200">
                <a:solidFill>
                  <a:srgbClr val="F4F7FF"/>
                </a:solidFill>
              </a:rPr>
              <a:t>Containers, volumes and ports</a:t>
            </a:r>
          </a:p>
          <a:p>
            <a:pPr>
              <a:spcAft>
                <a:spcPts val="1000"/>
              </a:spcAft>
              <a:defRPr sz="1200">
                <a:solidFill>
                  <a:srgbClr val="F4F7FF"/>
                </a:solidFill>
                <a:latin typeface="Aptos"/>
              </a:defRPr>
            </a:pPr>
            <a:r>
              <a:rPr sz="1100">
                <a:solidFill>
                  <a:srgbClr val="A07DFF"/>
                </a:solidFill>
              </a:rPr>
              <a:t>●  </a:t>
            </a:r>
            <a:r>
              <a:rPr sz="1200">
                <a:solidFill>
                  <a:srgbClr val="F4F7FF"/>
                </a:solidFill>
              </a:rPr>
              <a:t>Variable selects local / Konnect</a:t>
            </a:r>
          </a:p>
        </p:txBody>
      </p:sp>
      <p:sp>
        <p:nvSpPr>
          <p:cNvPr id="17" name="Rounded Rectangle 16"/>
          <p:cNvSpPr/>
          <p:nvPr/>
        </p:nvSpPr>
        <p:spPr>
          <a:xfrm>
            <a:off x="8366760" y="2029968"/>
            <a:ext cx="3063240" cy="3520440"/>
          </a:xfrm>
          <a:prstGeom prst="roundRect">
            <a:avLst/>
          </a:prstGeom>
          <a:solidFill>
            <a:srgbClr val="112427"/>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641080" y="2304288"/>
            <a:ext cx="141732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77655" y="2322576"/>
            <a:ext cx="1344168"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MAKE TARGETS</a:t>
            </a:r>
          </a:p>
        </p:txBody>
      </p:sp>
      <p:sp>
        <p:nvSpPr>
          <p:cNvPr id="20" name="TextBox 19"/>
          <p:cNvSpPr txBox="1"/>
          <p:nvPr/>
        </p:nvSpPr>
        <p:spPr>
          <a:xfrm>
            <a:off x="8641080" y="2880360"/>
            <a:ext cx="2468880" cy="320040"/>
          </a:xfrm>
          <a:prstGeom prst="rect">
            <a:avLst/>
          </a:prstGeom>
          <a:noFill/>
        </p:spPr>
        <p:txBody>
          <a:bodyPr wrap="square" lIns="36576" tIns="36576" rIns="36576" bIns="36576" anchor="t">
            <a:spAutoFit/>
          </a:bodyPr>
          <a:lstStyle/>
          <a:p>
            <a:pPr algn="l">
              <a:spcAft>
                <a:spcPts val="400"/>
              </a:spcAft>
              <a:defRPr sz="1800" b="1" i="0">
                <a:solidFill>
                  <a:srgbClr val="F4F7FF"/>
                </a:solidFill>
                <a:latin typeface="Aptos"/>
              </a:defRPr>
            </a:pPr>
            <a:r>
              <a:t>Simple workflows</a:t>
            </a:r>
          </a:p>
        </p:txBody>
      </p:sp>
      <p:sp>
        <p:nvSpPr>
          <p:cNvPr id="21" name="TextBox 20"/>
          <p:cNvSpPr txBox="1"/>
          <p:nvPr/>
        </p:nvSpPr>
        <p:spPr>
          <a:xfrm>
            <a:off x="8641080" y="3429000"/>
            <a:ext cx="2423160" cy="7772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make terraform-up</a:t>
            </a:r>
          </a:p>
          <a:p>
            <a:pPr algn="l">
              <a:spcAft>
                <a:spcPts val="400"/>
              </a:spcAft>
              <a:defRPr sz="1200" b="0" i="0">
                <a:solidFill>
                  <a:srgbClr val="F4F7FF"/>
                </a:solidFill>
                <a:latin typeface="Aptos"/>
              </a:defRPr>
            </a:pPr>
            <a:endParaRPr/>
          </a:p>
          <a:p>
            <a:pPr algn="l">
              <a:spcAft>
                <a:spcPts val="400"/>
              </a:spcAft>
              <a:defRPr sz="1200" b="0" i="0">
                <a:solidFill>
                  <a:srgbClr val="F4F7FF"/>
                </a:solidFill>
                <a:latin typeface="Aptos"/>
              </a:defRPr>
            </a:pPr>
            <a:r>
              <a:t>Apply configuration and wait for API readiness.</a:t>
            </a:r>
          </a:p>
        </p:txBody>
      </p:sp>
      <p:sp>
        <p:nvSpPr>
          <p:cNvPr id="22" name="TextBox 21"/>
          <p:cNvSpPr txBox="1"/>
          <p:nvPr/>
        </p:nvSpPr>
        <p:spPr>
          <a:xfrm>
            <a:off x="8641080" y="4389120"/>
            <a:ext cx="2423160" cy="777240"/>
          </a:xfrm>
          <a:prstGeom prst="rect">
            <a:avLst/>
          </a:prstGeom>
          <a:noFill/>
        </p:spPr>
        <p:txBody>
          <a:bodyPr wrap="square" lIns="36576" tIns="36576" rIns="36576" bIns="36576" anchor="t">
            <a:spAutoFit/>
          </a:bodyPr>
          <a:lstStyle/>
          <a:p>
            <a:pPr algn="l">
              <a:spcAft>
                <a:spcPts val="400"/>
              </a:spcAft>
              <a:defRPr sz="1200" b="0" i="0">
                <a:solidFill>
                  <a:srgbClr val="F4F7FF"/>
                </a:solidFill>
                <a:latin typeface="Aptos"/>
              </a:defRPr>
            </a:pPr>
            <a:r>
              <a:t>make terraform-down</a:t>
            </a:r>
          </a:p>
          <a:p>
            <a:pPr algn="l">
              <a:spcAft>
                <a:spcPts val="400"/>
              </a:spcAft>
              <a:defRPr sz="1200" b="0" i="0">
                <a:solidFill>
                  <a:srgbClr val="F4F7FF"/>
                </a:solidFill>
                <a:latin typeface="Aptos"/>
              </a:defRPr>
            </a:pPr>
            <a:endParaRPr/>
          </a:p>
          <a:p>
            <a:pPr algn="l">
              <a:spcAft>
                <a:spcPts val="400"/>
              </a:spcAft>
              <a:defRPr sz="1200" b="0" i="0">
                <a:solidFill>
                  <a:srgbClr val="F4F7FF"/>
                </a:solidFill>
                <a:latin typeface="Aptos"/>
              </a:defRPr>
            </a:pPr>
            <a:r>
              <a:t>Remove Terraform-managed resources.</a:t>
            </a:r>
          </a:p>
        </p:txBody>
      </p:sp>
      <p:sp>
        <p:nvSpPr>
          <p:cNvPr id="23" name="Rounded Rectangle 22"/>
          <p:cNvSpPr/>
          <p:nvPr/>
        </p:nvSpPr>
        <p:spPr>
          <a:xfrm>
            <a:off x="1005840" y="5779008"/>
            <a:ext cx="10149840" cy="438912"/>
          </a:xfrm>
          <a:prstGeom prst="roundRect">
            <a:avLst/>
          </a:prstGeom>
          <a:solidFill>
            <a:srgbClr val="26201A"/>
          </a:solidFill>
          <a:ln w="12700">
            <a:solidFill>
              <a:srgbClr val="6E583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34440" y="5879592"/>
            <a:ext cx="9692640" cy="182880"/>
          </a:xfrm>
          <a:prstGeom prst="rect">
            <a:avLst/>
          </a:prstGeom>
          <a:noFill/>
        </p:spPr>
        <p:txBody>
          <a:bodyPr wrap="square" lIns="36576" tIns="36576" rIns="36576" bIns="36576" anchor="t">
            <a:spAutoFit/>
          </a:bodyPr>
          <a:lstStyle/>
          <a:p>
            <a:pPr algn="ctr">
              <a:spcAft>
                <a:spcPts val="400"/>
              </a:spcAft>
              <a:defRPr sz="1100" b="1" i="0">
                <a:solidFill>
                  <a:srgbClr val="FFB55B"/>
                </a:solidFill>
                <a:latin typeface="Aptos"/>
              </a:defRPr>
            </a:pPr>
            <a:r>
              <a:t>Run `terraform plan` before apply. Current provider targets Docker; cloud deployment needs platform-specific resources.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09 • SECURITY &amp; OPERATIONS</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Operations, trust boundaries, and production gaps</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A successful smoke test proves a path works — not that it is production-secure.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09 / 10</a:t>
            </a:r>
          </a:p>
        </p:txBody>
      </p:sp>
      <p:sp>
        <p:nvSpPr>
          <p:cNvPr id="7" name="Rounded Rectangle 6"/>
          <p:cNvSpPr/>
          <p:nvPr/>
        </p:nvSpPr>
        <p:spPr>
          <a:xfrm>
            <a:off x="640080" y="1993392"/>
            <a:ext cx="5349240"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4400" y="2286000"/>
            <a:ext cx="17373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304288"/>
            <a:ext cx="166420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CURRENT SAFEGUARDS</a:t>
            </a:r>
          </a:p>
        </p:txBody>
      </p:sp>
      <p:sp>
        <p:nvSpPr>
          <p:cNvPr id="10" name="TextBox 9"/>
          <p:cNvSpPr txBox="1"/>
          <p:nvPr/>
        </p:nvSpPr>
        <p:spPr>
          <a:xfrm>
            <a:off x="914400" y="2788920"/>
            <a:ext cx="4709160" cy="2423160"/>
          </a:xfrm>
          <a:prstGeom prst="rect">
            <a:avLst/>
          </a:prstGeom>
          <a:noFill/>
        </p:spPr>
        <p:txBody>
          <a:bodyPr wrap="square" lIns="45720" tIns="27432" rIns="45720" bIns="27432">
            <a:spAutoFit/>
          </a:bodyPr>
          <a:lstStyle/>
          <a:p>
            <a:pPr>
              <a:spcAft>
                <a:spcPts val="900"/>
              </a:spcAft>
              <a:defRPr sz="1200">
                <a:solidFill>
                  <a:srgbClr val="F4F7FF"/>
                </a:solidFill>
                <a:latin typeface="Aptos"/>
              </a:defRPr>
            </a:pPr>
            <a:r>
              <a:rPr sz="1100">
                <a:solidFill>
                  <a:srgbClr val="48E0B8"/>
                </a:solidFill>
              </a:rPr>
              <a:t>●  </a:t>
            </a:r>
            <a:r>
              <a:rPr sz="1200" b="1">
                <a:solidFill>
                  <a:srgbClr val="F4F7FF"/>
                </a:solidFill>
              </a:rPr>
              <a:t>Loopback binding. </a:t>
            </a:r>
            <a:r>
              <a:rPr sz="1200">
                <a:solidFill>
                  <a:srgbClr val="F4F7FF"/>
                </a:solidFill>
              </a:rPr>
              <a:t>Local published ports bind to localhost.</a:t>
            </a:r>
          </a:p>
          <a:p>
            <a:pPr>
              <a:spcAft>
                <a:spcPts val="900"/>
              </a:spcAft>
              <a:defRPr sz="1200">
                <a:solidFill>
                  <a:srgbClr val="F4F7FF"/>
                </a:solidFill>
                <a:latin typeface="Aptos"/>
              </a:defRPr>
            </a:pPr>
            <a:r>
              <a:rPr sz="1100">
                <a:solidFill>
                  <a:srgbClr val="48E0B8"/>
                </a:solidFill>
              </a:rPr>
              <a:t>●  </a:t>
            </a:r>
            <a:r>
              <a:rPr sz="1200" b="1">
                <a:solidFill>
                  <a:srgbClr val="F4F7FF"/>
                </a:solidFill>
              </a:rPr>
              <a:t>Reduced exposure. </a:t>
            </a:r>
            <a:r>
              <a:rPr sz="1200">
                <a:solidFill>
                  <a:srgbClr val="F4F7FF"/>
                </a:solidFill>
              </a:rPr>
              <a:t>Admin API and Redis are not published to the host in the provided stacks.</a:t>
            </a:r>
          </a:p>
          <a:p>
            <a:pPr>
              <a:spcAft>
                <a:spcPts val="900"/>
              </a:spcAft>
              <a:defRPr sz="1200">
                <a:solidFill>
                  <a:srgbClr val="F4F7FF"/>
                </a:solidFill>
                <a:latin typeface="Aptos"/>
              </a:defRPr>
            </a:pPr>
            <a:r>
              <a:rPr sz="1100">
                <a:solidFill>
                  <a:srgbClr val="48E0B8"/>
                </a:solidFill>
              </a:rPr>
              <a:t>●  </a:t>
            </a:r>
            <a:r>
              <a:rPr sz="1200" b="1">
                <a:solidFill>
                  <a:srgbClr val="F4F7FF"/>
                </a:solidFill>
              </a:rPr>
              <a:t>Explicit trust boundaries. </a:t>
            </a:r>
            <a:r>
              <a:rPr sz="1200">
                <a:solidFill>
                  <a:srgbClr val="F4F7FF"/>
                </a:solidFill>
              </a:rPr>
              <a:t>Konnect ingestion sends documents to the external embedding provider.</a:t>
            </a:r>
          </a:p>
          <a:p>
            <a:pPr>
              <a:spcAft>
                <a:spcPts val="900"/>
              </a:spcAft>
              <a:defRPr sz="1200">
                <a:solidFill>
                  <a:srgbClr val="F4F7FF"/>
                </a:solidFill>
                <a:latin typeface="Aptos"/>
              </a:defRPr>
            </a:pPr>
            <a:r>
              <a:rPr sz="1100">
                <a:solidFill>
                  <a:srgbClr val="48E0B8"/>
                </a:solidFill>
              </a:rPr>
              <a:t>●  </a:t>
            </a:r>
            <a:r>
              <a:rPr sz="1200" b="1">
                <a:solidFill>
                  <a:srgbClr val="F4F7FF"/>
                </a:solidFill>
              </a:rPr>
              <a:t>Private state. </a:t>
            </a:r>
            <a:r>
              <a:rPr sz="1200">
                <a:solidFill>
                  <a:srgbClr val="F4F7FF"/>
                </a:solidFill>
              </a:rPr>
              <a:t>Terraform state contains the Redis password; protect credentials and certificates.</a:t>
            </a:r>
          </a:p>
        </p:txBody>
      </p:sp>
      <p:sp>
        <p:nvSpPr>
          <p:cNvPr id="11" name="Rounded Rectangle 10"/>
          <p:cNvSpPr/>
          <p:nvPr/>
        </p:nvSpPr>
        <p:spPr>
          <a:xfrm>
            <a:off x="6263640" y="1993392"/>
            <a:ext cx="5303520" cy="3611880"/>
          </a:xfrm>
          <a:prstGeom prst="roundRect">
            <a:avLst/>
          </a:prstGeom>
          <a:solidFill>
            <a:srgbClr val="271C24"/>
          </a:solidFill>
          <a:ln w="12700">
            <a:solidFill>
              <a:srgbClr val="7042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537960" y="2286000"/>
            <a:ext cx="1737360" cy="292608"/>
          </a:xfrm>
          <a:prstGeom prst="roundRect">
            <a:avLst/>
          </a:prstGeom>
          <a:solidFill>
            <a:srgbClr val="FF73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74536" y="2304288"/>
            <a:ext cx="166420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BEFORE EXPOSING IT</a:t>
            </a:r>
          </a:p>
        </p:txBody>
      </p:sp>
      <p:sp>
        <p:nvSpPr>
          <p:cNvPr id="14" name="TextBox 13"/>
          <p:cNvSpPr txBox="1"/>
          <p:nvPr/>
        </p:nvSpPr>
        <p:spPr>
          <a:xfrm>
            <a:off x="6537960" y="2834640"/>
            <a:ext cx="4617720" cy="2011680"/>
          </a:xfrm>
          <a:prstGeom prst="rect">
            <a:avLst/>
          </a:prstGeom>
          <a:noFill/>
        </p:spPr>
        <p:txBody>
          <a:bodyPr wrap="square" lIns="45720" tIns="27432" rIns="45720" bIns="27432">
            <a:spAutoFit/>
          </a:bodyPr>
          <a:lstStyle/>
          <a:p>
            <a:pPr>
              <a:spcAft>
                <a:spcPts val="1300"/>
              </a:spcAft>
              <a:defRPr sz="1300">
                <a:solidFill>
                  <a:srgbClr val="F4F7FF"/>
                </a:solidFill>
                <a:latin typeface="Aptos"/>
              </a:defRPr>
            </a:pPr>
            <a:r>
              <a:rPr sz="1200">
                <a:solidFill>
                  <a:srgbClr val="FF7382"/>
                </a:solidFill>
              </a:rPr>
              <a:t>●  </a:t>
            </a:r>
            <a:r>
              <a:rPr sz="1300">
                <a:solidFill>
                  <a:srgbClr val="F4F7FF"/>
                </a:solidFill>
              </a:rPr>
              <a:t>Authentication and authorization</a:t>
            </a:r>
          </a:p>
          <a:p>
            <a:pPr>
              <a:spcAft>
                <a:spcPts val="1300"/>
              </a:spcAft>
              <a:defRPr sz="1300">
                <a:solidFill>
                  <a:srgbClr val="F4F7FF"/>
                </a:solidFill>
                <a:latin typeface="Aptos"/>
              </a:defRPr>
            </a:pPr>
            <a:r>
              <a:rPr sz="1200">
                <a:solidFill>
                  <a:srgbClr val="FF7382"/>
                </a:solidFill>
              </a:rPr>
              <a:t>●  </a:t>
            </a:r>
            <a:r>
              <a:rPr sz="1300">
                <a:solidFill>
                  <a:srgbClr val="F4F7FF"/>
                </a:solidFill>
              </a:rPr>
              <a:t>Tenant-scoped retrieval and access controls</a:t>
            </a:r>
          </a:p>
          <a:p>
            <a:pPr>
              <a:spcAft>
                <a:spcPts val="1300"/>
              </a:spcAft>
              <a:defRPr sz="1300">
                <a:solidFill>
                  <a:srgbClr val="F4F7FF"/>
                </a:solidFill>
                <a:latin typeface="Aptos"/>
              </a:defRPr>
            </a:pPr>
            <a:r>
              <a:rPr sz="1200">
                <a:solidFill>
                  <a:srgbClr val="FF7382"/>
                </a:solidFill>
              </a:rPr>
              <a:t>●  </a:t>
            </a:r>
            <a:r>
              <a:rPr sz="1300">
                <a:solidFill>
                  <a:srgbClr val="F4F7FF"/>
                </a:solidFill>
              </a:rPr>
              <a:t>TLS, secret management and monitoring</a:t>
            </a:r>
          </a:p>
          <a:p>
            <a:pPr>
              <a:spcAft>
                <a:spcPts val="1300"/>
              </a:spcAft>
              <a:defRPr sz="1300">
                <a:solidFill>
                  <a:srgbClr val="F4F7FF"/>
                </a:solidFill>
                <a:latin typeface="Aptos"/>
              </a:defRPr>
            </a:pPr>
            <a:r>
              <a:rPr sz="1200">
                <a:solidFill>
                  <a:srgbClr val="FF7382"/>
                </a:solidFill>
              </a:rPr>
              <a:t>●  </a:t>
            </a:r>
            <a:r>
              <a:rPr sz="1300">
                <a:solidFill>
                  <a:srgbClr val="F4F7FF"/>
                </a:solidFill>
              </a:rPr>
              <a:t>Backups, retention and capacity planning</a:t>
            </a:r>
          </a:p>
        </p:txBody>
      </p:sp>
      <p:sp>
        <p:nvSpPr>
          <p:cNvPr id="15" name="Rounded Rectangle 14"/>
          <p:cNvSpPr/>
          <p:nvPr/>
        </p:nvSpPr>
        <p:spPr>
          <a:xfrm>
            <a:off x="1097280" y="5806440"/>
            <a:ext cx="10012680" cy="457200"/>
          </a:xfrm>
          <a:prstGeom prst="roundRect">
            <a:avLst/>
          </a:prstGeom>
          <a:solidFill>
            <a:srgbClr val="2A1E1D"/>
          </a:solidFill>
          <a:ln w="12700">
            <a:solidFill>
              <a:srgbClr val="734E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25880" y="5925312"/>
            <a:ext cx="9555480" cy="201168"/>
          </a:xfrm>
          <a:prstGeom prst="rect">
            <a:avLst/>
          </a:prstGeom>
          <a:noFill/>
        </p:spPr>
        <p:txBody>
          <a:bodyPr wrap="square" lIns="36576" tIns="36576" rIns="36576" bIns="36576" anchor="t">
            <a:spAutoFit/>
          </a:bodyPr>
          <a:lstStyle/>
          <a:p>
            <a:pPr algn="ctr">
              <a:spcAft>
                <a:spcPts val="400"/>
              </a:spcAft>
              <a:defRPr sz="1100" b="1" i="0">
                <a:solidFill>
                  <a:srgbClr val="FFB55B"/>
                </a:solidFill>
                <a:latin typeface="Aptos"/>
              </a:defRPr>
            </a:pPr>
            <a:r>
              <a:t>System prompts and similarity thresholds are not security boundaries; the support prompt is not a moderation plugin.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TextBox 1"/>
          <p:cNvSpPr txBox="1"/>
          <p:nvPr/>
        </p:nvSpPr>
        <p:spPr>
          <a:xfrm>
            <a:off x="566928" y="320040"/>
            <a:ext cx="4937760" cy="256032"/>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t>10 • WRAP-UP</a:t>
            </a:r>
          </a:p>
        </p:txBody>
      </p:sp>
      <p:sp>
        <p:nvSpPr>
          <p:cNvPr id="3" name="TextBox 2"/>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t>Takeaways and a practical walkthrough</a:t>
            </a:r>
          </a:p>
        </p:txBody>
      </p:sp>
      <p:sp>
        <p:nvSpPr>
          <p:cNvPr id="4" name="TextBox 3"/>
          <p:cNvSpPr txBox="1"/>
          <p:nvPr/>
        </p:nvSpPr>
        <p:spPr>
          <a:xfrm>
            <a:off x="585216" y="1197864"/>
            <a:ext cx="10972800" cy="384048"/>
          </a:xfrm>
          <a:prstGeom prst="rect">
            <a:avLst/>
          </a:prstGeom>
          <a:noFill/>
        </p:spPr>
        <p:txBody>
          <a:bodyPr wrap="square" lIns="36576" tIns="36576" rIns="36576" bIns="36576" anchor="t">
            <a:spAutoFit/>
          </a:bodyPr>
          <a:lstStyle/>
          <a:p>
            <a:pPr algn="l">
              <a:spcAft>
                <a:spcPts val="400"/>
              </a:spcAft>
              <a:defRPr sz="1200" b="0" i="0">
                <a:solidFill>
                  <a:srgbClr val="AEBBD3"/>
                </a:solidFill>
                <a:latin typeface="Aptos"/>
              </a:defRPr>
            </a:pPr>
            <a:r>
              <a:t>Keep the client API consistent while making retrieval and model connectivity selectable.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10 / 10</a:t>
            </a:r>
          </a:p>
        </p:txBody>
      </p:sp>
      <p:sp>
        <p:nvSpPr>
          <p:cNvPr id="7" name="Rounded Rectangle 6"/>
          <p:cNvSpPr/>
          <p:nvPr/>
        </p:nvSpPr>
        <p:spPr>
          <a:xfrm>
            <a:off x="685800" y="1965960"/>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103120"/>
            <a:ext cx="1691640" cy="219456"/>
          </a:xfrm>
          <a:prstGeom prst="rect">
            <a:avLst/>
          </a:prstGeom>
          <a:noFill/>
        </p:spPr>
        <p:txBody>
          <a:bodyPr wrap="square" lIns="36576" tIns="36576" rIns="36576" bIns="36576" anchor="t">
            <a:spAutoFit/>
          </a:bodyPr>
          <a:lstStyle/>
          <a:p>
            <a:pPr algn="l">
              <a:spcAft>
                <a:spcPts val="400"/>
              </a:spcAft>
              <a:defRPr sz="1300" b="1" i="0">
                <a:solidFill>
                  <a:srgbClr val="42D3E6"/>
                </a:solidFill>
                <a:latin typeface="Aptos"/>
              </a:defRPr>
            </a:pPr>
            <a:r>
              <a:t>RAG</a:t>
            </a:r>
          </a:p>
        </p:txBody>
      </p:sp>
      <p:sp>
        <p:nvSpPr>
          <p:cNvPr id="9" name="TextBox 8"/>
          <p:cNvSpPr txBox="1"/>
          <p:nvPr/>
        </p:nvSpPr>
        <p:spPr>
          <a:xfrm>
            <a:off x="2560320" y="2066543"/>
            <a:ext cx="3474720" cy="356616"/>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supplies project knowledge and makes source-grounded answers easier to trace.</a:t>
            </a:r>
          </a:p>
        </p:txBody>
      </p:sp>
      <p:sp>
        <p:nvSpPr>
          <p:cNvPr id="10" name="Rounded Rectangle 9"/>
          <p:cNvSpPr/>
          <p:nvPr/>
        </p:nvSpPr>
        <p:spPr>
          <a:xfrm>
            <a:off x="685800" y="2679191"/>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2816351"/>
            <a:ext cx="1691640" cy="219456"/>
          </a:xfrm>
          <a:prstGeom prst="rect">
            <a:avLst/>
          </a:prstGeom>
          <a:noFill/>
        </p:spPr>
        <p:txBody>
          <a:bodyPr wrap="square" lIns="36576" tIns="36576" rIns="36576" bIns="36576" anchor="t">
            <a:spAutoFit/>
          </a:bodyPr>
          <a:lstStyle/>
          <a:p>
            <a:pPr algn="l">
              <a:spcAft>
                <a:spcPts val="400"/>
              </a:spcAft>
              <a:defRPr sz="1300" b="1" i="0">
                <a:solidFill>
                  <a:srgbClr val="A07DFF"/>
                </a:solidFill>
                <a:latin typeface="Aptos"/>
              </a:defRPr>
            </a:pPr>
            <a:r>
              <a:t>Kong Gateway</a:t>
            </a:r>
          </a:p>
        </p:txBody>
      </p:sp>
      <p:sp>
        <p:nvSpPr>
          <p:cNvPr id="12" name="TextBox 11"/>
          <p:cNvSpPr txBox="1"/>
          <p:nvPr/>
        </p:nvSpPr>
        <p:spPr>
          <a:xfrm>
            <a:off x="2560320" y="2779775"/>
            <a:ext cx="3474720" cy="356616"/>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is the shared traffic boundary; Konnect adds centrally managed AI Gateway plugins.</a:t>
            </a:r>
          </a:p>
        </p:txBody>
      </p:sp>
      <p:sp>
        <p:nvSpPr>
          <p:cNvPr id="13" name="Rounded Rectangle 12"/>
          <p:cNvSpPr/>
          <p:nvPr/>
        </p:nvSpPr>
        <p:spPr>
          <a:xfrm>
            <a:off x="685800" y="3392424"/>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3529584"/>
            <a:ext cx="1691640" cy="219456"/>
          </a:xfrm>
          <a:prstGeom prst="rect">
            <a:avLst/>
          </a:prstGeom>
          <a:noFill/>
        </p:spPr>
        <p:txBody>
          <a:bodyPr wrap="square" lIns="36576" tIns="36576" rIns="36576" bIns="36576" anchor="t">
            <a:spAutoFit/>
          </a:bodyPr>
          <a:lstStyle/>
          <a:p>
            <a:pPr algn="l">
              <a:spcAft>
                <a:spcPts val="400"/>
              </a:spcAft>
              <a:defRPr sz="1300" b="1" i="0">
                <a:solidFill>
                  <a:srgbClr val="42D3E6"/>
                </a:solidFill>
                <a:latin typeface="Aptos"/>
              </a:defRPr>
            </a:pPr>
            <a:r>
              <a:t>Spring Boot</a:t>
            </a:r>
          </a:p>
        </p:txBody>
      </p:sp>
      <p:sp>
        <p:nvSpPr>
          <p:cNvPr id="15" name="TextBox 14"/>
          <p:cNvSpPr txBox="1"/>
          <p:nvPr/>
        </p:nvSpPr>
        <p:spPr>
          <a:xfrm>
            <a:off x="2560320" y="3493008"/>
            <a:ext cx="3474720" cy="356616"/>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owns the stable API and coordinates chat behavior across both modes.</a:t>
            </a:r>
          </a:p>
        </p:txBody>
      </p:sp>
      <p:sp>
        <p:nvSpPr>
          <p:cNvPr id="16" name="Rounded Rectangle 15"/>
          <p:cNvSpPr/>
          <p:nvPr/>
        </p:nvSpPr>
        <p:spPr>
          <a:xfrm>
            <a:off x="685800" y="4105656"/>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242816"/>
            <a:ext cx="1691640" cy="219456"/>
          </a:xfrm>
          <a:prstGeom prst="rect">
            <a:avLst/>
          </a:prstGeom>
          <a:noFill/>
        </p:spPr>
        <p:txBody>
          <a:bodyPr wrap="square" lIns="36576" tIns="36576" rIns="36576" bIns="36576" anchor="t">
            <a:spAutoFit/>
          </a:bodyPr>
          <a:lstStyle/>
          <a:p>
            <a:pPr algn="l">
              <a:spcAft>
                <a:spcPts val="400"/>
              </a:spcAft>
              <a:defRPr sz="1300" b="1" i="0">
                <a:solidFill>
                  <a:srgbClr val="A07DFF"/>
                </a:solidFill>
                <a:latin typeface="Aptos"/>
              </a:defRPr>
            </a:pPr>
            <a:r>
              <a:t>Infrastructure as Code</a:t>
            </a:r>
          </a:p>
        </p:txBody>
      </p:sp>
      <p:sp>
        <p:nvSpPr>
          <p:cNvPr id="18" name="TextBox 17"/>
          <p:cNvSpPr txBox="1"/>
          <p:nvPr/>
        </p:nvSpPr>
        <p:spPr>
          <a:xfrm>
            <a:off x="2560320" y="4206240"/>
            <a:ext cx="3474720" cy="356616"/>
          </a:xfrm>
          <a:prstGeom prst="rect">
            <a:avLst/>
          </a:prstGeom>
          <a:noFill/>
        </p:spPr>
        <p:txBody>
          <a:bodyPr wrap="square" lIns="36576" tIns="36576" rIns="36576" bIns="36576" anchor="t">
            <a:spAutoFit/>
          </a:bodyPr>
          <a:lstStyle/>
          <a:p>
            <a:pPr algn="l">
              <a:spcAft>
                <a:spcPts val="400"/>
              </a:spcAft>
              <a:defRPr sz="1100" b="0" i="0">
                <a:solidFill>
                  <a:srgbClr val="F4F7FF"/>
                </a:solidFill>
                <a:latin typeface="Aptos"/>
              </a:defRPr>
            </a:pPr>
            <a:r>
              <a:t>captures repeatable development setup — production still needs platform-specific controls.</a:t>
            </a:r>
          </a:p>
        </p:txBody>
      </p:sp>
      <p:sp>
        <p:nvSpPr>
          <p:cNvPr id="19" name="Rounded Rectangle 18"/>
          <p:cNvSpPr/>
          <p:nvPr/>
        </p:nvSpPr>
        <p:spPr>
          <a:xfrm>
            <a:off x="6720840" y="1965960"/>
            <a:ext cx="4800600" cy="3611880"/>
          </a:xfrm>
          <a:prstGeom prst="roundRect">
            <a:avLst/>
          </a:prstGeom>
          <a:solidFill>
            <a:srgbClr val="101F2B"/>
          </a:solidFill>
          <a:ln w="1270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040880" y="2267712"/>
            <a:ext cx="109728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77456" y="2286000"/>
            <a:ext cx="1024127" cy="228600"/>
          </a:xfrm>
          <a:prstGeom prst="rect">
            <a:avLst/>
          </a:prstGeom>
          <a:noFill/>
        </p:spPr>
        <p:txBody>
          <a:bodyPr wrap="square" lIns="9144" tIns="9144" rIns="9144" bIns="9144" anchor="ctr">
            <a:spAutoFit/>
          </a:bodyPr>
          <a:lstStyle/>
          <a:p>
            <a:pPr algn="ctr">
              <a:spcAft>
                <a:spcPts val="400"/>
              </a:spcAft>
              <a:defRPr sz="900" b="1" i="0">
                <a:solidFill>
                  <a:srgbClr val="0A1020"/>
                </a:solidFill>
                <a:latin typeface="Aptos"/>
              </a:defRPr>
            </a:pPr>
            <a:r>
              <a:t>LIVE DEMO</a:t>
            </a:r>
          </a:p>
        </p:txBody>
      </p:sp>
      <p:sp>
        <p:nvSpPr>
          <p:cNvPr id="22" name="TextBox 21"/>
          <p:cNvSpPr txBox="1"/>
          <p:nvPr/>
        </p:nvSpPr>
        <p:spPr>
          <a:xfrm>
            <a:off x="7059168" y="2788920"/>
            <a:ext cx="3840480" cy="274320"/>
          </a:xfrm>
          <a:prstGeom prst="rect">
            <a:avLst/>
          </a:prstGeom>
          <a:noFill/>
        </p:spPr>
        <p:txBody>
          <a:bodyPr wrap="square" lIns="36576" tIns="36576" rIns="36576" bIns="36576" anchor="t">
            <a:spAutoFit/>
          </a:bodyPr>
          <a:lstStyle/>
          <a:p>
            <a:pPr algn="l">
              <a:spcAft>
                <a:spcPts val="400"/>
              </a:spcAft>
              <a:defRPr sz="1500" b="1" i="0">
                <a:solidFill>
                  <a:srgbClr val="F4F7FF"/>
                </a:solidFill>
                <a:latin typeface="Aptos"/>
              </a:defRPr>
            </a:pPr>
            <a:r>
              <a:t>1  Start the local stack</a:t>
            </a:r>
          </a:p>
        </p:txBody>
      </p:sp>
      <p:sp>
        <p:nvSpPr>
          <p:cNvPr id="23" name="TextBox 22"/>
          <p:cNvSpPr txBox="1"/>
          <p:nvPr/>
        </p:nvSpPr>
        <p:spPr>
          <a:xfrm>
            <a:off x="7242048" y="3127248"/>
            <a:ext cx="3566160" cy="320040"/>
          </a:xfrm>
          <a:prstGeom prst="rect">
            <a:avLst/>
          </a:prstGeom>
          <a:noFill/>
        </p:spPr>
        <p:txBody>
          <a:bodyPr wrap="square" lIns="36576" tIns="36576" rIns="36576" bIns="36576" anchor="t">
            <a:spAutoFit/>
          </a:bodyPr>
          <a:lstStyle/>
          <a:p>
            <a:pPr algn="l">
              <a:spcAft>
                <a:spcPts val="400"/>
              </a:spcAft>
              <a:defRPr sz="1600" b="1" i="0">
                <a:solidFill>
                  <a:srgbClr val="48E0B8"/>
                </a:solidFill>
                <a:latin typeface="Aptos Mono"/>
              </a:defRPr>
            </a:pPr>
            <a:r>
              <a:t>make up</a:t>
            </a:r>
          </a:p>
        </p:txBody>
      </p:sp>
      <p:sp>
        <p:nvSpPr>
          <p:cNvPr id="24" name="TextBox 23"/>
          <p:cNvSpPr txBox="1"/>
          <p:nvPr/>
        </p:nvSpPr>
        <p:spPr>
          <a:xfrm>
            <a:off x="7059168" y="3657600"/>
            <a:ext cx="3977639" cy="274320"/>
          </a:xfrm>
          <a:prstGeom prst="rect">
            <a:avLst/>
          </a:prstGeom>
          <a:noFill/>
        </p:spPr>
        <p:txBody>
          <a:bodyPr wrap="square" lIns="36576" tIns="36576" rIns="36576" bIns="36576" anchor="t">
            <a:spAutoFit/>
          </a:bodyPr>
          <a:lstStyle/>
          <a:p>
            <a:pPr algn="l">
              <a:spcAft>
                <a:spcPts val="400"/>
              </a:spcAft>
              <a:defRPr sz="1400" b="1" i="0">
                <a:solidFill>
                  <a:srgbClr val="F4F7FF"/>
                </a:solidFill>
                <a:latin typeface="Aptos"/>
              </a:defRPr>
            </a:pPr>
            <a:r>
              <a:t>2  Ask about the release checklist</a:t>
            </a:r>
          </a:p>
        </p:txBody>
      </p:sp>
      <p:sp>
        <p:nvSpPr>
          <p:cNvPr id="25" name="TextBox 24"/>
          <p:cNvSpPr txBox="1"/>
          <p:nvPr/>
        </p:nvSpPr>
        <p:spPr>
          <a:xfrm>
            <a:off x="7242048" y="4005072"/>
            <a:ext cx="3566160" cy="274320"/>
          </a:xfrm>
          <a:prstGeom prst="rect">
            <a:avLst/>
          </a:prstGeom>
          <a:noFill/>
        </p:spPr>
        <p:txBody>
          <a:bodyPr wrap="square" lIns="36576" tIns="36576" rIns="36576" bIns="36576" anchor="t">
            <a:spAutoFit/>
          </a:bodyPr>
          <a:lstStyle/>
          <a:p>
            <a:pPr algn="l">
              <a:spcAft>
                <a:spcPts val="400"/>
              </a:spcAft>
              <a:defRPr sz="1400" b="1" i="0">
                <a:solidFill>
                  <a:srgbClr val="42D3E6"/>
                </a:solidFill>
                <a:latin typeface="Aptos Mono"/>
              </a:defRPr>
            </a:pPr>
            <a:r>
              <a:t>POST /api/rag/chat</a:t>
            </a:r>
          </a:p>
        </p:txBody>
      </p:sp>
      <p:sp>
        <p:nvSpPr>
          <p:cNvPr id="26" name="TextBox 25"/>
          <p:cNvSpPr txBox="1"/>
          <p:nvPr/>
        </p:nvSpPr>
        <p:spPr>
          <a:xfrm>
            <a:off x="7059168" y="4480560"/>
            <a:ext cx="3931920" cy="274320"/>
          </a:xfrm>
          <a:prstGeom prst="rect">
            <a:avLst/>
          </a:prstGeom>
          <a:noFill/>
        </p:spPr>
        <p:txBody>
          <a:bodyPr wrap="square" lIns="36576" tIns="36576" rIns="36576" bIns="36576" anchor="t">
            <a:spAutoFit/>
          </a:bodyPr>
          <a:lstStyle/>
          <a:p>
            <a:pPr algn="l">
              <a:spcAft>
                <a:spcPts val="400"/>
              </a:spcAft>
              <a:defRPr sz="1400" b="1" i="0">
                <a:solidFill>
                  <a:srgbClr val="F4F7FF"/>
                </a:solidFill>
                <a:latin typeface="Aptos"/>
              </a:defRPr>
            </a:pPr>
            <a:r>
              <a:t>3  Contrast local vs. Konnect</a:t>
            </a:r>
          </a:p>
        </p:txBody>
      </p:sp>
      <p:sp>
        <p:nvSpPr>
          <p:cNvPr id="27" name="TextBox 26"/>
          <p:cNvSpPr txBox="1"/>
          <p:nvPr/>
        </p:nvSpPr>
        <p:spPr>
          <a:xfrm>
            <a:off x="7242048" y="4892040"/>
            <a:ext cx="3886200" cy="438912"/>
          </a:xfrm>
          <a:prstGeom prst="rect">
            <a:avLst/>
          </a:prstGeom>
          <a:noFill/>
        </p:spPr>
        <p:txBody>
          <a:bodyPr wrap="square" lIns="36576" tIns="36576" rIns="36576" bIns="36576" anchor="t">
            <a:spAutoFit/>
          </a:bodyPr>
          <a:lstStyle/>
          <a:p>
            <a:pPr algn="l">
              <a:spcAft>
                <a:spcPts val="400"/>
              </a:spcAft>
              <a:defRPr sz="1000" b="0" i="0">
                <a:solidFill>
                  <a:srgbClr val="AEBBD3"/>
                </a:solidFill>
                <a:latin typeface="Aptos Mono"/>
              </a:defRPr>
            </a:pPr>
            <a:r>
              <a:t>{"message":"What is the project release checklist?"}</a:t>
            </a:r>
          </a:p>
        </p:txBody>
      </p:sp>
      <p:sp>
        <p:nvSpPr>
          <p:cNvPr id="28" name="TextBox 27"/>
          <p:cNvSpPr txBox="1"/>
          <p:nvPr/>
        </p:nvSpPr>
        <p:spPr>
          <a:xfrm>
            <a:off x="777240" y="5961888"/>
            <a:ext cx="10698480" cy="384048"/>
          </a:xfrm>
          <a:prstGeom prst="rect">
            <a:avLst/>
          </a:prstGeom>
          <a:noFill/>
        </p:spPr>
        <p:txBody>
          <a:bodyPr wrap="square" lIns="36576" tIns="36576" rIns="36576" bIns="36576" anchor="t">
            <a:spAutoFit/>
          </a:bodyPr>
          <a:lstStyle/>
          <a:p>
            <a:pPr algn="ctr">
              <a:spcAft>
                <a:spcPts val="400"/>
              </a:spcAft>
              <a:defRPr sz="900" b="0" i="0">
                <a:solidFill>
                  <a:srgbClr val="AEBBD3"/>
                </a:solidFill>
                <a:latin typeface="Aptos"/>
              </a:defRPr>
            </a:pPr>
            <a:r>
              <a:t>Project references: README.md • knowledge/local-mode.md • src/main/kotlin/org/jesperancinha/kong/chatbot/ • compose*.yaml • kong/local.yaml • terraform/ • scripts/configure-konnect.sh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a:extLst>
            <a:ext uri="{FF2B5EF4-FFF2-40B4-BE49-F238E27FC236}">
              <a16:creationId xmlns:a16="http://schemas.microsoft.com/office/drawing/2014/main" id="{02A93F1F-CE98-5EC4-990E-B935C6C3981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50E28FD-5FA8-7A63-289E-94A2373DCE76}"/>
              </a:ext>
            </a:extLst>
          </p:cNvPr>
          <p:cNvSpPr txBox="1"/>
          <p:nvPr/>
        </p:nvSpPr>
        <p:spPr>
          <a:xfrm>
            <a:off x="566928" y="320040"/>
            <a:ext cx="4937760" cy="227755"/>
          </a:xfrm>
          <a:prstGeom prst="rect">
            <a:avLst/>
          </a:prstGeom>
          <a:noFill/>
        </p:spPr>
        <p:txBody>
          <a:bodyPr wrap="square" lIns="36576" tIns="36576" rIns="36576" bIns="36576" anchor="t">
            <a:spAutoFit/>
          </a:bodyPr>
          <a:lstStyle/>
          <a:p>
            <a:pPr algn="l">
              <a:spcAft>
                <a:spcPts val="400"/>
              </a:spcAft>
              <a:defRPr sz="1000" b="1" i="0">
                <a:solidFill>
                  <a:srgbClr val="42D3E6"/>
                </a:solidFill>
                <a:latin typeface="Aptos"/>
              </a:defRPr>
            </a:pPr>
            <a:r>
              <a:rPr lang="nl-NL" dirty="0"/>
              <a:t>Bedankt!</a:t>
            </a:r>
            <a:endParaRPr dirty="0"/>
          </a:p>
        </p:txBody>
      </p:sp>
      <p:sp>
        <p:nvSpPr>
          <p:cNvPr id="3" name="TextBox 2">
            <a:extLst>
              <a:ext uri="{FF2B5EF4-FFF2-40B4-BE49-F238E27FC236}">
                <a16:creationId xmlns:a16="http://schemas.microsoft.com/office/drawing/2014/main" id="{CD3350E0-CDD7-290A-0D43-503AFC3694B8}"/>
              </a:ext>
            </a:extLst>
          </p:cNvPr>
          <p:cNvSpPr txBox="1"/>
          <p:nvPr/>
        </p:nvSpPr>
        <p:spPr>
          <a:xfrm>
            <a:off x="566928" y="658368"/>
            <a:ext cx="10972800" cy="502920"/>
          </a:xfrm>
          <a:prstGeom prst="rect">
            <a:avLst/>
          </a:prstGeom>
          <a:noFill/>
        </p:spPr>
        <p:txBody>
          <a:bodyPr wrap="square" lIns="36576" tIns="36576" rIns="36576" bIns="36576" anchor="t">
            <a:spAutoFit/>
          </a:bodyPr>
          <a:lstStyle/>
          <a:p>
            <a:pPr algn="l">
              <a:spcAft>
                <a:spcPts val="400"/>
              </a:spcAft>
              <a:defRPr sz="2700" b="1" i="0">
                <a:solidFill>
                  <a:srgbClr val="F4F7FF"/>
                </a:solidFill>
                <a:latin typeface="Aptos"/>
              </a:defRPr>
            </a:pPr>
            <a:r>
              <a:rPr lang="nl-NL" dirty="0"/>
              <a:t>Bedankt!</a:t>
            </a:r>
            <a:endParaRPr dirty="0"/>
          </a:p>
        </p:txBody>
      </p:sp>
      <p:sp>
        <p:nvSpPr>
          <p:cNvPr id="4" name="TextBox 3">
            <a:extLst>
              <a:ext uri="{FF2B5EF4-FFF2-40B4-BE49-F238E27FC236}">
                <a16:creationId xmlns:a16="http://schemas.microsoft.com/office/drawing/2014/main" id="{E9BD0951-7CE9-F25C-899B-77693BB00197}"/>
              </a:ext>
            </a:extLst>
          </p:cNvPr>
          <p:cNvSpPr txBox="1"/>
          <p:nvPr/>
        </p:nvSpPr>
        <p:spPr>
          <a:xfrm>
            <a:off x="585216" y="1197864"/>
            <a:ext cx="10972800" cy="258532"/>
          </a:xfrm>
          <a:prstGeom prst="rect">
            <a:avLst/>
          </a:prstGeom>
          <a:noFill/>
        </p:spPr>
        <p:txBody>
          <a:bodyPr wrap="square" lIns="36576" tIns="36576" rIns="36576" bIns="36576" anchor="t">
            <a:spAutoFit/>
          </a:bodyPr>
          <a:lstStyle/>
          <a:p>
            <a:pPr>
              <a:spcAft>
                <a:spcPts val="400"/>
              </a:spcAft>
              <a:defRPr sz="1200" b="0" i="0">
                <a:solidFill>
                  <a:srgbClr val="AEBBD3"/>
                </a:solidFill>
                <a:latin typeface="Aptos"/>
              </a:defRPr>
            </a:pPr>
            <a:r>
              <a:rPr lang="nl-NL" sz="1200" dirty="0">
                <a:solidFill>
                  <a:srgbClr val="AEBBD3"/>
                </a:solidFill>
                <a:latin typeface="Aptos"/>
              </a:rPr>
              <a:t>Hoe combineer je API Gateway, </a:t>
            </a:r>
            <a:r>
              <a:rPr lang="nl-NL" sz="1200" dirty="0" err="1">
                <a:solidFill>
                  <a:srgbClr val="AEBBD3"/>
                </a:solidFill>
                <a:latin typeface="Aptos"/>
              </a:rPr>
              <a:t>IaC</a:t>
            </a:r>
            <a:r>
              <a:rPr lang="nl-NL" sz="1200" dirty="0">
                <a:solidFill>
                  <a:srgbClr val="AEBBD3"/>
                </a:solidFill>
                <a:latin typeface="Aptos"/>
              </a:rPr>
              <a:t>, Spring bij ontwikkeling van een RAG-chatbot</a:t>
            </a:r>
            <a:endParaRPr dirty="0"/>
          </a:p>
        </p:txBody>
      </p:sp>
      <p:sp>
        <p:nvSpPr>
          <p:cNvPr id="5" name="Rectangle 4">
            <a:extLst>
              <a:ext uri="{FF2B5EF4-FFF2-40B4-BE49-F238E27FC236}">
                <a16:creationId xmlns:a16="http://schemas.microsoft.com/office/drawing/2014/main" id="{94967925-7A6C-CA13-F7CF-B60EC05DB154}"/>
              </a:ext>
            </a:extLst>
          </p:cNvPr>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398EE199-9088-BAA8-B178-259D759271F7}"/>
              </a:ext>
            </a:extLst>
          </p:cNvPr>
          <p:cNvSpPr txBox="1"/>
          <p:nvPr/>
        </p:nvSpPr>
        <p:spPr>
          <a:xfrm>
            <a:off x="585216" y="6510528"/>
            <a:ext cx="6400800" cy="164592"/>
          </a:xfrm>
          <a:prstGeom prst="rect">
            <a:avLst/>
          </a:prstGeom>
          <a:noFill/>
        </p:spPr>
        <p:txBody>
          <a:bodyPr wrap="square" lIns="36576" tIns="36576" rIns="36576" bIns="36576" anchor="t">
            <a:spAutoFit/>
          </a:bodyPr>
          <a:lstStyle/>
          <a:p>
            <a:pPr algn="l">
              <a:spcAft>
                <a:spcPts val="400"/>
              </a:spcAft>
              <a:defRPr sz="800" b="1" i="0">
                <a:solidFill>
                  <a:srgbClr val="AEBBD3"/>
                </a:solidFill>
                <a:latin typeface="Aptos"/>
              </a:defRPr>
            </a:pPr>
            <a:r>
              <a:t>KONG CHATBOT ARCHITECTURE   •   01 / 10</a:t>
            </a:r>
          </a:p>
        </p:txBody>
      </p:sp>
      <p:sp>
        <p:nvSpPr>
          <p:cNvPr id="7" name="Rounded Rectangle 6">
            <a:extLst>
              <a:ext uri="{FF2B5EF4-FFF2-40B4-BE49-F238E27FC236}">
                <a16:creationId xmlns:a16="http://schemas.microsoft.com/office/drawing/2014/main" id="{78D3F6F4-AD8F-0914-5994-5E986728BD87}"/>
              </a:ext>
            </a:extLst>
          </p:cNvPr>
          <p:cNvSpPr/>
          <p:nvPr/>
        </p:nvSpPr>
        <p:spPr>
          <a:xfrm>
            <a:off x="623315" y="1913168"/>
            <a:ext cx="10945368" cy="3977639"/>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D8ED052E-F5F4-14BE-7517-3E9C5F5D4616}"/>
              </a:ext>
            </a:extLst>
          </p:cNvPr>
          <p:cNvSpPr txBox="1"/>
          <p:nvPr/>
        </p:nvSpPr>
        <p:spPr>
          <a:xfrm>
            <a:off x="945662" y="2489292"/>
            <a:ext cx="10300673" cy="2825389"/>
          </a:xfrm>
          <a:prstGeom prst="rect">
            <a:avLst/>
          </a:prstGeom>
          <a:noFill/>
        </p:spPr>
        <p:txBody>
          <a:bodyPr wrap="square" lIns="45720" tIns="27432" rIns="45720" bIns="27432">
            <a:spAutoFit/>
          </a:bodyPr>
          <a:lstStyle/>
          <a:p>
            <a:r>
              <a:rPr lang="nl-NL" b="1" dirty="0">
                <a:solidFill>
                  <a:schemeClr val="bg1"/>
                </a:solidFill>
              </a:rPr>
              <a:t>Build a RAG Chatbot </a:t>
            </a:r>
            <a:r>
              <a:rPr lang="nl-NL" b="1" dirty="0" err="1">
                <a:solidFill>
                  <a:schemeClr val="bg1"/>
                </a:solidFill>
              </a:rPr>
              <a:t>with</a:t>
            </a:r>
            <a:r>
              <a:rPr lang="nl-NL" b="1" dirty="0">
                <a:solidFill>
                  <a:schemeClr val="bg1"/>
                </a:solidFill>
              </a:rPr>
              <a:t> Kong AI Gateway</a:t>
            </a:r>
            <a:br>
              <a:rPr lang="nl-NL" b="1" dirty="0">
                <a:solidFill>
                  <a:schemeClr val="bg1"/>
                </a:solidFill>
              </a:rPr>
            </a:br>
            <a:r>
              <a:rPr lang="nl-NL" b="1" dirty="0" err="1">
                <a:solidFill>
                  <a:schemeClr val="bg1"/>
                </a:solidFill>
              </a:rPr>
              <a:t>Explore</a:t>
            </a:r>
            <a:r>
              <a:rPr lang="nl-NL" b="1" dirty="0">
                <a:solidFill>
                  <a:schemeClr val="bg1"/>
                </a:solidFill>
              </a:rPr>
              <a:t> </a:t>
            </a:r>
            <a:r>
              <a:rPr lang="nl-NL" b="1" dirty="0" err="1">
                <a:solidFill>
                  <a:schemeClr val="bg1"/>
                </a:solidFill>
              </a:rPr>
              <a:t>the</a:t>
            </a:r>
            <a:r>
              <a:rPr lang="nl-NL" b="1" dirty="0">
                <a:solidFill>
                  <a:schemeClr val="bg1"/>
                </a:solidFill>
              </a:rPr>
              <a:t> project </a:t>
            </a:r>
            <a:r>
              <a:rPr lang="nl-NL" b="1" dirty="0" err="1">
                <a:solidFill>
                  <a:schemeClr val="bg1"/>
                </a:solidFill>
              </a:rPr>
              <a:t>behind</a:t>
            </a:r>
            <a:r>
              <a:rPr lang="nl-NL" b="1" dirty="0">
                <a:solidFill>
                  <a:schemeClr val="bg1"/>
                </a:solidFill>
              </a:rPr>
              <a:t> </a:t>
            </a:r>
            <a:r>
              <a:rPr lang="nl-NL" b="1" dirty="0" err="1">
                <a:solidFill>
                  <a:schemeClr val="bg1"/>
                </a:solidFill>
              </a:rPr>
              <a:t>this</a:t>
            </a:r>
            <a:r>
              <a:rPr lang="nl-NL" b="1" dirty="0">
                <a:solidFill>
                  <a:schemeClr val="bg1"/>
                </a:solidFill>
              </a:rPr>
              <a:t> </a:t>
            </a:r>
            <a:r>
              <a:rPr lang="nl-NL" b="1" dirty="0" err="1">
                <a:solidFill>
                  <a:schemeClr val="bg1"/>
                </a:solidFill>
              </a:rPr>
              <a:t>presentation</a:t>
            </a:r>
            <a:r>
              <a:rPr lang="nl-NL" b="1" dirty="0">
                <a:solidFill>
                  <a:schemeClr val="bg1"/>
                </a:solidFill>
              </a:rPr>
              <a:t>.</a:t>
            </a:r>
            <a:br>
              <a:rPr lang="nl-NL" b="1" dirty="0">
                <a:solidFill>
                  <a:schemeClr val="bg1"/>
                </a:solidFill>
              </a:rPr>
            </a:br>
            <a:r>
              <a:rPr lang="nl-NL" b="1" dirty="0">
                <a:solidFill>
                  <a:schemeClr val="bg1"/>
                </a:solidFill>
              </a:rPr>
              <a:t>- Retrieval-</a:t>
            </a:r>
            <a:r>
              <a:rPr lang="nl-NL" b="1" dirty="0" err="1">
                <a:solidFill>
                  <a:schemeClr val="bg1"/>
                </a:solidFill>
              </a:rPr>
              <a:t>Augmented</a:t>
            </a:r>
            <a:r>
              <a:rPr lang="nl-NL" b="1" dirty="0">
                <a:solidFill>
                  <a:schemeClr val="bg1"/>
                </a:solidFill>
              </a:rPr>
              <a:t> </a:t>
            </a:r>
            <a:r>
              <a:rPr lang="nl-NL" b="1" dirty="0" err="1">
                <a:solidFill>
                  <a:schemeClr val="bg1"/>
                </a:solidFill>
              </a:rPr>
              <a:t>Generation</a:t>
            </a:r>
            <a:r>
              <a:rPr lang="nl-NL" b="1" dirty="0">
                <a:solidFill>
                  <a:schemeClr val="bg1"/>
                </a:solidFill>
              </a:rPr>
              <a:t> (RAG)</a:t>
            </a:r>
            <a:br>
              <a:rPr lang="nl-NL" b="1" dirty="0">
                <a:solidFill>
                  <a:schemeClr val="bg1"/>
                </a:solidFill>
              </a:rPr>
            </a:br>
            <a:r>
              <a:rPr lang="nl-NL" b="1" dirty="0">
                <a:solidFill>
                  <a:schemeClr val="bg1"/>
                </a:solidFill>
              </a:rPr>
              <a:t>- Application </a:t>
            </a:r>
            <a:r>
              <a:rPr lang="nl-NL" b="1" dirty="0" err="1">
                <a:solidFill>
                  <a:schemeClr val="bg1"/>
                </a:solidFill>
              </a:rPr>
              <a:t>and</a:t>
            </a:r>
            <a:r>
              <a:rPr lang="nl-NL" b="1" dirty="0">
                <a:solidFill>
                  <a:schemeClr val="bg1"/>
                </a:solidFill>
              </a:rPr>
              <a:t> gateway </a:t>
            </a:r>
            <a:r>
              <a:rPr lang="nl-NL" b="1" dirty="0" err="1">
                <a:solidFill>
                  <a:schemeClr val="bg1"/>
                </a:solidFill>
              </a:rPr>
              <a:t>integration</a:t>
            </a:r>
            <a:br>
              <a:rPr lang="nl-NL" b="1" dirty="0">
                <a:solidFill>
                  <a:schemeClr val="bg1"/>
                </a:solidFill>
              </a:rPr>
            </a:br>
            <a:r>
              <a:rPr lang="nl-NL" b="1" dirty="0">
                <a:solidFill>
                  <a:schemeClr val="bg1"/>
                </a:solidFill>
              </a:rPr>
              <a:t>- </a:t>
            </a:r>
            <a:r>
              <a:rPr lang="nl-NL" b="1" dirty="0" err="1">
                <a:solidFill>
                  <a:schemeClr val="bg1"/>
                </a:solidFill>
              </a:rPr>
              <a:t>Kotlin</a:t>
            </a:r>
            <a:r>
              <a:rPr lang="nl-NL" b="1" dirty="0">
                <a:solidFill>
                  <a:schemeClr val="bg1"/>
                </a:solidFill>
              </a:rPr>
              <a:t> </a:t>
            </a:r>
            <a:r>
              <a:rPr lang="nl-NL" b="1" dirty="0" err="1">
                <a:solidFill>
                  <a:schemeClr val="bg1"/>
                </a:solidFill>
              </a:rPr>
              <a:t>and</a:t>
            </a:r>
            <a:r>
              <a:rPr lang="nl-NL" b="1" dirty="0">
                <a:solidFill>
                  <a:schemeClr val="bg1"/>
                </a:solidFill>
              </a:rPr>
              <a:t> Spring Boot</a:t>
            </a:r>
            <a:br>
              <a:rPr lang="nl-NL" b="1" dirty="0">
                <a:solidFill>
                  <a:schemeClr val="bg1"/>
                </a:solidFill>
              </a:rPr>
            </a:br>
            <a:r>
              <a:rPr lang="nl-NL" b="1" dirty="0">
                <a:solidFill>
                  <a:schemeClr val="bg1"/>
                </a:solidFill>
              </a:rPr>
              <a:t>- Practical </a:t>
            </a:r>
            <a:r>
              <a:rPr lang="nl-NL" b="1" dirty="0" err="1">
                <a:solidFill>
                  <a:schemeClr val="bg1"/>
                </a:solidFill>
              </a:rPr>
              <a:t>implementation</a:t>
            </a:r>
            <a:r>
              <a:rPr lang="nl-NL" b="1" dirty="0">
                <a:solidFill>
                  <a:schemeClr val="bg1"/>
                </a:solidFill>
              </a:rPr>
              <a:t> </a:t>
            </a:r>
            <a:r>
              <a:rPr lang="nl-NL" b="1" dirty="0" err="1">
                <a:solidFill>
                  <a:schemeClr val="bg1"/>
                </a:solidFill>
              </a:rPr>
              <a:t>and</a:t>
            </a:r>
            <a:r>
              <a:rPr lang="nl-NL" b="1" dirty="0">
                <a:solidFill>
                  <a:schemeClr val="bg1"/>
                </a:solidFill>
              </a:rPr>
              <a:t> </a:t>
            </a:r>
            <a:r>
              <a:rPr lang="nl-NL" b="1" dirty="0" err="1">
                <a:solidFill>
                  <a:schemeClr val="bg1"/>
                </a:solidFill>
              </a:rPr>
              <a:t>deployment</a:t>
            </a:r>
            <a:br>
              <a:rPr lang="nl-NL" b="1" dirty="0">
                <a:solidFill>
                  <a:schemeClr val="bg1"/>
                </a:solidFill>
              </a:rPr>
            </a:br>
            <a:br>
              <a:rPr lang="nl-NL" b="1" dirty="0">
                <a:solidFill>
                  <a:schemeClr val="bg1"/>
                </a:solidFill>
              </a:rPr>
            </a:br>
            <a:r>
              <a:rPr lang="nl-NL" b="1" dirty="0" err="1">
                <a:solidFill>
                  <a:schemeClr val="bg1"/>
                </a:solidFill>
              </a:rPr>
              <a:t>Explore</a:t>
            </a:r>
            <a:r>
              <a:rPr lang="nl-NL" b="1" dirty="0">
                <a:solidFill>
                  <a:schemeClr val="bg1"/>
                </a:solidFill>
              </a:rPr>
              <a:t> </a:t>
            </a:r>
            <a:r>
              <a:rPr lang="nl-NL" b="1" dirty="0" err="1">
                <a:solidFill>
                  <a:schemeClr val="bg1"/>
                </a:solidFill>
              </a:rPr>
              <a:t>the</a:t>
            </a:r>
            <a:r>
              <a:rPr lang="nl-NL" b="1" dirty="0">
                <a:solidFill>
                  <a:schemeClr val="bg1"/>
                </a:solidFill>
              </a:rPr>
              <a:t> code on GitHub</a:t>
            </a:r>
            <a:br>
              <a:rPr lang="nl-NL" b="1" dirty="0">
                <a:solidFill>
                  <a:schemeClr val="bg1"/>
                </a:solidFill>
              </a:rPr>
            </a:br>
            <a:br>
              <a:rPr lang="nl-NL" b="1" dirty="0">
                <a:solidFill>
                  <a:schemeClr val="bg1"/>
                </a:solidFill>
              </a:rPr>
            </a:br>
            <a:r>
              <a:rPr lang="nl-NL" b="1" dirty="0" err="1">
                <a:solidFill>
                  <a:schemeClr val="bg1"/>
                </a:solidFill>
              </a:rPr>
              <a:t>https</a:t>
            </a:r>
            <a:r>
              <a:rPr lang="nl-NL" b="1" dirty="0">
                <a:solidFill>
                  <a:schemeClr val="bg1"/>
                </a:solidFill>
              </a:rPr>
              <a:t>://</a:t>
            </a:r>
            <a:r>
              <a:rPr lang="nl-NL" b="1" dirty="0" err="1">
                <a:solidFill>
                  <a:schemeClr val="bg1"/>
                </a:solidFill>
              </a:rPr>
              <a:t>github.com</a:t>
            </a:r>
            <a:r>
              <a:rPr lang="nl-NL" b="1" dirty="0">
                <a:solidFill>
                  <a:schemeClr val="bg1"/>
                </a:solidFill>
              </a:rPr>
              <a:t>/</a:t>
            </a:r>
            <a:r>
              <a:rPr lang="nl-NL" b="1" dirty="0" err="1">
                <a:solidFill>
                  <a:schemeClr val="bg1"/>
                </a:solidFill>
              </a:rPr>
              <a:t>jesperancinha</a:t>
            </a:r>
            <a:r>
              <a:rPr lang="nl-NL" b="1" dirty="0">
                <a:solidFill>
                  <a:schemeClr val="bg1"/>
                </a:solidFill>
              </a:rPr>
              <a:t>/</a:t>
            </a:r>
            <a:r>
              <a:rPr lang="nl-NL" b="1" dirty="0" err="1">
                <a:solidFill>
                  <a:schemeClr val="bg1"/>
                </a:solidFill>
              </a:rPr>
              <a:t>kong</a:t>
            </a:r>
            <a:r>
              <a:rPr lang="nl-NL" b="1" dirty="0">
                <a:solidFill>
                  <a:schemeClr val="bg1"/>
                </a:solidFill>
              </a:rPr>
              <a:t>-chatbot</a:t>
            </a:r>
          </a:p>
        </p:txBody>
      </p:sp>
    </p:spTree>
    <p:extLst>
      <p:ext uri="{BB962C8B-B14F-4D97-AF65-F5344CB8AC3E}">
        <p14:creationId xmlns:p14="http://schemas.microsoft.com/office/powerpoint/2010/main" val="14713400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2347</Words>
  <Application>Microsoft Macintosh PowerPoint</Application>
  <PresentationFormat>Breedbeeld</PresentationFormat>
  <Paragraphs>208</Paragraphs>
  <Slides>13</Slides>
  <Notes>13</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13</vt:i4>
      </vt:variant>
    </vt:vector>
  </HeadingPairs>
  <TitlesOfParts>
    <vt:vector size="17" baseType="lpstr">
      <vt:lpstr>Aptos</vt:lpstr>
      <vt:lpstr>Arial</vt:lpstr>
      <vt:lpstr>Calibri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Esperancinha, Joao</cp:lastModifiedBy>
  <cp:revision>4</cp:revision>
  <dcterms:created xsi:type="dcterms:W3CDTF">2013-01-27T09:14:16Z</dcterms:created>
  <dcterms:modified xsi:type="dcterms:W3CDTF">2026-10-25T17:44:37Z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ecb8965-26fb-4a97-9513-50d88672d46c_Enabled">
    <vt:lpwstr>true</vt:lpwstr>
  </property>
  <property fmtid="{D5CDD505-2E9C-101B-9397-08002B2CF9AE}" pid="3" name="MSIP_Label_fecb8965-26fb-4a97-9513-50d88672d46c_SetDate">
    <vt:lpwstr>2026-10-25T17:23:31Z</vt:lpwstr>
  </property>
  <property fmtid="{D5CDD505-2E9C-101B-9397-08002B2CF9AE}" pid="4" name="MSIP_Label_fecb8965-26fb-4a97-9513-50d88672d46c_Method">
    <vt:lpwstr>Standard</vt:lpwstr>
  </property>
  <property fmtid="{D5CDD505-2E9C-101B-9397-08002B2CF9AE}" pid="5" name="MSIP_Label_fecb8965-26fb-4a97-9513-50d88672d46c_Name">
    <vt:lpwstr>fecb8965-26fb-4a97-9513-50d88672d46c</vt:lpwstr>
  </property>
  <property fmtid="{D5CDD505-2E9C-101B-9397-08002B2CF9AE}" pid="6" name="MSIP_Label_fecb8965-26fb-4a97-9513-50d88672d46c_SiteId">
    <vt:lpwstr>64458159-0d9a-4d84-966f-1a13c0ac7a34</vt:lpwstr>
  </property>
  <property fmtid="{D5CDD505-2E9C-101B-9397-08002B2CF9AE}" pid="7" name="MSIP_Label_fecb8965-26fb-4a97-9513-50d88672d46c_ActionId">
    <vt:lpwstr>59669667-8697-41d5-a3a6-57bc08da4061</vt:lpwstr>
  </property>
  <property fmtid="{D5CDD505-2E9C-101B-9397-08002B2CF9AE}" pid="8" name="MSIP_Label_fecb8965-26fb-4a97-9513-50d88672d46c_ContentBits">
    <vt:lpwstr>3</vt:lpwstr>
  </property>
  <property fmtid="{D5CDD505-2E9C-101B-9397-08002B2CF9AE}" pid="9" name="MSIP_Label_fecb8965-26fb-4a97-9513-50d88672d46c_Tag">
    <vt:lpwstr>50, 3, 0, 1</vt:lpwstr>
  </property>
  <property fmtid="{D5CDD505-2E9C-101B-9397-08002B2CF9AE}" pid="10" name="ClassificationContentMarkingFooterLocations">
    <vt:lpwstr>Office Theme:10</vt:lpwstr>
  </property>
  <property fmtid="{D5CDD505-2E9C-101B-9397-08002B2CF9AE}" pid="11" name="ClassificationContentMarkingFooterText">
    <vt:lpwstr>Intern</vt:lpwstr>
  </property>
  <property fmtid="{D5CDD505-2E9C-101B-9397-08002B2CF9AE}" pid="12" name="ClassificationContentMarkingHeaderLocations">
    <vt:lpwstr>Office Theme:9</vt:lpwstr>
  </property>
  <property fmtid="{D5CDD505-2E9C-101B-9397-08002B2CF9AE}" pid="13" name="ClassificationContentMarkingHeaderText">
    <vt:lpwstr>Intern</vt:lpwstr>
  </property>
</Properties>
</file>