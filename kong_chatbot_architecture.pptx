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presentation.xml" ContentType="application/vnd.openxmlformats-officedocument.presentationml.presentation.main+xml"/>
  <Override PartName="/ppt/slideMasters/slideMaster1.xml" ContentType="application/vnd.openxmlformats-officedocument.presentationml.slideMaster+xml"/>
  <Override PartName="/ppt/theme/theme1.xml" ContentType="application/vnd.openxmlformats-officedocument.theme+xml"/>
  <Override PartName="/ppt/theme/theme1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10.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11.xml" ContentType="application/vnd.openxmlformats-officedocument.presentationml.slideLayout+xml"/>
  <Override PartName="/ppt/slideLayouts/slideLayout8.xml" ContentType="application/vnd.openxmlformats-officedocument.presentationml.slideLayout+xml"/>
  <Override PartName="/ppt/slideLayouts/slideLayout5.xml" ContentType="application/vnd.openxmlformats-officedocument.presentationml.slideLayout+xml"/>
  <Override PartName="/ppt/slideLayouts/slideLayout9.xml" ContentType="application/vnd.openxmlformats-officedocument.presentationml.slideLayout+xml"/>
  <Override PartName="/ppt/notesMasters/notesMaster1.xml" ContentType="application/vnd.openxmlformats-officedocument.presentationml.notesMaster+xml"/>
  <Override PartName="/ppt/presProps.xml" ContentType="application/vnd.openxmlformats-officedocument.presentationml.presProps+xml"/>
  <Override PartName="/ppt/slides/slide12.xml" ContentType="application/vnd.openxmlformats-officedocument.presentationml.slide+xml"/>
  <Override PartName="/ppt/slides/slide6.xml" ContentType="application/vnd.openxmlformats-officedocument.presentationml.slide+xml"/>
  <Override PartName="/ppt/slides/slide11.xml" ContentType="application/vnd.openxmlformats-officedocument.presentationml.slide+xml"/>
  <Override PartName="/ppt/slides/slide5.xml" ContentType="application/vnd.openxmlformats-officedocument.presentationml.slide+xml"/>
  <Override PartName="/ppt/slides/slide8.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9.xml" ContentType="application/vnd.openxmlformats-officedocument.presentationml.slide+xml"/>
  <Override PartName="/ppt/slides/slide4.xml" ContentType="application/vnd.openxmlformats-officedocument.presentationml.slide+xml"/>
  <Override PartName="/ppt/slides/slide3.xml" ContentType="application/vnd.openxmlformats-officedocument.presentationml.slide+xml"/>
  <Override PartName="/ppt/slides/slide7.xml" ContentType="application/vnd.openxmlformats-officedocument.presentationml.slide+xml"/>
  <Override PartName="/ppt/slides/slide2.xml" ContentType="application/vnd.openxmlformats-officedocument.presentationml.slide+xml"/>
  <Override PartName="/ppt/slides/slide1.xml" ContentType="application/vnd.openxmlformats-officedocument.presentationml.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4.xml" ContentType="application/vnd.openxmlformats-officedocument.presentationml.notesSlide+xml"/>
  <Override PartName="/ppt/notesSlides/notesSlide9.xml" ContentType="application/vnd.openxmlformats-officedocument.presentationml.notesSlide+xml"/>
  <Override PartName="/ppt/notesSlides/notesSlide5.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11.xml" ContentType="application/vnd.openxmlformats-officedocument.presentationml.notesSlide+xml"/>
  <Override PartName="/ppt/notesSlides/notesSlide3.xml" ContentType="application/vnd.openxmlformats-officedocument.presentationml.notesSlide+xml"/>
  <Override PartName="/ppt/notesSlides/notesSlide8.xml" ContentType="application/vnd.openxmlformats-officedocument.presentationml.notesSlide+xml"/>
  <Override PartName="/ppt/notesSlides/notesSlide7.xml" ContentType="application/vnd.openxmlformats-officedocument.presentationml.notesSlide+xml"/>
  <Override PartName="/ppt/notesSlides/notesSlide13.xml" ContentType="application/vnd.openxmlformats-officedocument.presentationml.notesSlide+xml"/>
  <Override PartName="/ppt/notesSlides/notesSlide1.xml" ContentType="application/vnd.openxmlformats-officedocument.presentationml.notesSlide+xml"/>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
</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Lst>
  <p:notesMasterIdLst>
    <p:notesMasterId r:id="rId3"/>
  </p:notesMasterIdLst>
  <p:sldIdLst>
    <p:sldId id="256" r:id="rId4"/>
    <p:sldId id="257" r:id="rId5"/>
    <p:sldId id="258" r:id="rId6"/>
    <p:sldId id="259" r:id="rId7"/>
    <p:sldId id="260" r:id="rId8"/>
    <p:sldId id="261" r:id="rId9"/>
    <p:sldId id="262" r:id="rId10"/>
    <p:sldId id="263" r:id="rId11"/>
    <p:sldId id="264" r:id="rId12"/>
    <p:sldId id="265" r:id="rId13"/>
    <p:sldId id="266" r:id="rId14"/>
    <p:sldId id="267" r:id="rId15"/>
    <p:sldId id="268" r:id="rId16"/>
  </p:sldIdLst>
  <p:sldSz cx="12192000" cy="68580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notesMaster" Target="notesMasters/notesMaster1.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presProps" Target="presProps.xml"/>
</Relationships>
</file>

<file path=ppt/notesMasters/_rels/notesMaster1.xml.rels><?xml version="1.0" encoding="UTF-8"?>
<Relationships xmlns="http://schemas.openxmlformats.org/package/2006/relationships"><Relationship Id="rId1" Type="http://schemas.openxmlformats.org/officeDocument/2006/relationships/theme" Target="../theme/theme12.xml"/>
</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83" name="PlaceHolder 1"/>
          <p:cNvSpPr>
            <a:spLocks noGrp="1"/>
          </p:cNvSpPr>
          <p:nvPr>
            <p:ph type="sldImg"/>
          </p:nvPr>
        </p:nvSpPr>
        <p:spPr>
          <a:xfrm>
            <a:off x="0" y="764280"/>
            <a:ext cx="0" cy="0"/>
          </a:xfrm>
          <a:prstGeom prst="rect">
            <a:avLst/>
          </a:prstGeom>
          <a:noFill/>
          <a:ln w="0">
            <a:noFill/>
          </a:ln>
        </p:spPr>
        <p:txBody>
          <a:bodyPr lIns="0" tIns="0" rIns="0" bIns="0" anchor="ctr">
            <a:noAutofit/>
          </a:bodyPr>
          <a:p>
            <a:pPr algn="ctr" defTabSz="457200"/>
            <a:r>
              <a:rPr lang="en-US" sz="4400" b="0" u="none" strike="noStrike">
                <a:solidFill>
                  <a:schemeClr val="dk1"/>
                </a:solidFill>
                <a:effectLst/>
                <a:uFillTx/>
                <a:latin typeface="Calibri"/>
              </a:rPr>
              <a:t>Click to move the slide</a:t>
            </a:r>
            <a:endParaRPr lang="en-US" sz="4400" b="0" u="none" strike="noStrike">
              <a:solidFill>
                <a:schemeClr val="dk1"/>
              </a:solidFill>
              <a:effectLst/>
              <a:uFillTx/>
              <a:latin typeface="Calibri"/>
            </a:endParaRPr>
          </a:p>
        </p:txBody>
      </p:sp>
      <p:sp>
        <p:nvSpPr>
          <p:cNvPr id="84" name="PlaceHolder 2"/>
          <p:cNvSpPr>
            <a:spLocks noGrp="1"/>
          </p:cNvSpPr>
          <p:nvPr>
            <p:ph type="body"/>
          </p:nvPr>
        </p:nvSpPr>
        <p:spPr>
          <a:xfrm>
            <a:off x="777240" y="4777560"/>
            <a:ext cx="6217560" cy="4525920"/>
          </a:xfrm>
          <a:prstGeom prst="rect">
            <a:avLst/>
          </a:prstGeom>
          <a:noFill/>
          <a:ln w="0">
            <a:noFill/>
          </a:ln>
        </p:spPr>
        <p:txBody>
          <a:bodyPr lIns="0" tIns="0" rIns="0" bIns="0" anchor="t">
            <a:noAutofit/>
          </a:bodyPr>
          <a:p>
            <a:pPr indent="0" algn="l">
              <a:buNone/>
            </a:pPr>
            <a:r>
              <a:rPr lang="en-US" sz="2000" b="0" u="none" strike="noStrike">
                <a:solidFill>
                  <a:srgbClr val="000000"/>
                </a:solidFill>
                <a:effectLst/>
                <a:uFillTx/>
                <a:latin typeface="Arial"/>
              </a:rPr>
              <a:t>Click to edit the notes format</a:t>
            </a:r>
            <a:endParaRPr lang="en-US" sz="2000" b="0" u="none" strike="noStrike">
              <a:solidFill>
                <a:srgbClr val="000000"/>
              </a:solidFill>
              <a:effectLst/>
              <a:uFillTx/>
              <a:latin typeface="Arial"/>
            </a:endParaRPr>
          </a:p>
        </p:txBody>
      </p:sp>
      <p:sp>
        <p:nvSpPr>
          <p:cNvPr id="85" name="PlaceHolder 3"/>
          <p:cNvSpPr>
            <a:spLocks noGrp="1"/>
          </p:cNvSpPr>
          <p:nvPr>
            <p:ph type="hdr"/>
          </p:nvPr>
        </p:nvSpPr>
        <p:spPr>
          <a:xfrm>
            <a:off x="0" y="0"/>
            <a:ext cx="3372840" cy="502560"/>
          </a:xfrm>
          <a:prstGeom prst="rect">
            <a:avLst/>
          </a:prstGeom>
          <a:noFill/>
          <a:ln w="0">
            <a:noFill/>
          </a:ln>
        </p:spPr>
        <p:txBody>
          <a:bodyPr lIns="0" tIns="0" rIns="0" bIns="0" anchor="t">
            <a:noAutofit/>
          </a:bodyPr>
          <a:p>
            <a:pPr indent="0" algn="l">
              <a:buNone/>
            </a:pPr>
            <a:r>
              <a:rPr lang="en-US" sz="1400" b="0" u="none" strike="noStrike">
                <a:solidFill>
                  <a:srgbClr val="000000"/>
                </a:solidFill>
                <a:effectLst/>
                <a:uFillTx/>
                <a:latin typeface="Times New Roman"/>
              </a:rPr>
              <a:t>&lt;header&gt;</a:t>
            </a:r>
            <a:endParaRPr lang="en-US" sz="1400" b="0" u="none" strike="noStrike">
              <a:solidFill>
                <a:srgbClr val="000000"/>
              </a:solidFill>
              <a:effectLst/>
              <a:uFillTx/>
              <a:latin typeface="Times New Roman"/>
            </a:endParaRPr>
          </a:p>
        </p:txBody>
      </p:sp>
      <p:sp>
        <p:nvSpPr>
          <p:cNvPr id="86" name="PlaceHolder 4"/>
          <p:cNvSpPr>
            <a:spLocks noGrp="1"/>
          </p:cNvSpPr>
          <p:nvPr>
            <p:ph type="dt" idx="34"/>
          </p:nvPr>
        </p:nvSpPr>
        <p:spPr>
          <a:xfrm>
            <a:off x="4399200" y="0"/>
            <a:ext cx="3372840" cy="50256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endParaRPr lang="en-US" sz="1400" b="0" u="none" strike="noStrike">
              <a:solidFill>
                <a:srgbClr val="000000"/>
              </a:solidFill>
              <a:effectLst/>
              <a:uFillTx/>
              <a:latin typeface="Times New Roman"/>
            </a:endParaRPr>
          </a:p>
        </p:txBody>
      </p:sp>
      <p:sp>
        <p:nvSpPr>
          <p:cNvPr id="87" name="PlaceHolder 5"/>
          <p:cNvSpPr>
            <a:spLocks noGrp="1"/>
          </p:cNvSpPr>
          <p:nvPr>
            <p:ph type="ftr" idx="35"/>
          </p:nvPr>
        </p:nvSpPr>
        <p:spPr>
          <a:xfrm>
            <a:off x="0" y="9555480"/>
            <a:ext cx="3372840" cy="50256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88" name="PlaceHolder 6"/>
          <p:cNvSpPr>
            <a:spLocks noGrp="1"/>
          </p:cNvSpPr>
          <p:nvPr>
            <p:ph type="sldNum" idx="36"/>
          </p:nvPr>
        </p:nvSpPr>
        <p:spPr>
          <a:xfrm>
            <a:off x="4399200" y="9555480"/>
            <a:ext cx="3372840" cy="50256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CEFC112A-99E5-4396-8CBC-EC439F81B609}" type="slidenum">
              <a:rPr lang="en-US" sz="1400" b="0" u="none" strike="noStrike">
                <a:solidFill>
                  <a:srgbClr val="000000"/>
                </a:solidFill>
                <a:effectLst/>
                <a:uFillTx/>
                <a:latin typeface="Times New Roman"/>
              </a:rPr>
              <a:t>&lt;number&gt;</a:t>
            </a:fld>
            <a:endParaRPr lang="en-US"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
</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
</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
</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
</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
</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
</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
</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
</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
</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
</Relationships>
</file>

<file path=ppt/notesSlides/_rels/notesSlide11.xml.rels><?xml version="1.0" encoding="UTF-8"?>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
</Relationships>
</file>

<file path=ppt/notesSlides/_rels/notesSlide12.xml.rels><?xml version="1.0" encoding="UTF-8"?>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
</Relationships>
</file>

<file path=ppt/notesSlides/_rels/notesSlide13.xml.rels><?xml version="1.0" encoding="UTF-8"?>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
</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9" name="PlaceHolder 1"/>
          <p:cNvSpPr>
            <a:spLocks noGrp="1"/>
          </p:cNvSpPr>
          <p:nvPr>
            <p:ph type="sldImg"/>
          </p:nvPr>
        </p:nvSpPr>
        <p:spPr>
          <a:xfrm>
            <a:off x="0" y="0"/>
            <a:ext cx="0" cy="0"/>
          </a:xfrm>
          <a:prstGeom prst="rect">
            <a:avLst/>
          </a:prstGeom>
          <a:ln w="0">
            <a:noFill/>
          </a:ln>
        </p:spPr>
      </p:sp>
      <p:sp>
        <p:nvSpPr>
          <p:cNvPr id="37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RAG connects a model's language-generation ability to a maintained, task-specific knowledge base. It is especially useful when answers must reflect current or organization-specific documentation.</a:t>
            </a:r>
            <a:endParaRPr lang="en-US" sz="2000" b="0" u="none" strike="noStrike">
              <a:solidFill>
                <a:srgbClr val="000000"/>
              </a:solidFill>
              <a:effectLst/>
              <a:uFillTx/>
              <a:latin typeface="Arial"/>
            </a:endParaRPr>
          </a:p>
        </p:txBody>
      </p:sp>
      <p:sp>
        <p:nvSpPr>
          <p:cNvPr id="371" name="PlaceHolder 3"/>
          <p:cNvSpPr>
            <a:spLocks noGrp="1"/>
          </p:cNvSpPr>
          <p:nvPr>
            <p:ph type="sldNum" idx="37"/>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2" name="PlaceHolder 1"/>
          <p:cNvSpPr>
            <a:spLocks noGrp="1"/>
          </p:cNvSpPr>
          <p:nvPr>
            <p:ph type="sldImg"/>
          </p:nvPr>
        </p:nvSpPr>
        <p:spPr>
          <a:xfrm>
            <a:off x="0" y="0"/>
            <a:ext cx="0" cy="0"/>
          </a:xfrm>
          <a:prstGeom prst="rect">
            <a:avLst/>
          </a:prstGeom>
          <a:ln w="0">
            <a:noFill/>
          </a:ln>
        </p:spPr>
      </p:sp>
      <p:sp>
        <p:nvSpPr>
          <p:cNvPr id="37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RAG connects a model's language-generation ability to a maintained, task-specific knowledge base. It is especially useful when answers must reflect current or organization-specific documentation.</a:t>
            </a:r>
            <a:endParaRPr lang="en-US" sz="2000" b="0" u="none" strike="noStrike">
              <a:solidFill>
                <a:srgbClr val="000000"/>
              </a:solidFill>
              <a:effectLst/>
              <a:uFillTx/>
              <a:latin typeface="Arial"/>
            </a:endParaRPr>
          </a:p>
        </p:txBody>
      </p:sp>
      <p:sp>
        <p:nvSpPr>
          <p:cNvPr id="374" name="PlaceHolder 3"/>
          <p:cNvSpPr>
            <a:spLocks noGrp="1"/>
          </p:cNvSpPr>
          <p:nvPr>
            <p:ph type="sldNum" idx="38"/>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5" name="PlaceHolder 1"/>
          <p:cNvSpPr>
            <a:spLocks noGrp="1"/>
          </p:cNvSpPr>
          <p:nvPr>
            <p:ph type="sldImg"/>
          </p:nvPr>
        </p:nvSpPr>
        <p:spPr>
          <a:xfrm>
            <a:off x="0" y="0"/>
            <a:ext cx="0" cy="0"/>
          </a:xfrm>
          <a:prstGeom prst="rect">
            <a:avLst/>
          </a:prstGeom>
          <a:ln w="0">
            <a:noFill/>
          </a:ln>
        </p:spPr>
      </p:sp>
      <p:sp>
        <p:nvSpPr>
          <p:cNvPr id="37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RAG connects a model's language-generation ability to a maintained, task-specific knowledge base. It is especially useful when answers must reflect current or organization-specific documentation.</a:t>
            </a:r>
            <a:endParaRPr lang="en-US" sz="2000" b="0" u="none" strike="noStrike">
              <a:solidFill>
                <a:srgbClr val="000000"/>
              </a:solidFill>
              <a:effectLst/>
              <a:uFillTx/>
              <a:latin typeface="Arial"/>
            </a:endParaRPr>
          </a:p>
        </p:txBody>
      </p:sp>
      <p:sp>
        <p:nvSpPr>
          <p:cNvPr id="377" name="PlaceHolder 3"/>
          <p:cNvSpPr>
            <a:spLocks noGrp="1"/>
          </p:cNvSpPr>
          <p:nvPr>
            <p:ph type="sldNum" idx="39"/>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8" name="PlaceHolder 1"/>
          <p:cNvSpPr>
            <a:spLocks noGrp="1"/>
          </p:cNvSpPr>
          <p:nvPr>
            <p:ph type="sldImg"/>
          </p:nvPr>
        </p:nvSpPr>
        <p:spPr>
          <a:xfrm>
            <a:off x="0" y="0"/>
            <a:ext cx="0" cy="0"/>
          </a:xfrm>
          <a:prstGeom prst="rect">
            <a:avLst/>
          </a:prstGeom>
          <a:ln w="0">
            <a:noFill/>
          </a:ln>
        </p:spPr>
      </p:sp>
      <p:sp>
        <p:nvSpPr>
          <p:cNvPr id="379"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Similarity thresholds are heuristics. Grounding improves traceability, but it does not itself establish factual correctness or prevent prompt injection. Local mode returns “I don't know” when no passage meets its configured threshold; it does not call the generation model for an empty result. Konnect mode uses the AI RAG Injector plugin to retrieve and inject context.</a:t>
            </a:r>
            <a:endParaRPr lang="en-US" sz="2000" b="0" u="none" strike="noStrike">
              <a:solidFill>
                <a:srgbClr val="000000"/>
              </a:solidFill>
              <a:effectLst/>
              <a:uFillTx/>
              <a:latin typeface="Arial"/>
            </a:endParaRPr>
          </a:p>
        </p:txBody>
      </p:sp>
      <p:sp>
        <p:nvSpPr>
          <p:cNvPr id="380" name="PlaceHolder 3"/>
          <p:cNvSpPr>
            <a:spLocks noGrp="1"/>
          </p:cNvSpPr>
          <p:nvPr>
            <p:ph type="sldNum" idx="40"/>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1" name="PlaceHolder 1"/>
          <p:cNvSpPr>
            <a:spLocks noGrp="1"/>
          </p:cNvSpPr>
          <p:nvPr>
            <p:ph type="sldImg"/>
          </p:nvPr>
        </p:nvSpPr>
        <p:spPr>
          <a:xfrm>
            <a:off x="0" y="0"/>
            <a:ext cx="0" cy="0"/>
          </a:xfrm>
          <a:prstGeom prst="rect">
            <a:avLst/>
          </a:prstGeom>
          <a:ln w="0">
            <a:noFill/>
          </a:ln>
        </p:spPr>
      </p:sp>
      <p:sp>
        <p:nvSpPr>
          <p:cNvPr id="382"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two paths are alternatives, not consecutive stages. Local OSS uses ordinary proxy routes. Konnect mode connects a self-managed Kong data plane to a Konnect control plane. Compose and Terraform in this repository run on a local Docker environment; Terraform is not currently a cloud-platform deployment.</a:t>
            </a:r>
            <a:endParaRPr lang="en-US" sz="2000" b="0" u="none" strike="noStrike">
              <a:solidFill>
                <a:srgbClr val="000000"/>
              </a:solidFill>
              <a:effectLst/>
              <a:uFillTx/>
              <a:latin typeface="Arial"/>
            </a:endParaRPr>
          </a:p>
        </p:txBody>
      </p:sp>
      <p:sp>
        <p:nvSpPr>
          <p:cNvPr id="383" name="PlaceHolder 3"/>
          <p:cNvSpPr>
            <a:spLocks noGrp="1"/>
          </p:cNvSpPr>
          <p:nvPr>
            <p:ph type="sldNum" idx="41"/>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4" name="PlaceHolder 1"/>
          <p:cNvSpPr>
            <a:spLocks noGrp="1"/>
          </p:cNvSpPr>
          <p:nvPr>
            <p:ph type="sldImg"/>
          </p:nvPr>
        </p:nvSpPr>
        <p:spPr>
          <a:xfrm>
            <a:off x="0" y="0"/>
            <a:ext cx="0" cy="0"/>
          </a:xfrm>
          <a:prstGeom prst="rect">
            <a:avLst/>
          </a:prstGeom>
          <a:ln w="0">
            <a:noFill/>
          </a:ln>
        </p:spPr>
      </p:sp>
      <p:sp>
        <p:nvSpPr>
          <p:cNvPr id="385"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Spring sends chat-completion requests to Kong through configured routes; the application does not call the model provider directly. In local mode, Kong OSS proxies chat and embedding HTTP requests to Ollama using declarative, DB-less configuration in kong/local.yaml. In Konnect mode, Kong Gateway routes traffic through the configured AI Proxy Advanced and AI RAG Injector plugins. The local proxy is real Kong traffic routing, but local retrieval is implemented in Spring. Do not describe the OSS configuration as having the Konnect AI plugins enabled.</a:t>
            </a:r>
            <a:endParaRPr lang="en-US" sz="2000" b="0" u="none" strike="noStrike">
              <a:solidFill>
                <a:srgbClr val="000000"/>
              </a:solidFill>
              <a:effectLst/>
              <a:uFillTx/>
              <a:latin typeface="Arial"/>
            </a:endParaRPr>
          </a:p>
        </p:txBody>
      </p:sp>
      <p:sp>
        <p:nvSpPr>
          <p:cNvPr id="386" name="PlaceHolder 3"/>
          <p:cNvSpPr>
            <a:spLocks noGrp="1"/>
          </p:cNvSpPr>
          <p:nvPr>
            <p:ph type="sldNum" idx="42"/>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7" name="PlaceHolder 1"/>
          <p:cNvSpPr>
            <a:spLocks noGrp="1"/>
          </p:cNvSpPr>
          <p:nvPr>
            <p:ph type="sldImg"/>
          </p:nvPr>
        </p:nvSpPr>
        <p:spPr>
          <a:xfrm>
            <a:off x="0" y="0"/>
            <a:ext cx="0" cy="0"/>
          </a:xfrm>
          <a:prstGeom prst="rect">
            <a:avLst/>
          </a:prstGeom>
          <a:ln w="0">
            <a:noFill/>
          </a:ln>
        </p:spPr>
      </p:sp>
      <p:sp>
        <p:nvSpPr>
          <p:cNvPr id="388"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The bootstrap script registers the data-plane client certificate and upserts this project's OpenAI service, RAG/support routes, AI Proxy Advanced plugin, and AI RAG Injector plugin. The configured RAG plugin uses OpenAI embeddings and a Redis Stack vector index; the AI Proxy sends grounded chat requests to the configured OpenAI model. Bootstrap automates project-scoped Konnect configuration; it is not a substitute for account setup, licensing, approved data handling, or credential management.</a:t>
            </a:r>
            <a:endParaRPr lang="en-US" sz="2000" b="0" u="none" strike="noStrike">
              <a:solidFill>
                <a:srgbClr val="000000"/>
              </a:solidFill>
              <a:effectLst/>
              <a:uFillTx/>
              <a:latin typeface="Arial"/>
            </a:endParaRPr>
          </a:p>
        </p:txBody>
      </p:sp>
      <p:sp>
        <p:nvSpPr>
          <p:cNvPr id="389" name="PlaceHolder 3"/>
          <p:cNvSpPr>
            <a:spLocks noGrp="1"/>
          </p:cNvSpPr>
          <p:nvPr>
            <p:ph type="sldNum" idx="43"/>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0" name="PlaceHolder 1"/>
          <p:cNvSpPr>
            <a:spLocks noGrp="1"/>
          </p:cNvSpPr>
          <p:nvPr>
            <p:ph type="sldImg"/>
          </p:nvPr>
        </p:nvSpPr>
        <p:spPr>
          <a:xfrm>
            <a:off x="0" y="0"/>
            <a:ext cx="0" cy="0"/>
          </a:xfrm>
          <a:prstGeom prst="rect">
            <a:avLst/>
          </a:prstGeom>
          <a:ln w="0">
            <a:noFill/>
          </a:ln>
        </p:spPr>
      </p:sp>
      <p:sp>
        <p:nvSpPr>
          <p:cNvPr id="391"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ChatController handles HTTP requests; ChatService selects the RAG or support instructions and calls the gateway client. KongAiGatewayClient handles the HTTP request to Kong and reports gateway failures rather than silently returning an empty answer. Local mode adds startup indexing and question-time retrieval through a KnowledgeContextProvider; gateway mode delegates retrieval to Kong. The application enforces request validation and includes source titles in locally retrieved context.</a:t>
            </a:r>
            <a:endParaRPr lang="en-US" sz="2000" b="0" u="none" strike="noStrike">
              <a:solidFill>
                <a:srgbClr val="000000"/>
              </a:solidFill>
              <a:effectLst/>
              <a:uFillTx/>
              <a:latin typeface="Arial"/>
            </a:endParaRPr>
          </a:p>
        </p:txBody>
      </p:sp>
      <p:sp>
        <p:nvSpPr>
          <p:cNvPr id="392" name="PlaceHolder 3"/>
          <p:cNvSpPr>
            <a:spLocks noGrp="1"/>
          </p:cNvSpPr>
          <p:nvPr>
            <p:ph type="sldNum" idx="44"/>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3" name="PlaceHolder 1"/>
          <p:cNvSpPr>
            <a:spLocks noGrp="1"/>
          </p:cNvSpPr>
          <p:nvPr>
            <p:ph type="sldImg"/>
          </p:nvPr>
        </p:nvSpPr>
        <p:spPr>
          <a:xfrm>
            <a:off x="0" y="0"/>
            <a:ext cx="0" cy="0"/>
          </a:xfrm>
          <a:prstGeom prst="rect">
            <a:avLst/>
          </a:prstGeom>
          <a:ln w="0">
            <a:noFill/>
          </a:ln>
        </p:spPr>
      </p:sp>
      <p:sp>
        <p:nvSpPr>
          <p:cNvPr id="394"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Markdown/text files are mounted read-only from knowledge/. At startup, Spring chunks and embeds the documents through Kong's embedding route to Ollama, then builds an in-memory vector index. For each question, Spring embeds the query, ranks passages by cosine similarity, and supplies the best matches to Kong's chat route. Kong proxies to the local Ollama chat model; the answer can cite the source document title. An unavailable/empty knowledge corpus or failed embedding prevents startup; the vector index is intentionally not a persistent, production-scale store. `make up` starts the local stack and provisions its models; `make smoke` exercises representative requests.</a:t>
            </a:r>
            <a:endParaRPr lang="en-US" sz="2000" b="0" u="none" strike="noStrike">
              <a:solidFill>
                <a:srgbClr val="000000"/>
              </a:solidFill>
              <a:effectLst/>
              <a:uFillTx/>
              <a:latin typeface="Arial"/>
            </a:endParaRPr>
          </a:p>
        </p:txBody>
      </p:sp>
      <p:sp>
        <p:nvSpPr>
          <p:cNvPr id="395" name="PlaceHolder 3"/>
          <p:cNvSpPr>
            <a:spLocks noGrp="1"/>
          </p:cNvSpPr>
          <p:nvPr>
            <p:ph type="sldNum" idx="45"/>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6" name="PlaceHolder 1"/>
          <p:cNvSpPr>
            <a:spLocks noGrp="1"/>
          </p:cNvSpPr>
          <p:nvPr>
            <p:ph type="sldImg"/>
          </p:nvPr>
        </p:nvSpPr>
        <p:spPr>
          <a:xfrm>
            <a:off x="0" y="0"/>
            <a:ext cx="0" cy="0"/>
          </a:xfrm>
          <a:prstGeom prst="rect">
            <a:avLst/>
          </a:prstGeom>
          <a:ln w="0">
            <a:noFill/>
          </a:ln>
        </p:spPr>
      </p:sp>
      <p:sp>
        <p:nvSpPr>
          <p:cNvPr id="397"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Compose files describe local and Konnect container stacks; kong/local.yaml describes the local gateway routes. Terraform declares Docker networks, images, containers, volumes, ports, and mode-specific configuration in terraform/. The local/konnect variable selects which resources and settings are provisioned; terraform plan previews changes before apply. Declarative configuration makes setup reproducible, reviewable, and easier to change consistently than manual container and gateway setup. make terraform-up applies the configuration and waits for API readiness; make terraform-down removes Terraform-managed resources. IaC makes the implemented local Docker setup repeatable, but does not automatically make it production-ready.</a:t>
            </a:r>
            <a:endParaRPr lang="en-US" sz="2000" b="0" u="none" strike="noStrike">
              <a:solidFill>
                <a:srgbClr val="000000"/>
              </a:solidFill>
              <a:effectLst/>
              <a:uFillTx/>
              <a:latin typeface="Arial"/>
            </a:endParaRPr>
          </a:p>
        </p:txBody>
      </p:sp>
      <p:sp>
        <p:nvSpPr>
          <p:cNvPr id="398" name="PlaceHolder 3"/>
          <p:cNvSpPr>
            <a:spLocks noGrp="1"/>
          </p:cNvSpPr>
          <p:nvPr>
            <p:ph type="sldNum" idx="46"/>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9" name="PlaceHolder 1"/>
          <p:cNvSpPr>
            <a:spLocks noGrp="1"/>
          </p:cNvSpPr>
          <p:nvPr>
            <p:ph type="sldImg"/>
          </p:nvPr>
        </p:nvSpPr>
        <p:spPr>
          <a:xfrm>
            <a:off x="0" y="0"/>
            <a:ext cx="0" cy="0"/>
          </a:xfrm>
          <a:prstGeom prst="rect">
            <a:avLst/>
          </a:prstGeom>
          <a:ln w="0">
            <a:noFill/>
          </a:ln>
        </p:spPr>
      </p:sp>
      <p:sp>
        <p:nvSpPr>
          <p:cNvPr id="400"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Local published ports bind to loopback; Kong's Admin API and the Redis service are not published to the host in the provided stacks. Konnect mode sends provider credentials to Kong configuration and sends documents to the external embedding provider during ingestion. Only use data approved for those services. Keep generated credentials, certificates, and Terraform state private; Terraform state contains the Redis password. This is a development/reference deployment. Before exposing it, add authentication/authorization, tenant-scoped retrieval, access controls, TLS, secret management, monitoring, backups, retention policy, and capacity planning. System instructions and similarity thresholds are not security boundaries; the support prompt is not a moderation/guardrail plugin.</a:t>
            </a:r>
            <a:endParaRPr lang="en-US" sz="2000" b="0" u="none" strike="noStrike">
              <a:solidFill>
                <a:srgbClr val="000000"/>
              </a:solidFill>
              <a:effectLst/>
              <a:uFillTx/>
              <a:latin typeface="Arial"/>
            </a:endParaRPr>
          </a:p>
        </p:txBody>
      </p:sp>
      <p:sp>
        <p:nvSpPr>
          <p:cNvPr id="401" name="PlaceHolder 3"/>
          <p:cNvSpPr>
            <a:spLocks noGrp="1"/>
          </p:cNvSpPr>
          <p:nvPr>
            <p:ph type="sldNum" idx="47"/>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2" name="PlaceHolder 1"/>
          <p:cNvSpPr>
            <a:spLocks noGrp="1"/>
          </p:cNvSpPr>
          <p:nvPr>
            <p:ph type="sldImg"/>
          </p:nvPr>
        </p:nvSpPr>
        <p:spPr>
          <a:xfrm>
            <a:off x="0" y="0"/>
            <a:ext cx="0" cy="0"/>
          </a:xfrm>
          <a:prstGeom prst="rect">
            <a:avLst/>
          </a:prstGeom>
          <a:ln w="0">
            <a:noFill/>
          </a:ln>
        </p:spPr>
      </p:sp>
      <p:sp>
        <p:nvSpPr>
          <p:cNvPr id="403"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Close by highlighting the architecture's central design choice: keep the client API consistent while making retrieval and model connectivity selectable by deployment mode. Suggested demo: start with `make up`, ask about the release checklist via `POST /api/rag/chat`, then contrast the local and Konnect architecture. Sample request: {"message":"What is the project release checklist?"}</a:t>
            </a:r>
            <a:endParaRPr lang="en-US" sz="2000" b="0" u="none" strike="noStrike">
              <a:solidFill>
                <a:srgbClr val="000000"/>
              </a:solidFill>
              <a:effectLst/>
              <a:uFillTx/>
              <a:latin typeface="Arial"/>
            </a:endParaRPr>
          </a:p>
        </p:txBody>
      </p:sp>
      <p:sp>
        <p:nvSpPr>
          <p:cNvPr id="404" name="PlaceHolder 3"/>
          <p:cNvSpPr>
            <a:spLocks noGrp="1"/>
          </p:cNvSpPr>
          <p:nvPr>
            <p:ph type="sldNum" idx="48"/>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5" name="PlaceHolder 1"/>
          <p:cNvSpPr>
            <a:spLocks noGrp="1"/>
          </p:cNvSpPr>
          <p:nvPr>
            <p:ph type="sldImg"/>
          </p:nvPr>
        </p:nvSpPr>
        <p:spPr>
          <a:xfrm>
            <a:off x="0" y="0"/>
            <a:ext cx="0" cy="0"/>
          </a:xfrm>
          <a:prstGeom prst="rect">
            <a:avLst/>
          </a:prstGeom>
          <a:ln w="0">
            <a:noFill/>
          </a:ln>
        </p:spPr>
      </p:sp>
      <p:sp>
        <p:nvSpPr>
          <p:cNvPr id="406" name="PlaceHolder 2"/>
          <p:cNvSpPr>
            <a:spLocks noGrp="1"/>
          </p:cNvSpPr>
          <p:nvPr>
            <p:ph type="body"/>
          </p:nvPr>
        </p:nvSpPr>
        <p:spPr>
          <a:xfrm>
            <a:off x="0" y="0"/>
            <a:ext cx="0" cy="0"/>
          </a:xfrm>
          <a:prstGeom prst="rect">
            <a:avLst/>
          </a:prstGeom>
          <a:noFill/>
          <a:ln w="0">
            <a:noFill/>
          </a:ln>
        </p:spPr>
        <p:txBody>
          <a:bodyPr lIns="90000" tIns="-45000" rIns="90000" bIns="-45000" anchor="t">
            <a:noAutofit/>
          </a:bodyPr>
          <a:p>
            <a:pPr indent="0" algn="l">
              <a:lnSpc>
                <a:spcPct val="100000"/>
              </a:lnSpc>
              <a:buNone/>
            </a:pPr>
            <a:r>
              <a:rPr lang="en-US" sz="2000" b="0" u="none" strike="noStrike">
                <a:solidFill>
                  <a:srgbClr val="000000"/>
                </a:solidFill>
                <a:effectLst/>
                <a:uFillTx/>
                <a:latin typeface="Arial"/>
              </a:rPr>
              <a:t>RAG connects a model's language-generation ability to a maintained, task-specific knowledge base. It is especially useful when answers must reflect current or organization-specific documentation.</a:t>
            </a:r>
            <a:endParaRPr lang="en-US" sz="2000" b="0" u="none" strike="noStrike">
              <a:solidFill>
                <a:srgbClr val="000000"/>
              </a:solidFill>
              <a:effectLst/>
              <a:uFillTx/>
              <a:latin typeface="Arial"/>
            </a:endParaRPr>
          </a:p>
        </p:txBody>
      </p:sp>
      <p:sp>
        <p:nvSpPr>
          <p:cNvPr id="407" name="PlaceHolder 3"/>
          <p:cNvSpPr>
            <a:spLocks noGrp="1"/>
          </p:cNvSpPr>
          <p:nvPr>
            <p:ph type="sldNum" idx="49"/>
          </p:nvPr>
        </p:nvSpPr>
        <p:spPr>
          <a:xfrm>
            <a:off x="0" y="0"/>
            <a:ext cx="0" cy="0"/>
          </a:xfrm>
          <a:prstGeom prst="rect">
            <a:avLst/>
          </a:prstGeom>
          <a:noFill/>
          <a:ln w="0">
            <a:noFill/>
          </a:ln>
        </p:spPr>
        <p:txBody>
          <a:bodyPr lIns="90000" tIns="-45000" rIns="90000" bIns="-45000" anchor="t">
            <a:noAutofit/>
          </a:bodyPr>
          <a:p>
            <a:pPr indent="0" algn="l">
              <a:buNone/>
            </a:pPr>
            <a:endParaRPr lang="en-US" sz="1800" b="0" u="none" strike="noStrike">
              <a:solidFill>
                <a:srgbClr val="000000"/>
              </a:solidFill>
              <a:effectLst/>
              <a:uFillTx/>
              <a:latin typeface="Times New Roman"/>
            </a:endParaRPr>
          </a:p>
        </p:txBody>
      </p:sp>
    </p:spTree>
  </p:cSld>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2.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3.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4.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5.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6.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7.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8.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9.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0.xml.rels><?xml version="1.0" encoding="UTF-8"?>
<Relationships xmlns="http://schemas.openxmlformats.org/package/2006/relationships"><Relationship Id="rId1" Type="http://schemas.openxmlformats.org/officeDocument/2006/relationships/slideMaster" Target="../slideMasters/slideMaster1.xml"/>
</Relationships>
</file>

<file path=ppt/slideLayouts/_rels/slideLayout11.xml.rels><?xml version="1.0" encoding="UTF-8"?>
<Relationships xmlns="http://schemas.openxmlformats.org/package/2006/relationships"><Relationship Id="rId1" Type="http://schemas.openxmlformats.org/officeDocument/2006/relationships/slideMaster" Target="../slideMasters/slideMaster1.xml"/>
</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 preserve="1">
  <p:cSld name="Title Slide">
    <p:bg>
      <p:bgPr>
        <a:solidFill>
          <a:srgbClr val="FFFFFF"/>
        </a:solidFill>
      </p:bgPr>
    </p:bg>
    <p:spTree>
      <p:nvGrpSpPr>
        <p:cNvPr id="1" name=""/>
        <p:cNvGrpSpPr/>
        <p:nvPr/>
      </p:nvGrpSpPr>
      <p:grpSpPr>
        <a:xfrm>
          <a:off x="0" y="0"/>
          <a:ext cx="0" cy="0"/>
          <a:chOff x="0" y="0"/>
          <a:chExt cx="0" cy="0"/>
        </a:xfrm>
      </p:grpSpPr>
      <p:sp>
        <p:nvSpPr>
          <p:cNvPr id="2" name="Tekstvak 8"/>
          <p:cNvSpPr/>
          <p:nvPr/>
        </p:nvSpPr>
        <p:spPr>
          <a:xfrm>
            <a:off x="63360" y="6336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3" name="Tekstvak 9"/>
          <p:cNvSpPr/>
          <p:nvPr/>
        </p:nvSpPr>
        <p:spPr>
          <a:xfrm>
            <a:off x="63360" y="664200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4" name="PlaceHolder 1"/>
          <p:cNvSpPr>
            <a:spLocks noGrp="1"/>
          </p:cNvSpPr>
          <p:nvPr>
            <p:ph type="title"/>
          </p:nvPr>
        </p:nvSpPr>
        <p:spPr>
          <a:xfrm>
            <a:off x="685800" y="2130480"/>
            <a:ext cx="7772040" cy="146952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 name="PlaceHolder 2"/>
          <p:cNvSpPr>
            <a:spLocks noGrp="1"/>
          </p:cNvSpPr>
          <p:nvPr>
            <p:ph type="dt" idx="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6" name="PlaceHolder 3"/>
          <p:cNvSpPr>
            <a:spLocks noGrp="1"/>
          </p:cNvSpPr>
          <p:nvPr>
            <p:ph type="ftr" idx="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7" name="PlaceHolder 4"/>
          <p:cNvSpPr>
            <a:spLocks noGrp="1"/>
          </p:cNvSpPr>
          <p:nvPr>
            <p:ph type="sldNum" idx="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6004A38-B694-45F9-9119-2C3EBEFAD959}"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x" preserve="1">
  <p:cSld name="Title and Vertical Text">
    <p:bg>
      <p:bgPr>
        <a:solidFill>
          <a:srgbClr val="FFFFFF"/>
        </a:solidFill>
      </p:bgPr>
    </p:bg>
    <p:spTree>
      <p:nvGrpSpPr>
        <p:cNvPr id="1" name=""/>
        <p:cNvGrpSpPr/>
        <p:nvPr/>
      </p:nvGrpSpPr>
      <p:grpSpPr>
        <a:xfrm>
          <a:off x="0" y="0"/>
          <a:ext cx="0" cy="0"/>
          <a:chOff x="0" y="0"/>
          <a:chExt cx="0" cy="0"/>
        </a:xfrm>
      </p:grpSpPr>
      <p:sp>
        <p:nvSpPr>
          <p:cNvPr id="8" name="Tekstvak 8"/>
          <p:cNvSpPr/>
          <p:nvPr/>
        </p:nvSpPr>
        <p:spPr>
          <a:xfrm>
            <a:off x="63360" y="6336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9" name="Tekstvak 9"/>
          <p:cNvSpPr/>
          <p:nvPr/>
        </p:nvSpPr>
        <p:spPr>
          <a:xfrm>
            <a:off x="63360" y="664200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10"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1"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2" name="PlaceHolder 3"/>
          <p:cNvSpPr>
            <a:spLocks noGrp="1"/>
          </p:cNvSpPr>
          <p:nvPr>
            <p:ph type="dt" idx="4"/>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13" name="PlaceHolder 4"/>
          <p:cNvSpPr>
            <a:spLocks noGrp="1"/>
          </p:cNvSpPr>
          <p:nvPr>
            <p:ph type="ftr" idx="5"/>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14" name="PlaceHolder 5"/>
          <p:cNvSpPr>
            <a:spLocks noGrp="1"/>
          </p:cNvSpPr>
          <p:nvPr>
            <p:ph type="sldNum" idx="6"/>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F9DC05E9-4D4E-4732-AAD2-3421316E5A19}"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vertTitleAndTx" preserve="1">
  <p:cSld name="Vertical Title and Text">
    <p:bg>
      <p:bgPr>
        <a:solidFill>
          <a:srgbClr val="FFFFFF"/>
        </a:solidFill>
      </p:bgPr>
    </p:bg>
    <p:spTree>
      <p:nvGrpSpPr>
        <p:cNvPr id="1" name=""/>
        <p:cNvGrpSpPr/>
        <p:nvPr/>
      </p:nvGrpSpPr>
      <p:grpSpPr>
        <a:xfrm>
          <a:off x="0" y="0"/>
          <a:ext cx="0" cy="0"/>
          <a:chOff x="0" y="0"/>
          <a:chExt cx="0" cy="0"/>
        </a:xfrm>
      </p:grpSpPr>
      <p:sp>
        <p:nvSpPr>
          <p:cNvPr id="15" name="Tekstvak 8"/>
          <p:cNvSpPr/>
          <p:nvPr/>
        </p:nvSpPr>
        <p:spPr>
          <a:xfrm>
            <a:off x="63360" y="6336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16" name="Tekstvak 9"/>
          <p:cNvSpPr/>
          <p:nvPr/>
        </p:nvSpPr>
        <p:spPr>
          <a:xfrm>
            <a:off x="63360" y="664200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17" name="PlaceHolder 1"/>
          <p:cNvSpPr>
            <a:spLocks noGrp="1"/>
          </p:cNvSpPr>
          <p:nvPr>
            <p:ph type="title"/>
          </p:nvPr>
        </p:nvSpPr>
        <p:spPr>
          <a:xfrm>
            <a:off x="6629400" y="274680"/>
            <a:ext cx="2057040" cy="5851080"/>
          </a:xfrm>
          <a:prstGeom prst="rect">
            <a:avLst/>
          </a:prstGeom>
          <a:noFill/>
          <a:ln w="0">
            <a:noFill/>
          </a:ln>
        </p:spPr>
        <p:txBody>
          <a:bodyPr lIns="91440" tIns="45720" rIns="91440" bIns="45720" anchor="ctr" vert="eaVert">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18" name="PlaceHolder 2"/>
          <p:cNvSpPr>
            <a:spLocks noGrp="1"/>
          </p:cNvSpPr>
          <p:nvPr>
            <p:ph type="body"/>
          </p:nvPr>
        </p:nvSpPr>
        <p:spPr>
          <a:xfrm>
            <a:off x="457200" y="274680"/>
            <a:ext cx="6019560" cy="5851080"/>
          </a:xfrm>
          <a:prstGeom prst="rect">
            <a:avLst/>
          </a:prstGeom>
          <a:noFill/>
          <a:ln w="0">
            <a:noFill/>
          </a:ln>
        </p:spPr>
        <p:txBody>
          <a:bodyPr lIns="91440" tIns="45720" rIns="91440" bIns="45720" anchor="t" vert="eaVe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19" name="PlaceHolder 3"/>
          <p:cNvSpPr>
            <a:spLocks noGrp="1"/>
          </p:cNvSpPr>
          <p:nvPr>
            <p:ph type="dt" idx="7"/>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20" name="PlaceHolder 4"/>
          <p:cNvSpPr>
            <a:spLocks noGrp="1"/>
          </p:cNvSpPr>
          <p:nvPr>
            <p:ph type="ftr" idx="8"/>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1" name="PlaceHolder 5"/>
          <p:cNvSpPr>
            <a:spLocks noGrp="1"/>
          </p:cNvSpPr>
          <p:nvPr>
            <p:ph type="sldNum" idx="9"/>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621F18E-C9DC-4787-BDBC-D86DE6871E40}"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4.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obj" preserve="1">
  <p:cSld name="Title and Content">
    <p:bg>
      <p:bgPr>
        <a:solidFill>
          <a:srgbClr val="FFFFFF"/>
        </a:solidFill>
      </p:bgPr>
    </p:bg>
    <p:spTree>
      <p:nvGrpSpPr>
        <p:cNvPr id="1" name=""/>
        <p:cNvGrpSpPr/>
        <p:nvPr/>
      </p:nvGrpSpPr>
      <p:grpSpPr>
        <a:xfrm>
          <a:off x="0" y="0"/>
          <a:ext cx="0" cy="0"/>
          <a:chOff x="0" y="0"/>
          <a:chExt cx="0" cy="0"/>
        </a:xfrm>
      </p:grpSpPr>
      <p:sp>
        <p:nvSpPr>
          <p:cNvPr id="22" name="Tekstvak 8"/>
          <p:cNvSpPr/>
          <p:nvPr/>
        </p:nvSpPr>
        <p:spPr>
          <a:xfrm>
            <a:off x="63360" y="6336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23" name="Tekstvak 9"/>
          <p:cNvSpPr/>
          <p:nvPr/>
        </p:nvSpPr>
        <p:spPr>
          <a:xfrm>
            <a:off x="63360" y="664200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24"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25" name="PlaceHolder 2"/>
          <p:cNvSpPr>
            <a:spLocks noGrp="1"/>
          </p:cNvSpPr>
          <p:nvPr>
            <p:ph type="body"/>
          </p:nvPr>
        </p:nvSpPr>
        <p:spPr>
          <a:xfrm>
            <a:off x="457200" y="1600200"/>
            <a:ext cx="8229240" cy="452556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26" name="PlaceHolder 3"/>
          <p:cNvSpPr>
            <a:spLocks noGrp="1"/>
          </p:cNvSpPr>
          <p:nvPr>
            <p:ph type="dt" idx="10"/>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27" name="PlaceHolder 4"/>
          <p:cNvSpPr>
            <a:spLocks noGrp="1"/>
          </p:cNvSpPr>
          <p:nvPr>
            <p:ph type="ftr" idx="11"/>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28" name="PlaceHolder 5"/>
          <p:cNvSpPr>
            <a:spLocks noGrp="1"/>
          </p:cNvSpPr>
          <p:nvPr>
            <p:ph type="sldNum" idx="12"/>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1814B3F-CB82-4C1C-882F-9BEF82E42C11}"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5.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Section Header">
    <p:bg>
      <p:bgPr>
        <a:solidFill>
          <a:srgbClr val="FFFFFF"/>
        </a:solidFill>
      </p:bgPr>
    </p:bg>
    <p:spTree>
      <p:nvGrpSpPr>
        <p:cNvPr id="1" name=""/>
        <p:cNvGrpSpPr/>
        <p:nvPr/>
      </p:nvGrpSpPr>
      <p:grpSpPr>
        <a:xfrm>
          <a:off x="0" y="0"/>
          <a:ext cx="0" cy="0"/>
          <a:chOff x="0" y="0"/>
          <a:chExt cx="0" cy="0"/>
        </a:xfrm>
      </p:grpSpPr>
      <p:sp>
        <p:nvSpPr>
          <p:cNvPr id="29" name="Tekstvak 8"/>
          <p:cNvSpPr/>
          <p:nvPr/>
        </p:nvSpPr>
        <p:spPr>
          <a:xfrm>
            <a:off x="63360" y="6336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30" name="Tekstvak 9"/>
          <p:cNvSpPr/>
          <p:nvPr/>
        </p:nvSpPr>
        <p:spPr>
          <a:xfrm>
            <a:off x="63360" y="664200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31" name="PlaceHolder 1"/>
          <p:cNvSpPr>
            <a:spLocks noGrp="1"/>
          </p:cNvSpPr>
          <p:nvPr>
            <p:ph type="title"/>
          </p:nvPr>
        </p:nvSpPr>
        <p:spPr>
          <a:xfrm>
            <a:off x="722160" y="4406760"/>
            <a:ext cx="7772040" cy="1361880"/>
          </a:xfrm>
          <a:prstGeom prst="rect">
            <a:avLst/>
          </a:prstGeom>
          <a:noFill/>
          <a:ln w="0">
            <a:noFill/>
          </a:ln>
        </p:spPr>
        <p:txBody>
          <a:bodyPr lIns="91440" tIns="45720" rIns="91440" bIns="45720" anchor="t">
            <a:noAutofit/>
          </a:bodyPr>
          <a:lstStyle>
            <a:lvl1pPr indent="0" algn="l" defTabSz="457200">
              <a:lnSpc>
                <a:spcPct val="100000"/>
              </a:lnSpc>
              <a:buNone/>
              <a:defRPr lang="en-US" sz="4000" b="1" u="none" strike="noStrike" cap="all">
                <a:solidFill>
                  <a:schemeClr val="dk1"/>
                </a:solidFill>
                <a:effectLst/>
                <a:uFillTx/>
                <a:latin typeface="Calibri"/>
              </a:defRPr>
            </a:lvl1pPr>
          </a:lstStyle>
          <a:p>
            <a:pPr indent="0" algn="l" defTabSz="457200">
              <a:lnSpc>
                <a:spcPct val="100000"/>
              </a:lnSpc>
              <a:buNone/>
            </a:pPr>
            <a:r>
              <a:rPr lang="en-US" sz="4000" b="1" u="none" strike="noStrike" cap="all">
                <a:solidFill>
                  <a:schemeClr val="dk1"/>
                </a:solidFill>
                <a:effectLst/>
                <a:uFillTx/>
                <a:latin typeface="Calibri"/>
              </a:rPr>
              <a:t>Click to edit Master title style</a:t>
            </a:r>
            <a:endParaRPr lang="en-US" sz="4000" b="1" u="none" strike="noStrike" cap="all">
              <a:solidFill>
                <a:schemeClr val="dk1"/>
              </a:solidFill>
              <a:effectLst/>
              <a:uFillTx/>
              <a:latin typeface="Calibri"/>
            </a:endParaRPr>
          </a:p>
        </p:txBody>
      </p:sp>
      <p:sp>
        <p:nvSpPr>
          <p:cNvPr id="32" name="PlaceHolder 2"/>
          <p:cNvSpPr>
            <a:spLocks noGrp="1"/>
          </p:cNvSpPr>
          <p:nvPr>
            <p:ph type="body"/>
          </p:nvPr>
        </p:nvSpPr>
        <p:spPr>
          <a:xfrm>
            <a:off x="722160" y="2906640"/>
            <a:ext cx="7772040" cy="1499760"/>
          </a:xfrm>
          <a:prstGeom prst="rect">
            <a:avLst/>
          </a:prstGeom>
          <a:noFill/>
          <a:ln w="0">
            <a:noFill/>
          </a:ln>
        </p:spPr>
        <p:txBody>
          <a:bodyPr lIns="91440" tIns="45720" rIns="91440" bIns="45720" anchor="b">
            <a:noAutofit/>
          </a:bodyPr>
          <a:lstStyle>
            <a:lvl1pPr indent="0" algn="l" defTabSz="457200">
              <a:lnSpc>
                <a:spcPct val="100000"/>
              </a:lnSpc>
              <a:spcBef>
                <a:spcPts val="400"/>
              </a:spcBef>
              <a:buNone/>
              <a:tabLst>
                <a:tab pos="0" algn="l"/>
              </a:tabLst>
              <a:defRPr lang="en-US" sz="2000" b="0" u="none" strike="noStrike">
                <a:solidFill>
                  <a:schemeClr val="dk1">
                    <a:tint val="75000"/>
                  </a:schemeClr>
                </a:solidFill>
                <a:effectLst/>
                <a:uFillTx/>
                <a:latin typeface="Calibri"/>
              </a:defRPr>
            </a:lvl1pPr>
          </a:lstStyle>
          <a:p>
            <a:pPr indent="0" algn="l" defTabSz="457200">
              <a:lnSpc>
                <a:spcPct val="100000"/>
              </a:lnSpc>
              <a:spcBef>
                <a:spcPts val="400"/>
              </a:spcBef>
              <a:buNone/>
              <a:tabLst>
                <a:tab pos="0" algn="l"/>
              </a:tabLst>
            </a:pPr>
            <a:r>
              <a:rPr lang="en-US" sz="2000" b="0" u="none" strike="noStrike">
                <a:solidFill>
                  <a:schemeClr val="dk1">
                    <a:tint val="75000"/>
                  </a:schemeClr>
                </a:solidFill>
                <a:effectLst/>
                <a:uFillTx/>
                <a:latin typeface="Calibri"/>
              </a:rPr>
              <a:t>Click to edit Master text styles</a:t>
            </a:r>
            <a:endParaRPr lang="en-US" sz="2000" b="0" u="none" strike="noStrike">
              <a:solidFill>
                <a:schemeClr val="dk1">
                  <a:tint val="75000"/>
                </a:schemeClr>
              </a:solidFill>
              <a:effectLst/>
              <a:uFillTx/>
              <a:latin typeface="Calibri"/>
            </a:endParaRPr>
          </a:p>
        </p:txBody>
      </p:sp>
      <p:sp>
        <p:nvSpPr>
          <p:cNvPr id="33" name="PlaceHolder 3"/>
          <p:cNvSpPr>
            <a:spLocks noGrp="1"/>
          </p:cNvSpPr>
          <p:nvPr>
            <p:ph type="dt" idx="13"/>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34" name="PlaceHolder 4"/>
          <p:cNvSpPr>
            <a:spLocks noGrp="1"/>
          </p:cNvSpPr>
          <p:nvPr>
            <p:ph type="ftr" idx="14"/>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35" name="PlaceHolder 5"/>
          <p:cNvSpPr>
            <a:spLocks noGrp="1"/>
          </p:cNvSpPr>
          <p:nvPr>
            <p:ph type="sldNum" idx="15"/>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684B2A04-715C-43E1-8893-B0393A058EFD}"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6.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woObj" preserve="1">
  <p:cSld name="Two Content">
    <p:bg>
      <p:bgPr>
        <a:solidFill>
          <a:srgbClr val="FFFFFF"/>
        </a:solidFill>
      </p:bgPr>
    </p:bg>
    <p:spTree>
      <p:nvGrpSpPr>
        <p:cNvPr id="1" name=""/>
        <p:cNvGrpSpPr/>
        <p:nvPr/>
      </p:nvGrpSpPr>
      <p:grpSpPr>
        <a:xfrm>
          <a:off x="0" y="0"/>
          <a:ext cx="0" cy="0"/>
          <a:chOff x="0" y="0"/>
          <a:chExt cx="0" cy="0"/>
        </a:xfrm>
      </p:grpSpPr>
      <p:sp>
        <p:nvSpPr>
          <p:cNvPr id="36" name="Tekstvak 8"/>
          <p:cNvSpPr/>
          <p:nvPr/>
        </p:nvSpPr>
        <p:spPr>
          <a:xfrm>
            <a:off x="63360" y="6336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37" name="Tekstvak 9"/>
          <p:cNvSpPr/>
          <p:nvPr/>
        </p:nvSpPr>
        <p:spPr>
          <a:xfrm>
            <a:off x="63360" y="664200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38"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39" name="PlaceHolder 2"/>
          <p:cNvSpPr>
            <a:spLocks noGrp="1"/>
          </p:cNvSpPr>
          <p:nvPr>
            <p:ph type="body"/>
          </p:nvPr>
        </p:nvSpPr>
        <p:spPr>
          <a:xfrm>
            <a:off x="45720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0" name="PlaceHolder 3"/>
          <p:cNvSpPr>
            <a:spLocks noGrp="1"/>
          </p:cNvSpPr>
          <p:nvPr>
            <p:ph type="body"/>
          </p:nvPr>
        </p:nvSpPr>
        <p:spPr>
          <a:xfrm>
            <a:off x="4648320" y="1600200"/>
            <a:ext cx="4038120" cy="4525560"/>
          </a:xfrm>
          <a:prstGeom prst="rect">
            <a:avLst/>
          </a:prstGeom>
          <a:noFill/>
          <a:ln w="0">
            <a:noFill/>
          </a:ln>
        </p:spPr>
        <p:txBody>
          <a:bodyPr lIns="91440" tIns="45720" rIns="91440" bIns="45720" anchor="t">
            <a:noAutofit/>
          </a:bodyPr>
          <a:lstStyle>
            <a:lvl1pPr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1pPr>
            <a:lvl2pPr lvl="1"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2pPr>
            <a:lvl3pPr lvl="2"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3pPr>
            <a:lvl4pPr lvl="3"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4pPr>
            <a:lvl5pPr lvl="4" algn="l" defTabSz="457200">
              <a:lnSpc>
                <a:spcPct val="100000"/>
              </a:lnSpc>
              <a:spcBef>
                <a:spcPts val="360"/>
              </a:spcBef>
              <a:buClr>
                <a:srgbClr val="000000"/>
              </a:buClr>
              <a:buFont typeface="Arial"/>
              <a:buChar char="»"/>
              <a:defRPr lang="en-US" sz="1800" b="0" u="none" strike="noStrike">
                <a:solidFill>
                  <a:schemeClr val="dk1"/>
                </a:solidFill>
                <a:effectLst/>
                <a:uFillTx/>
                <a:latin typeface="Calibri"/>
              </a:defRPr>
            </a:lvl5pPr>
          </a:lstStyle>
          <a:p>
            <a:pPr marL="343080" indent="-34308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Click to edit Master text styles</a:t>
            </a:r>
            <a:endParaRPr lang="en-US" sz="2800" b="0" u="none" strike="noStrike">
              <a:solidFill>
                <a:schemeClr val="dk1"/>
              </a:solidFill>
              <a:effectLst/>
              <a:uFillTx/>
              <a:latin typeface="Calibri"/>
            </a:endParaRPr>
          </a:p>
          <a:p>
            <a:pPr marL="743040" lvl="1" indent="-28584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Second level</a:t>
            </a:r>
            <a:endParaRPr lang="en-US" sz="2400" b="0" u="none" strike="noStrike">
              <a:solidFill>
                <a:schemeClr val="dk1"/>
              </a:solidFill>
              <a:effectLst/>
              <a:uFillTx/>
              <a:latin typeface="Calibri"/>
            </a:endParaRPr>
          </a:p>
          <a:p>
            <a:pPr marL="1143000" lvl="2"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Third level</a:t>
            </a:r>
            <a:endParaRPr lang="en-US" sz="2000" b="0" u="none" strike="noStrike">
              <a:solidFill>
                <a:schemeClr val="dk1"/>
              </a:solidFill>
              <a:effectLst/>
              <a:uFillTx/>
              <a:latin typeface="Calibri"/>
            </a:endParaRPr>
          </a:p>
          <a:p>
            <a:pPr marL="1600200" lvl="3"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Fourth level</a:t>
            </a:r>
            <a:endParaRPr lang="en-US" sz="1800" b="0" u="none" strike="noStrike">
              <a:solidFill>
                <a:schemeClr val="dk1"/>
              </a:solidFill>
              <a:effectLst/>
              <a:uFillTx/>
              <a:latin typeface="Calibri"/>
            </a:endParaRPr>
          </a:p>
          <a:p>
            <a:pPr marL="2057400" lvl="4" indent="-228600" algn="l" defTabSz="457200">
              <a:lnSpc>
                <a:spcPct val="100000"/>
              </a:lnSpc>
              <a:spcBef>
                <a:spcPts val="360"/>
              </a:spcBef>
              <a:buClr>
                <a:srgbClr val="000000"/>
              </a:buClr>
              <a:buFont typeface="Arial"/>
              <a:buChar char="»"/>
            </a:pPr>
            <a:r>
              <a:rPr lang="en-US" sz="1800" b="0" u="none" strike="noStrike">
                <a:solidFill>
                  <a:schemeClr val="dk1"/>
                </a:solidFill>
                <a:effectLst/>
                <a:uFillTx/>
                <a:latin typeface="Calibri"/>
              </a:rPr>
              <a:t>Fifth level</a:t>
            </a:r>
            <a:endParaRPr lang="en-US" sz="1800" b="0" u="none" strike="noStrike">
              <a:solidFill>
                <a:schemeClr val="dk1"/>
              </a:solidFill>
              <a:effectLst/>
              <a:uFillTx/>
              <a:latin typeface="Calibri"/>
            </a:endParaRPr>
          </a:p>
        </p:txBody>
      </p:sp>
      <p:sp>
        <p:nvSpPr>
          <p:cNvPr id="41" name="PlaceHolder 4"/>
          <p:cNvSpPr>
            <a:spLocks noGrp="1"/>
          </p:cNvSpPr>
          <p:nvPr>
            <p:ph type="dt" idx="16"/>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42" name="PlaceHolder 5"/>
          <p:cNvSpPr>
            <a:spLocks noGrp="1"/>
          </p:cNvSpPr>
          <p:nvPr>
            <p:ph type="ftr" idx="17"/>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43" name="PlaceHolder 6"/>
          <p:cNvSpPr>
            <a:spLocks noGrp="1"/>
          </p:cNvSpPr>
          <p:nvPr>
            <p:ph type="sldNum" idx="18"/>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D1CB5531-C894-44CB-83D9-3D505B44B5DE}"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7.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mparison">
    <p:bg>
      <p:bgPr>
        <a:solidFill>
          <a:srgbClr val="FFFFFF"/>
        </a:solidFill>
      </p:bgPr>
    </p:bg>
    <p:spTree>
      <p:nvGrpSpPr>
        <p:cNvPr id="1" name=""/>
        <p:cNvGrpSpPr/>
        <p:nvPr/>
      </p:nvGrpSpPr>
      <p:grpSpPr>
        <a:xfrm>
          <a:off x="0" y="0"/>
          <a:ext cx="0" cy="0"/>
          <a:chOff x="0" y="0"/>
          <a:chExt cx="0" cy="0"/>
        </a:xfrm>
      </p:grpSpPr>
      <p:sp>
        <p:nvSpPr>
          <p:cNvPr id="44" name="Tekstvak 8"/>
          <p:cNvSpPr/>
          <p:nvPr/>
        </p:nvSpPr>
        <p:spPr>
          <a:xfrm>
            <a:off x="63360" y="6336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45" name="Tekstvak 9"/>
          <p:cNvSpPr/>
          <p:nvPr/>
        </p:nvSpPr>
        <p:spPr>
          <a:xfrm>
            <a:off x="63360" y="664200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4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47" name="PlaceHolder 2"/>
          <p:cNvSpPr>
            <a:spLocks noGrp="1"/>
          </p:cNvSpPr>
          <p:nvPr>
            <p:ph type="body"/>
          </p:nvPr>
        </p:nvSpPr>
        <p:spPr>
          <a:xfrm>
            <a:off x="457200" y="1535040"/>
            <a:ext cx="403992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48" name="PlaceHolder 3"/>
          <p:cNvSpPr>
            <a:spLocks noGrp="1"/>
          </p:cNvSpPr>
          <p:nvPr>
            <p:ph type="body"/>
          </p:nvPr>
        </p:nvSpPr>
        <p:spPr>
          <a:xfrm>
            <a:off x="457200" y="2174760"/>
            <a:ext cx="403992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49" name="PlaceHolder 4"/>
          <p:cNvSpPr>
            <a:spLocks noGrp="1"/>
          </p:cNvSpPr>
          <p:nvPr>
            <p:ph type="body"/>
          </p:nvPr>
        </p:nvSpPr>
        <p:spPr>
          <a:xfrm>
            <a:off x="4645080" y="1535040"/>
            <a:ext cx="4041360" cy="639360"/>
          </a:xfrm>
          <a:prstGeom prst="rect">
            <a:avLst/>
          </a:prstGeom>
          <a:noFill/>
          <a:ln w="0">
            <a:noFill/>
          </a:ln>
        </p:spPr>
        <p:txBody>
          <a:bodyPr lIns="91440" tIns="45720" rIns="91440" bIns="45720" anchor="b">
            <a:noAutofit/>
          </a:bodyPr>
          <a:lstStyle>
            <a:lvl1pPr indent="0" algn="l" defTabSz="457200">
              <a:lnSpc>
                <a:spcPct val="100000"/>
              </a:lnSpc>
              <a:spcBef>
                <a:spcPts val="479"/>
              </a:spcBef>
              <a:buNone/>
              <a:tabLst>
                <a:tab pos="0" algn="l"/>
              </a:tabLst>
              <a:defRPr lang="en-US" sz="2400" b="1" u="none" strike="noStrike">
                <a:solidFill>
                  <a:schemeClr val="dk1"/>
                </a:solidFill>
                <a:effectLst/>
                <a:uFillTx/>
                <a:latin typeface="Calibri"/>
              </a:defRPr>
            </a:lvl1pPr>
          </a:lstStyle>
          <a:p>
            <a:pPr indent="0" algn="l" defTabSz="457200">
              <a:lnSpc>
                <a:spcPct val="100000"/>
              </a:lnSpc>
              <a:spcBef>
                <a:spcPts val="479"/>
              </a:spcBef>
              <a:buNone/>
              <a:tabLst>
                <a:tab pos="0" algn="l"/>
              </a:tabLst>
            </a:pPr>
            <a:r>
              <a:rPr lang="en-US" sz="2400" b="1"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p:txBody>
      </p:sp>
      <p:sp>
        <p:nvSpPr>
          <p:cNvPr id="50" name="PlaceHolder 5"/>
          <p:cNvSpPr>
            <a:spLocks noGrp="1"/>
          </p:cNvSpPr>
          <p:nvPr>
            <p:ph type="body"/>
          </p:nvPr>
        </p:nvSpPr>
        <p:spPr>
          <a:xfrm>
            <a:off x="4645080" y="2174760"/>
            <a:ext cx="4041360" cy="3951000"/>
          </a:xfrm>
          <a:prstGeom prst="rect">
            <a:avLst/>
          </a:prstGeom>
          <a:noFill/>
          <a:ln w="0">
            <a:noFill/>
          </a:ln>
        </p:spPr>
        <p:txBody>
          <a:bodyPr lIns="91440" tIns="45720" rIns="91440" bIns="45720" anchor="t">
            <a:noAutofit/>
          </a:bodyPr>
          <a:lstStyle>
            <a:lvl1pPr algn="l" defTabSz="457200">
              <a:lnSpc>
                <a:spcPct val="100000"/>
              </a:lnSpc>
              <a:spcBef>
                <a:spcPts val="479"/>
              </a:spcBef>
              <a:buClr>
                <a:srgbClr val="000000"/>
              </a:buClr>
              <a:buFont typeface="Arial"/>
              <a:buChar char="•"/>
              <a:tabLst>
                <a:tab pos="0" algn="l"/>
              </a:tabLst>
              <a:defRPr lang="en-US" sz="2400" b="0" u="none" strike="noStrike">
                <a:solidFill>
                  <a:schemeClr val="dk1"/>
                </a:solidFill>
                <a:effectLst/>
                <a:uFillTx/>
                <a:latin typeface="Calibri"/>
              </a:defRPr>
            </a:lvl1pPr>
            <a:lvl2pPr lvl="1" algn="l" defTabSz="457200">
              <a:lnSpc>
                <a:spcPct val="100000"/>
              </a:lnSpc>
              <a:spcBef>
                <a:spcPts val="400"/>
              </a:spcBef>
              <a:buClr>
                <a:srgbClr val="000000"/>
              </a:buClr>
              <a:buFont typeface="Arial"/>
              <a:buChar char="–"/>
              <a:tabLst>
                <a:tab pos="0" algn="l"/>
              </a:tabLst>
              <a:defRPr lang="en-US" sz="2000" b="0" u="none" strike="noStrike">
                <a:solidFill>
                  <a:schemeClr val="dk1"/>
                </a:solidFill>
                <a:effectLst/>
                <a:uFillTx/>
                <a:latin typeface="Calibri"/>
              </a:defRPr>
            </a:lvl2pPr>
            <a:lvl3pPr lvl="2" algn="l" defTabSz="457200">
              <a:lnSpc>
                <a:spcPct val="100000"/>
              </a:lnSpc>
              <a:spcBef>
                <a:spcPts val="360"/>
              </a:spcBef>
              <a:buClr>
                <a:srgbClr val="000000"/>
              </a:buClr>
              <a:buFont typeface="Arial"/>
              <a:buChar char="•"/>
              <a:tabLst>
                <a:tab pos="0" algn="l"/>
              </a:tabLst>
              <a:defRPr lang="en-US" sz="1800" b="0" u="none" strike="noStrike">
                <a:solidFill>
                  <a:schemeClr val="dk1"/>
                </a:solidFill>
                <a:effectLst/>
                <a:uFillTx/>
                <a:latin typeface="Calibri"/>
              </a:defRPr>
            </a:lvl3pPr>
            <a:lvl4pPr lvl="3"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4pPr>
            <a:lvl5pPr lvl="4" algn="l" defTabSz="457200">
              <a:lnSpc>
                <a:spcPct val="100000"/>
              </a:lnSpc>
              <a:spcBef>
                <a:spcPts val="320"/>
              </a:spcBef>
              <a:buClr>
                <a:srgbClr val="000000"/>
              </a:buClr>
              <a:buFont typeface="Arial"/>
              <a:buChar char="»"/>
              <a:tabLst>
                <a:tab pos="0" algn="l"/>
              </a:tabLst>
              <a:defRPr lang="en-US" sz="1600" b="0" u="none" strike="noStrike">
                <a:solidFill>
                  <a:schemeClr val="dk1"/>
                </a:solidFill>
                <a:effectLst/>
                <a:uFillTx/>
                <a:latin typeface="Calibri"/>
              </a:defRPr>
            </a:lvl5pPr>
          </a:lstStyle>
          <a:p>
            <a:pPr marL="343080" indent="-343080" algn="l" defTabSz="457200">
              <a:lnSpc>
                <a:spcPct val="100000"/>
              </a:lnSpc>
              <a:spcBef>
                <a:spcPts val="479"/>
              </a:spcBef>
              <a:buClr>
                <a:srgbClr val="000000"/>
              </a:buClr>
              <a:buFont typeface="Arial"/>
              <a:buChar char="•"/>
              <a:tabLst>
                <a:tab pos="0" algn="l"/>
              </a:tabLst>
            </a:pPr>
            <a:r>
              <a:rPr lang="en-US" sz="2400" b="0" u="none" strike="noStrike">
                <a:solidFill>
                  <a:schemeClr val="dk1"/>
                </a:solidFill>
                <a:effectLst/>
                <a:uFillTx/>
                <a:latin typeface="Calibri"/>
              </a:rPr>
              <a:t>Click to edit Master text styles</a:t>
            </a:r>
            <a:endParaRPr lang="en-US" sz="2400" b="0" u="none" strike="noStrike">
              <a:solidFill>
                <a:schemeClr val="dk1"/>
              </a:solidFill>
              <a:effectLst/>
              <a:uFillTx/>
              <a:latin typeface="Calibri"/>
            </a:endParaRPr>
          </a:p>
          <a:p>
            <a:pPr marL="743040" lvl="1" indent="-285840" algn="l" defTabSz="457200">
              <a:lnSpc>
                <a:spcPct val="100000"/>
              </a:lnSpc>
              <a:spcBef>
                <a:spcPts val="400"/>
              </a:spcBef>
              <a:buClr>
                <a:srgbClr val="000000"/>
              </a:buClr>
              <a:buFont typeface="Arial"/>
              <a:buChar char="–"/>
              <a:tabLst>
                <a:tab pos="0" algn="l"/>
              </a:tabLst>
            </a:pPr>
            <a:r>
              <a:rPr lang="en-US" sz="2000" b="0" u="none" strike="noStrike">
                <a:solidFill>
                  <a:schemeClr val="dk1"/>
                </a:solidFill>
                <a:effectLst/>
                <a:uFillTx/>
                <a:latin typeface="Calibri"/>
              </a:rPr>
              <a:t>Second level</a:t>
            </a:r>
            <a:endParaRPr lang="en-US" sz="2000" b="0" u="none" strike="noStrike">
              <a:solidFill>
                <a:schemeClr val="dk1"/>
              </a:solidFill>
              <a:effectLst/>
              <a:uFillTx/>
              <a:latin typeface="Calibri"/>
            </a:endParaRPr>
          </a:p>
          <a:p>
            <a:pPr marL="1143000" lvl="2" indent="-228600" algn="l" defTabSz="457200">
              <a:lnSpc>
                <a:spcPct val="100000"/>
              </a:lnSpc>
              <a:spcBef>
                <a:spcPts val="360"/>
              </a:spcBef>
              <a:buClr>
                <a:srgbClr val="000000"/>
              </a:buClr>
              <a:buFont typeface="Arial"/>
              <a:buChar char="•"/>
              <a:tabLst>
                <a:tab pos="0" algn="l"/>
              </a:tabLst>
            </a:pPr>
            <a:r>
              <a:rPr lang="en-US" sz="1800" b="0" u="none" strike="noStrike">
                <a:solidFill>
                  <a:schemeClr val="dk1"/>
                </a:solidFill>
                <a:effectLst/>
                <a:uFillTx/>
                <a:latin typeface="Calibri"/>
              </a:rPr>
              <a:t>Third level</a:t>
            </a:r>
            <a:endParaRPr lang="en-US" sz="1800" b="0" u="none" strike="noStrike">
              <a:solidFill>
                <a:schemeClr val="dk1"/>
              </a:solidFill>
              <a:effectLst/>
              <a:uFillTx/>
              <a:latin typeface="Calibri"/>
            </a:endParaRPr>
          </a:p>
          <a:p>
            <a:pPr marL="1600200" lvl="3"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Fourth level</a:t>
            </a:r>
            <a:endParaRPr lang="en-US" sz="1600" b="0" u="none" strike="noStrike">
              <a:solidFill>
                <a:schemeClr val="dk1"/>
              </a:solidFill>
              <a:effectLst/>
              <a:uFillTx/>
              <a:latin typeface="Calibri"/>
            </a:endParaRPr>
          </a:p>
          <a:p>
            <a:pPr marL="2057400" lvl="4" indent="-228600" algn="l" defTabSz="457200">
              <a:lnSpc>
                <a:spcPct val="100000"/>
              </a:lnSpc>
              <a:spcBef>
                <a:spcPts val="320"/>
              </a:spcBef>
              <a:buClr>
                <a:srgbClr val="000000"/>
              </a:buClr>
              <a:buFont typeface="Arial"/>
              <a:buChar char="»"/>
              <a:tabLst>
                <a:tab pos="0" algn="l"/>
              </a:tabLst>
            </a:pPr>
            <a:r>
              <a:rPr lang="en-US" sz="1600" b="0" u="none" strike="noStrike">
                <a:solidFill>
                  <a:schemeClr val="dk1"/>
                </a:solidFill>
                <a:effectLst/>
                <a:uFillTx/>
                <a:latin typeface="Calibri"/>
              </a:rPr>
              <a:t>Fifth level</a:t>
            </a:r>
            <a:endParaRPr lang="en-US" sz="1600" b="0" u="none" strike="noStrike">
              <a:solidFill>
                <a:schemeClr val="dk1"/>
              </a:solidFill>
              <a:effectLst/>
              <a:uFillTx/>
              <a:latin typeface="Calibri"/>
            </a:endParaRPr>
          </a:p>
        </p:txBody>
      </p:sp>
      <p:sp>
        <p:nvSpPr>
          <p:cNvPr id="51" name="PlaceHolder 6"/>
          <p:cNvSpPr>
            <a:spLocks noGrp="1"/>
          </p:cNvSpPr>
          <p:nvPr>
            <p:ph type="dt" idx="19"/>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52" name="PlaceHolder 7"/>
          <p:cNvSpPr>
            <a:spLocks noGrp="1"/>
          </p:cNvSpPr>
          <p:nvPr>
            <p:ph type="ftr" idx="20"/>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53" name="PlaceHolder 8"/>
          <p:cNvSpPr>
            <a:spLocks noGrp="1"/>
          </p:cNvSpPr>
          <p:nvPr>
            <p:ph type="sldNum" idx="21"/>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9F5D9707-9456-4714-A191-185541E551BA}"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8.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titleOnly" preserve="1">
  <p:cSld name="Title Only">
    <p:bg>
      <p:bgPr>
        <a:solidFill>
          <a:srgbClr val="FFFFFF"/>
        </a:solidFill>
      </p:bgPr>
    </p:bg>
    <p:spTree>
      <p:nvGrpSpPr>
        <p:cNvPr id="1" name=""/>
        <p:cNvGrpSpPr/>
        <p:nvPr/>
      </p:nvGrpSpPr>
      <p:grpSpPr>
        <a:xfrm>
          <a:off x="0" y="0"/>
          <a:ext cx="0" cy="0"/>
          <a:chOff x="0" y="0"/>
          <a:chExt cx="0" cy="0"/>
        </a:xfrm>
      </p:grpSpPr>
      <p:sp>
        <p:nvSpPr>
          <p:cNvPr id="54" name="Tekstvak 8"/>
          <p:cNvSpPr/>
          <p:nvPr/>
        </p:nvSpPr>
        <p:spPr>
          <a:xfrm>
            <a:off x="63360" y="6336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55" name="Tekstvak 9"/>
          <p:cNvSpPr/>
          <p:nvPr/>
        </p:nvSpPr>
        <p:spPr>
          <a:xfrm>
            <a:off x="63360" y="664200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56" name="PlaceHolder 1"/>
          <p:cNvSpPr>
            <a:spLocks noGrp="1"/>
          </p:cNvSpPr>
          <p:nvPr>
            <p:ph type="title"/>
          </p:nvPr>
        </p:nvSpPr>
        <p:spPr>
          <a:xfrm>
            <a:off x="457200" y="274680"/>
            <a:ext cx="8229240" cy="1142640"/>
          </a:xfrm>
          <a:prstGeom prst="rect">
            <a:avLst/>
          </a:prstGeom>
          <a:noFill/>
          <a:ln w="0">
            <a:noFill/>
          </a:ln>
        </p:spPr>
        <p:txBody>
          <a:bodyPr lIns="91440" tIns="45720" rIns="91440" bIns="45720" anchor="ctr">
            <a:noAutofit/>
          </a:bodyPr>
          <a:lstStyle>
            <a:lvl1pPr indent="0" algn="ctr" defTabSz="457200">
              <a:lnSpc>
                <a:spcPct val="100000"/>
              </a:lnSpc>
              <a:buNone/>
              <a:defRPr lang="en-US" sz="4400" b="0" u="none" strike="noStrike">
                <a:solidFill>
                  <a:schemeClr val="dk1"/>
                </a:solidFill>
                <a:effectLst/>
                <a:uFillTx/>
                <a:latin typeface="Calibri"/>
              </a:defRPr>
            </a:lvl1pPr>
          </a:lstStyle>
          <a:p>
            <a:pPr indent="0" algn="ctr" defTabSz="457200">
              <a:lnSpc>
                <a:spcPct val="100000"/>
              </a:lnSpc>
              <a:buNone/>
            </a:pPr>
            <a:r>
              <a:rPr lang="en-US" sz="4400" b="0" u="none" strike="noStrike">
                <a:solidFill>
                  <a:schemeClr val="dk1"/>
                </a:solidFill>
                <a:effectLst/>
                <a:uFillTx/>
                <a:latin typeface="Calibri"/>
              </a:rPr>
              <a:t>Click to edit Master title style</a:t>
            </a:r>
            <a:endParaRPr lang="en-US" sz="4400" b="0" u="none" strike="noStrike">
              <a:solidFill>
                <a:schemeClr val="dk1"/>
              </a:solidFill>
              <a:effectLst/>
              <a:uFillTx/>
              <a:latin typeface="Calibri"/>
            </a:endParaRPr>
          </a:p>
        </p:txBody>
      </p:sp>
      <p:sp>
        <p:nvSpPr>
          <p:cNvPr id="57" name="PlaceHolder 2"/>
          <p:cNvSpPr>
            <a:spLocks noGrp="1"/>
          </p:cNvSpPr>
          <p:nvPr>
            <p:ph type="dt" idx="22"/>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58" name="PlaceHolder 3"/>
          <p:cNvSpPr>
            <a:spLocks noGrp="1"/>
          </p:cNvSpPr>
          <p:nvPr>
            <p:ph type="ftr" idx="23"/>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59" name="PlaceHolder 4"/>
          <p:cNvSpPr>
            <a:spLocks noGrp="1"/>
          </p:cNvSpPr>
          <p:nvPr>
            <p:ph type="sldNum" idx="24"/>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81C31A08-4163-4729-886E-5E3B72D502A9}"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Tree>
  </p:cSld>
</p:sldLayout>
</file>

<file path=ppt/slideLayouts/slideLayout9.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Blank">
    <p:bg>
      <p:bgPr>
        <a:solidFill>
          <a:srgbClr val="FFFFFF"/>
        </a:solidFill>
      </p:bgPr>
    </p:bg>
    <p:spTree>
      <p:nvGrpSpPr>
        <p:cNvPr id="1" name=""/>
        <p:cNvGrpSpPr/>
        <p:nvPr/>
      </p:nvGrpSpPr>
      <p:grpSpPr>
        <a:xfrm>
          <a:off x="0" y="0"/>
          <a:ext cx="0" cy="0"/>
          <a:chOff x="0" y="0"/>
          <a:chExt cx="0" cy="0"/>
        </a:xfrm>
      </p:grpSpPr>
      <p:sp>
        <p:nvSpPr>
          <p:cNvPr id="60" name="Tekstvak 8"/>
          <p:cNvSpPr/>
          <p:nvPr/>
        </p:nvSpPr>
        <p:spPr>
          <a:xfrm>
            <a:off x="63360" y="6336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61" name="Tekstvak 9"/>
          <p:cNvSpPr/>
          <p:nvPr/>
        </p:nvSpPr>
        <p:spPr>
          <a:xfrm>
            <a:off x="63360" y="664200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62" name="PlaceHolder 1"/>
          <p:cNvSpPr>
            <a:spLocks noGrp="1"/>
          </p:cNvSpPr>
          <p:nvPr>
            <p:ph type="dt" idx="25"/>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 </a:t>
            </a:r>
            <a:endParaRPr lang="en-US" sz="1200" b="0" u="none" strike="noStrike">
              <a:solidFill>
                <a:srgbClr val="000000"/>
              </a:solidFill>
              <a:effectLst/>
              <a:uFillTx/>
              <a:latin typeface="Times New Roman"/>
            </a:endParaRPr>
          </a:p>
        </p:txBody>
      </p:sp>
      <p:sp>
        <p:nvSpPr>
          <p:cNvPr id="63" name="PlaceHolder 2"/>
          <p:cNvSpPr>
            <a:spLocks noGrp="1"/>
          </p:cNvSpPr>
          <p:nvPr>
            <p:ph type="ftr" idx="26"/>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 </a:t>
            </a:r>
            <a:endParaRPr lang="en-US" sz="1400" b="0" u="none" strike="noStrike">
              <a:solidFill>
                <a:srgbClr val="000000"/>
              </a:solidFill>
              <a:effectLst/>
              <a:uFillTx/>
              <a:latin typeface="Times New Roman"/>
            </a:endParaRPr>
          </a:p>
        </p:txBody>
      </p:sp>
      <p:sp>
        <p:nvSpPr>
          <p:cNvPr id="64" name="PlaceHolder 3"/>
          <p:cNvSpPr>
            <a:spLocks noGrp="1"/>
          </p:cNvSpPr>
          <p:nvPr>
            <p:ph type="sldNum" idx="27"/>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BFA5E16F-5174-4767-A961-B423797A7328}" type="slidenum">
              <a:rPr lang="en-US" sz="1200" b="0" u="none" strike="noStrike">
                <a:solidFill>
                  <a:schemeClr val="dk1">
                    <a:tint val="75000"/>
                  </a:schemeClr>
                </a:solidFill>
                <a:effectLst/>
                <a:uFillTx/>
                <a:latin typeface="Calibri"/>
              </a:rPr>
              <a:t>2</a:t>
            </a:fld>
            <a:endParaRPr lang="en-US" sz="1200" b="0" u="none" strike="noStrike">
              <a:solidFill>
                <a:srgbClr val="000000"/>
              </a:solidFill>
              <a:effectLst/>
              <a:uFillTx/>
              <a:latin typeface="Times New Roman"/>
            </a:endParaRPr>
          </a:p>
        </p:txBody>
      </p:sp>
      <p:sp>
        <p:nvSpPr>
          <p:cNvPr id="65" name="PlaceHolder 4"/>
          <p:cNvSpPr>
            <a:spLocks noGrp="1"/>
          </p:cNvSpPr>
          <p:nvPr>
            <p:ph type="title"/>
          </p:nvPr>
        </p:nvSpPr>
        <p:spPr>
          <a:xfrm>
            <a:off x="609480" y="273600"/>
            <a:ext cx="10972440" cy="1144800"/>
          </a:xfrm>
          <a:prstGeom prst="rect">
            <a:avLst/>
          </a:prstGeom>
          <a:noFill/>
          <a:ln w="0">
            <a:noFill/>
          </a:ln>
        </p:spPr>
        <p:txBody>
          <a:bodyPr lIns="0" tIns="0" rIns="0" bIns="0" anchor="ctr">
            <a:noAutofit/>
          </a:bodyPr>
          <a:lstStyle>
            <a:lvl1pPr indent="0" algn="ctr" defTabSz="457200">
              <a:buNone/>
              <a:defRPr lang="en-US" sz="4400" b="0" u="none" strike="noStrike">
                <a:solidFill>
                  <a:schemeClr val="dk1"/>
                </a:solidFill>
                <a:effectLst/>
                <a:uFillTx/>
                <a:latin typeface="Calibri"/>
              </a:defRPr>
            </a:lvl1pPr>
          </a:lstStyle>
          <a:p>
            <a:pPr indent="0" algn="ctr" defTabSz="457200">
              <a:buNone/>
            </a:pPr>
            <a:r>
              <a:rPr lang="en-US" sz="4400" b="0" u="none" strike="noStrike">
                <a:solidFill>
                  <a:schemeClr val="dk1"/>
                </a:solidFill>
                <a:effectLst/>
                <a:uFillTx/>
                <a:latin typeface="Calibri"/>
              </a:rPr>
              <a:t>Click to edit the title text format</a:t>
            </a:r>
            <a:endParaRPr lang="en-US" sz="4400" b="0" u="none" strike="noStrike">
              <a:solidFill>
                <a:schemeClr val="dk1"/>
              </a:solidFill>
              <a:effectLst/>
              <a:uFillTx/>
              <a:latin typeface="Calibri"/>
            </a:endParaRPr>
          </a:p>
        </p:txBody>
      </p:sp>
      <p:sp>
        <p:nvSpPr>
          <p:cNvPr id="66" name="PlaceHolder 5"/>
          <p:cNvSpPr>
            <a:spLocks noGrp="1"/>
          </p:cNvSpPr>
          <p:nvPr>
            <p:ph type="body"/>
          </p:nvPr>
        </p:nvSpPr>
        <p:spPr>
          <a:xfrm>
            <a:off x="609480" y="1604520"/>
            <a:ext cx="10972440" cy="3977280"/>
          </a:xfrm>
          <a:prstGeom prst="rect">
            <a:avLst/>
          </a:prstGeom>
          <a:noFill/>
          <a:ln w="0">
            <a:noFill/>
          </a:ln>
        </p:spPr>
        <p:txBody>
          <a:bodyPr lIns="0" tIns="0" rIns="0" bIns="0" anchor="t">
            <a:normAutofit/>
          </a:bodyPr>
          <a:lstStyle>
            <a:lvl1pPr algn="l" defTabSz="457200">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28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24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20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20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2000" b="0" u="none" strike="noStrike">
                <a:solidFill>
                  <a:schemeClr val="dk1"/>
                </a:solidFill>
                <a:effectLst/>
                <a:uFillTx/>
                <a:latin typeface="Calibri"/>
              </a:defRPr>
            </a:lvl7pPr>
          </a:lstStyle>
          <a:p>
            <a:pPr marL="343080" indent="-343080" algn="l" defTabSz="457200">
              <a:spcBef>
                <a:spcPts val="641"/>
              </a:spcBef>
              <a:buClr>
                <a:srgbClr val="000000"/>
              </a:buClr>
              <a:buFont typeface="Arial"/>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lgn="l" defTabSz="457200">
              <a:spcBef>
                <a:spcPts val="561"/>
              </a:spcBef>
              <a:buClr>
                <a:srgbClr val="000000"/>
              </a:buClr>
              <a:buSzPct val="75000"/>
              <a:buFont typeface="Symbol" charset="2"/>
              <a:buChar char=""/>
            </a:pPr>
            <a:r>
              <a:rPr lang="en-US" sz="2800" b="0" u="none" strike="noStrike">
                <a:solidFill>
                  <a:schemeClr val="dk1"/>
                </a:solidFill>
                <a:effectLst/>
                <a:uFillTx/>
                <a:latin typeface="Calibri"/>
              </a:rPr>
              <a:t>Second Outline Level</a:t>
            </a:r>
            <a:endParaRPr lang="en-US" sz="2800" b="0" u="none" strike="noStrike">
              <a:solidFill>
                <a:schemeClr val="dk1"/>
              </a:solidFill>
              <a:effectLst/>
              <a:uFillTx/>
              <a:latin typeface="Calibri"/>
            </a:endParaRPr>
          </a:p>
          <a:p>
            <a:pPr marL="1296000" lvl="2" indent="-288000" algn="l" defTabSz="457200">
              <a:spcBef>
                <a:spcPts val="479"/>
              </a:spcBef>
              <a:buClr>
                <a:srgbClr val="000000"/>
              </a:buClr>
              <a:buSzPct val="45000"/>
              <a:buFont typeface="Wingdings" charset="2"/>
              <a:buChar char=""/>
            </a:pPr>
            <a:r>
              <a:rPr lang="en-US" sz="2400" b="0" u="none" strike="noStrike">
                <a:solidFill>
                  <a:schemeClr val="dk1"/>
                </a:solidFill>
                <a:effectLst/>
                <a:uFillTx/>
                <a:latin typeface="Calibri"/>
              </a:rPr>
              <a:t>Third Outline Level</a:t>
            </a:r>
            <a:endParaRPr lang="en-US" sz="2400" b="0" u="none" strike="noStrike">
              <a:solidFill>
                <a:schemeClr val="dk1"/>
              </a:solidFill>
              <a:effectLst/>
              <a:uFillTx/>
              <a:latin typeface="Calibri"/>
            </a:endParaRPr>
          </a:p>
          <a:p>
            <a:pPr marL="1728000" lvl="3" indent="-216000" algn="l" defTabSz="457200">
              <a:spcBef>
                <a:spcPts val="400"/>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lgn="l" defTabSz="457200">
              <a:spcBef>
                <a:spcPts val="400"/>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lgn="l" defTabSz="4572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sldLayout>
</file>

<file path=ppt/slideLayouts/slideLayout10.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Content with Caption">
    <p:bg>
      <p:bgPr>
        <a:solidFill>
          <a:srgbClr val="FFFFFF"/>
        </a:solidFill>
      </p:bgPr>
    </p:bg>
    <p:spTree>
      <p:nvGrpSpPr>
        <p:cNvPr id="1" name=""/>
        <p:cNvGrpSpPr/>
        <p:nvPr/>
      </p:nvGrpSpPr>
      <p:grpSpPr>
        <a:xfrm>
          <a:off x="0" y="0"/>
          <a:ext cx="0" cy="0"/>
          <a:chOff x="0" y="0"/>
          <a:chExt cx="0" cy="0"/>
        </a:xfrm>
      </p:grpSpPr>
      <p:sp>
        <p:nvSpPr>
          <p:cNvPr id="67" name="Tekstvak 8"/>
          <p:cNvSpPr/>
          <p:nvPr/>
        </p:nvSpPr>
        <p:spPr>
          <a:xfrm>
            <a:off x="63360" y="6336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68" name="Tekstvak 9"/>
          <p:cNvSpPr/>
          <p:nvPr/>
        </p:nvSpPr>
        <p:spPr>
          <a:xfrm>
            <a:off x="63360" y="664200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69" name="PlaceHolder 1"/>
          <p:cNvSpPr>
            <a:spLocks noGrp="1"/>
          </p:cNvSpPr>
          <p:nvPr>
            <p:ph type="title"/>
          </p:nvPr>
        </p:nvSpPr>
        <p:spPr>
          <a:xfrm>
            <a:off x="457200" y="272880"/>
            <a:ext cx="3007800" cy="116172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70" name="PlaceHolder 2"/>
          <p:cNvSpPr>
            <a:spLocks noGrp="1"/>
          </p:cNvSpPr>
          <p:nvPr>
            <p:ph type="body"/>
          </p:nvPr>
        </p:nvSpPr>
        <p:spPr>
          <a:xfrm>
            <a:off x="3575160" y="272880"/>
            <a:ext cx="5111280" cy="5852880"/>
          </a:xfrm>
          <a:prstGeom prst="rect">
            <a:avLst/>
          </a:prstGeom>
          <a:noFill/>
          <a:ln w="0">
            <a:noFill/>
          </a:ln>
        </p:spPr>
        <p:txBody>
          <a:bodyPr lIns="91440" tIns="45720" rIns="91440" bIns="45720" anchor="t">
            <a:noAutofit/>
          </a:bodyPr>
          <a:lstStyle>
            <a:lvl1pPr algn="l" defTabSz="457200">
              <a:lnSpc>
                <a:spcPct val="100000"/>
              </a:lnSpc>
              <a:spcBef>
                <a:spcPts val="641"/>
              </a:spcBef>
              <a:buClr>
                <a:srgbClr val="000000"/>
              </a:buClr>
              <a:buFont typeface="Arial"/>
              <a:buChar char="•"/>
              <a:defRPr lang="en-US" sz="3200" b="0" u="none" strike="noStrike">
                <a:solidFill>
                  <a:schemeClr val="dk1"/>
                </a:solidFill>
                <a:effectLst/>
                <a:uFillTx/>
                <a:latin typeface="Calibri"/>
              </a:defRPr>
            </a:lvl1pPr>
            <a:lvl2pPr lvl="1" algn="l" defTabSz="457200">
              <a:lnSpc>
                <a:spcPct val="100000"/>
              </a:lnSpc>
              <a:spcBef>
                <a:spcPts val="561"/>
              </a:spcBef>
              <a:buClr>
                <a:srgbClr val="000000"/>
              </a:buClr>
              <a:buFont typeface="Arial"/>
              <a:buChar char="–"/>
              <a:defRPr lang="en-US" sz="2800" b="0" u="none" strike="noStrike">
                <a:solidFill>
                  <a:schemeClr val="dk1"/>
                </a:solidFill>
                <a:effectLst/>
                <a:uFillTx/>
                <a:latin typeface="Calibri"/>
              </a:defRPr>
            </a:lvl2pPr>
            <a:lvl3pPr lvl="2" algn="l" defTabSz="457200">
              <a:lnSpc>
                <a:spcPct val="100000"/>
              </a:lnSpc>
              <a:spcBef>
                <a:spcPts val="479"/>
              </a:spcBef>
              <a:buClr>
                <a:srgbClr val="000000"/>
              </a:buClr>
              <a:buFont typeface="Arial"/>
              <a:buChar char="•"/>
              <a:defRPr lang="en-US" sz="2400" b="0" u="none" strike="noStrike">
                <a:solidFill>
                  <a:schemeClr val="dk1"/>
                </a:solidFill>
                <a:effectLst/>
                <a:uFillTx/>
                <a:latin typeface="Calibri"/>
              </a:defRPr>
            </a:lvl3pPr>
            <a:lvl4pPr lvl="3"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4pPr>
            <a:lvl5pPr lvl="4" algn="l" defTabSz="457200">
              <a:lnSpc>
                <a:spcPct val="100000"/>
              </a:lnSpc>
              <a:spcBef>
                <a:spcPts val="400"/>
              </a:spcBef>
              <a:buClr>
                <a:srgbClr val="000000"/>
              </a:buClr>
              <a:buFont typeface="Arial"/>
              <a:buChar char="»"/>
              <a:defRPr lang="en-US" sz="2000" b="0" u="none" strike="noStrike">
                <a:solidFill>
                  <a:schemeClr val="dk1"/>
                </a:solidFill>
                <a:effectLst/>
                <a:uFillTx/>
                <a:latin typeface="Calibri"/>
              </a:defRPr>
            </a:lvl5pPr>
          </a:lstStyle>
          <a:p>
            <a:pPr marL="343080" indent="-343080" algn="l" defTabSz="457200">
              <a:lnSpc>
                <a:spcPct val="100000"/>
              </a:lnSpc>
              <a:spcBef>
                <a:spcPts val="641"/>
              </a:spcBef>
              <a:buClr>
                <a:srgbClr val="000000"/>
              </a:buClr>
              <a:buFont typeface="Arial"/>
              <a:buChar char="•"/>
            </a:pPr>
            <a:r>
              <a:rPr lang="en-US" sz="3200" b="0" u="none" strike="noStrike">
                <a:solidFill>
                  <a:schemeClr val="dk1"/>
                </a:solidFill>
                <a:effectLst/>
                <a:uFillTx/>
                <a:latin typeface="Calibri"/>
              </a:rPr>
              <a:t>Click to edit Master text styles</a:t>
            </a:r>
            <a:endParaRPr lang="en-US" sz="3200" b="0" u="none" strike="noStrike">
              <a:solidFill>
                <a:schemeClr val="dk1"/>
              </a:solidFill>
              <a:effectLst/>
              <a:uFillTx/>
              <a:latin typeface="Calibri"/>
            </a:endParaRPr>
          </a:p>
          <a:p>
            <a:pPr marL="743040" lvl="1" indent="-285840" algn="l" defTabSz="457200">
              <a:lnSpc>
                <a:spcPct val="100000"/>
              </a:lnSpc>
              <a:spcBef>
                <a:spcPts val="561"/>
              </a:spcBef>
              <a:buClr>
                <a:srgbClr val="000000"/>
              </a:buClr>
              <a:buFont typeface="Arial"/>
              <a:buChar char="–"/>
            </a:pPr>
            <a:r>
              <a:rPr lang="en-US" sz="2800" b="0" u="none" strike="noStrike">
                <a:solidFill>
                  <a:schemeClr val="dk1"/>
                </a:solidFill>
                <a:effectLst/>
                <a:uFillTx/>
                <a:latin typeface="Calibri"/>
              </a:rPr>
              <a:t>Second level</a:t>
            </a:r>
            <a:endParaRPr lang="en-US" sz="2800" b="0" u="none" strike="noStrike">
              <a:solidFill>
                <a:schemeClr val="dk1"/>
              </a:solidFill>
              <a:effectLst/>
              <a:uFillTx/>
              <a:latin typeface="Calibri"/>
            </a:endParaRPr>
          </a:p>
          <a:p>
            <a:pPr marL="1143000" lvl="2" indent="-228600" algn="l" defTabSz="457200">
              <a:lnSpc>
                <a:spcPct val="100000"/>
              </a:lnSpc>
              <a:spcBef>
                <a:spcPts val="479"/>
              </a:spcBef>
              <a:buClr>
                <a:srgbClr val="000000"/>
              </a:buClr>
              <a:buFont typeface="Arial"/>
              <a:buChar char="•"/>
            </a:pPr>
            <a:r>
              <a:rPr lang="en-US" sz="2400" b="0" u="none" strike="noStrike">
                <a:solidFill>
                  <a:schemeClr val="dk1"/>
                </a:solidFill>
                <a:effectLst/>
                <a:uFillTx/>
                <a:latin typeface="Calibri"/>
              </a:rPr>
              <a:t>Third level</a:t>
            </a:r>
            <a:endParaRPr lang="en-US" sz="2400" b="0" u="none" strike="noStrike">
              <a:solidFill>
                <a:schemeClr val="dk1"/>
              </a:solidFill>
              <a:effectLst/>
              <a:uFillTx/>
              <a:latin typeface="Calibri"/>
            </a:endParaRPr>
          </a:p>
          <a:p>
            <a:pPr marL="1600200" lvl="3"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Fourth level</a:t>
            </a:r>
            <a:endParaRPr lang="en-US" sz="2000" b="0" u="none" strike="noStrike">
              <a:solidFill>
                <a:schemeClr val="dk1"/>
              </a:solidFill>
              <a:effectLst/>
              <a:uFillTx/>
              <a:latin typeface="Calibri"/>
            </a:endParaRPr>
          </a:p>
          <a:p>
            <a:pPr marL="2057400" lvl="4" indent="-228600" algn="l" defTabSz="457200">
              <a:lnSpc>
                <a:spcPct val="100000"/>
              </a:lnSpc>
              <a:spcBef>
                <a:spcPts val="400"/>
              </a:spcBef>
              <a:buClr>
                <a:srgbClr val="000000"/>
              </a:buClr>
              <a:buFont typeface="Arial"/>
              <a:buChar char="»"/>
            </a:pPr>
            <a:r>
              <a:rPr lang="en-US" sz="2000" b="0" u="none" strike="noStrike">
                <a:solidFill>
                  <a:schemeClr val="dk1"/>
                </a:solidFill>
                <a:effectLst/>
                <a:uFillTx/>
                <a:latin typeface="Calibri"/>
              </a:rPr>
              <a:t>Fifth level</a:t>
            </a:r>
            <a:endParaRPr lang="en-US" sz="2000" b="0" u="none" strike="noStrike">
              <a:solidFill>
                <a:schemeClr val="dk1"/>
              </a:solidFill>
              <a:effectLst/>
              <a:uFillTx/>
              <a:latin typeface="Calibri"/>
            </a:endParaRPr>
          </a:p>
        </p:txBody>
      </p:sp>
      <p:sp>
        <p:nvSpPr>
          <p:cNvPr id="71" name="PlaceHolder 3"/>
          <p:cNvSpPr>
            <a:spLocks noGrp="1"/>
          </p:cNvSpPr>
          <p:nvPr>
            <p:ph type="body"/>
          </p:nvPr>
        </p:nvSpPr>
        <p:spPr>
          <a:xfrm>
            <a:off x="457200" y="1434960"/>
            <a:ext cx="3007800" cy="46908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72" name="PlaceHolder 4"/>
          <p:cNvSpPr>
            <a:spLocks noGrp="1"/>
          </p:cNvSpPr>
          <p:nvPr>
            <p:ph type="dt" idx="28"/>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73" name="PlaceHolder 5"/>
          <p:cNvSpPr>
            <a:spLocks noGrp="1"/>
          </p:cNvSpPr>
          <p:nvPr>
            <p:ph type="ftr" idx="29"/>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74" name="PlaceHolder 6"/>
          <p:cNvSpPr>
            <a:spLocks noGrp="1"/>
          </p:cNvSpPr>
          <p:nvPr>
            <p:ph type="sldNum" idx="30"/>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58AE30BB-62D9-4D3E-BC77-70B0D35A5AC8}"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Layouts/slideLayout1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Picture with Caption">
    <p:bg>
      <p:bgPr>
        <a:solidFill>
          <a:srgbClr val="FFFFFF"/>
        </a:solidFill>
      </p:bgPr>
    </p:bg>
    <p:spTree>
      <p:nvGrpSpPr>
        <p:cNvPr id="1" name=""/>
        <p:cNvGrpSpPr/>
        <p:nvPr/>
      </p:nvGrpSpPr>
      <p:grpSpPr>
        <a:xfrm>
          <a:off x="0" y="0"/>
          <a:ext cx="0" cy="0"/>
          <a:chOff x="0" y="0"/>
          <a:chExt cx="0" cy="0"/>
        </a:xfrm>
      </p:grpSpPr>
      <p:sp>
        <p:nvSpPr>
          <p:cNvPr id="75" name="Tekstvak 8"/>
          <p:cNvSpPr/>
          <p:nvPr/>
        </p:nvSpPr>
        <p:spPr>
          <a:xfrm>
            <a:off x="63360" y="6336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76" name="Tekstvak 9"/>
          <p:cNvSpPr/>
          <p:nvPr/>
        </p:nvSpPr>
        <p:spPr>
          <a:xfrm>
            <a:off x="63360" y="6642000"/>
            <a:ext cx="348840" cy="151920"/>
          </a:xfrm>
          <a:prstGeom prst="rect">
            <a:avLst/>
          </a:prstGeom>
          <a:noFill/>
          <a:ln w="0">
            <a:noFill/>
          </a:ln>
        </p:spPr>
        <p:style>
          <a:lnRef idx="0"/>
          <a:fillRef idx="0"/>
          <a:effectRef idx="0"/>
          <a:fontRef idx="minor"/>
        </p:style>
        <p:txBody>
          <a:bodyPr horzOverflow="overflow" lIns="0" tIns="0" rIns="0" bIns="0" anchor="t">
            <a:spAutoFit/>
          </a:bodyPr>
          <a:p>
            <a:pPr defTabSz="457200">
              <a:lnSpc>
                <a:spcPct val="100000"/>
              </a:lnSpc>
            </a:pPr>
            <a:r>
              <a:rPr lang="nl-NL" sz="1000" b="0" u="none" strike="noStrike">
                <a:solidFill>
                  <a:srgbClr val="999999">
                    <a:alpha val="50000"/>
                  </a:srgbClr>
                </a:solidFill>
                <a:effectLst/>
                <a:uFillTx/>
                <a:latin typeface="Aptos"/>
              </a:rPr>
              <a:t>Intern</a:t>
            </a:r>
            <a:endParaRPr lang="en-US" sz="1000" b="0" u="none" strike="noStrike">
              <a:solidFill>
                <a:srgbClr val="000000"/>
              </a:solidFill>
              <a:effectLst/>
              <a:uFillTx/>
              <a:latin typeface="Arial"/>
            </a:endParaRPr>
          </a:p>
        </p:txBody>
      </p:sp>
      <p:sp>
        <p:nvSpPr>
          <p:cNvPr id="77" name="PlaceHolder 1"/>
          <p:cNvSpPr>
            <a:spLocks noGrp="1"/>
          </p:cNvSpPr>
          <p:nvPr>
            <p:ph type="title"/>
          </p:nvPr>
        </p:nvSpPr>
        <p:spPr>
          <a:xfrm>
            <a:off x="1792440" y="4800600"/>
            <a:ext cx="5486040" cy="566280"/>
          </a:xfrm>
          <a:prstGeom prst="rect">
            <a:avLst/>
          </a:prstGeom>
          <a:noFill/>
          <a:ln w="0">
            <a:noFill/>
          </a:ln>
        </p:spPr>
        <p:txBody>
          <a:bodyPr lIns="91440" tIns="45720" rIns="91440" bIns="45720" anchor="b">
            <a:noAutofit/>
          </a:bodyPr>
          <a:lstStyle>
            <a:lvl1pPr indent="0" algn="l" defTabSz="457200">
              <a:lnSpc>
                <a:spcPct val="100000"/>
              </a:lnSpc>
              <a:buNone/>
              <a:defRPr lang="en-US" sz="2000" b="1" u="none" strike="noStrike">
                <a:solidFill>
                  <a:schemeClr val="dk1"/>
                </a:solidFill>
                <a:effectLst/>
                <a:uFillTx/>
                <a:latin typeface="Calibri"/>
              </a:defRPr>
            </a:lvl1pPr>
          </a:lstStyle>
          <a:p>
            <a:pPr indent="0" algn="l" defTabSz="457200">
              <a:lnSpc>
                <a:spcPct val="100000"/>
              </a:lnSpc>
              <a:buNone/>
            </a:pPr>
            <a:r>
              <a:rPr lang="en-US" sz="2000" b="1" u="none" strike="noStrike">
                <a:solidFill>
                  <a:schemeClr val="dk1"/>
                </a:solidFill>
                <a:effectLst/>
                <a:uFillTx/>
                <a:latin typeface="Calibri"/>
              </a:rPr>
              <a:t>Click to edit Master title style</a:t>
            </a:r>
            <a:endParaRPr lang="en-US" sz="2000" b="1" u="none" strike="noStrike">
              <a:solidFill>
                <a:schemeClr val="dk1"/>
              </a:solidFill>
              <a:effectLst/>
              <a:uFillTx/>
              <a:latin typeface="Calibri"/>
            </a:endParaRPr>
          </a:p>
        </p:txBody>
      </p:sp>
      <p:sp>
        <p:nvSpPr>
          <p:cNvPr id="78" name="PlaceHolder 2"/>
          <p:cNvSpPr>
            <a:spLocks noGrp="1"/>
          </p:cNvSpPr>
          <p:nvPr>
            <p:ph type="body"/>
          </p:nvPr>
        </p:nvSpPr>
        <p:spPr>
          <a:xfrm>
            <a:off x="1792440" y="612720"/>
            <a:ext cx="5486040" cy="4114440"/>
          </a:xfrm>
          <a:prstGeom prst="rect">
            <a:avLst/>
          </a:prstGeom>
          <a:noFill/>
          <a:ln w="0">
            <a:noFill/>
          </a:ln>
        </p:spPr>
        <p:txBody>
          <a:bodyPr lIns="90000" tIns="45000" rIns="90000" bIns="45000" anchor="t">
            <a:noAutofit/>
          </a:bodyPr>
          <a:lstStyle>
            <a:lvl1pPr algn="l" defTabSz="457200">
              <a:spcBef>
                <a:spcPts val="281"/>
              </a:spcBef>
              <a:buClr>
                <a:srgbClr val="000000"/>
              </a:buClr>
              <a:buFont typeface="Arial"/>
              <a:buChar char="•"/>
              <a:tabLst>
                <a:tab pos="0" algn="l"/>
              </a:tabLst>
              <a:defRPr lang="en-US" sz="3200" b="0" u="none" strike="noStrike">
                <a:solidFill>
                  <a:schemeClr val="dk1"/>
                </a:solidFill>
                <a:effectLst/>
                <a:uFillTx/>
                <a:latin typeface="Calibri"/>
              </a:defRPr>
            </a:lvl1pPr>
            <a:lvl2pPr lvl="1" algn="l" defTabSz="457200">
              <a:spcBef>
                <a:spcPts val="561"/>
              </a:spcBef>
              <a:buClr>
                <a:srgbClr val="000000"/>
              </a:buClr>
              <a:buSzPct val="75000"/>
              <a:buFont typeface="Symbol" charset="2"/>
              <a:buChar char=""/>
              <a:defRPr lang="en-US" sz="3200" b="0" u="none" strike="noStrike">
                <a:solidFill>
                  <a:schemeClr val="dk1"/>
                </a:solidFill>
                <a:effectLst/>
                <a:uFillTx/>
                <a:latin typeface="Calibri"/>
              </a:defRPr>
            </a:lvl2pPr>
            <a:lvl3pPr lvl="2" algn="l" defTabSz="457200">
              <a:spcBef>
                <a:spcPts val="479"/>
              </a:spcBef>
              <a:buClr>
                <a:srgbClr val="000000"/>
              </a:buClr>
              <a:buSzPct val="45000"/>
              <a:buFont typeface="Wingdings" charset="2"/>
              <a:buChar char=""/>
              <a:defRPr lang="en-US" sz="3200" b="0" u="none" strike="noStrike">
                <a:solidFill>
                  <a:schemeClr val="dk1"/>
                </a:solidFill>
                <a:effectLst/>
                <a:uFillTx/>
                <a:latin typeface="Calibri"/>
              </a:defRPr>
            </a:lvl3pPr>
            <a:lvl4pPr lvl="3" algn="l" defTabSz="457200">
              <a:spcBef>
                <a:spcPts val="400"/>
              </a:spcBef>
              <a:buClr>
                <a:srgbClr val="000000"/>
              </a:buClr>
              <a:buSzPct val="75000"/>
              <a:buFont typeface="Symbol" charset="2"/>
              <a:buChar char=""/>
              <a:defRPr lang="en-US" sz="3200" b="0" u="none" strike="noStrike">
                <a:solidFill>
                  <a:schemeClr val="dk1"/>
                </a:solidFill>
                <a:effectLst/>
                <a:uFillTx/>
                <a:latin typeface="Calibri"/>
              </a:defRPr>
            </a:lvl4pPr>
            <a:lvl5pPr lvl="4" algn="l" defTabSz="457200">
              <a:spcBef>
                <a:spcPts val="400"/>
              </a:spcBef>
              <a:buClr>
                <a:srgbClr val="000000"/>
              </a:buClr>
              <a:buSzPct val="45000"/>
              <a:buFont typeface="Wingdings" charset="2"/>
              <a:buChar char=""/>
              <a:defRPr lang="en-US" sz="3200" b="0" u="none" strike="noStrike">
                <a:solidFill>
                  <a:schemeClr val="dk1"/>
                </a:solidFill>
                <a:effectLst/>
                <a:uFillTx/>
                <a:latin typeface="Calibri"/>
              </a:defRPr>
            </a:lvl5pPr>
            <a:lvl6pPr lvl="5"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6pPr>
            <a:lvl7pPr lvl="6" algn="l" defTabSz="457200">
              <a:spcBef>
                <a:spcPts val="283"/>
              </a:spcBef>
              <a:buClr>
                <a:srgbClr val="000000"/>
              </a:buClr>
              <a:buSzPct val="45000"/>
              <a:buFont typeface="Wingdings" charset="2"/>
              <a:buChar char=""/>
              <a:defRPr lang="en-US" sz="3200" b="0" u="none" strike="noStrike">
                <a:solidFill>
                  <a:schemeClr val="dk1"/>
                </a:solidFill>
                <a:effectLst/>
                <a:uFillTx/>
                <a:latin typeface="Calibri"/>
              </a:defRPr>
            </a:lvl7pPr>
          </a:lstStyle>
          <a:p>
            <a:pPr algn="l" defTabSz="457200">
              <a:spcBef>
                <a:spcPts val="281"/>
              </a:spcBef>
              <a:buClr>
                <a:srgbClr val="000000"/>
              </a:buClr>
              <a:buFont typeface="Arial"/>
              <a:buChar char="•"/>
              <a:tabLst>
                <a:tab pos="0" algn="l"/>
              </a:tabLst>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457200" lvl="1" algn="l" defTabSz="457200">
              <a:spcBef>
                <a:spcPts val="561"/>
              </a:spcBef>
              <a:buClr>
                <a:srgbClr val="000000"/>
              </a:buClr>
              <a:buSzPct val="75000"/>
              <a:buFont typeface="Symbol" charset="2"/>
              <a:buChar char=""/>
            </a:pPr>
            <a:r>
              <a:rPr lang="en-US" sz="3200" b="0" u="none" strike="noStrike">
                <a:solidFill>
                  <a:schemeClr val="dk1"/>
                </a:solidFill>
                <a:effectLst/>
                <a:uFillTx/>
                <a:latin typeface="Calibri"/>
              </a:rPr>
              <a:t>Second Outline Level</a:t>
            </a:r>
            <a:endParaRPr lang="en-US" sz="3200" b="0" u="none" strike="noStrike">
              <a:solidFill>
                <a:schemeClr val="dk1"/>
              </a:solidFill>
              <a:effectLst/>
              <a:uFillTx/>
              <a:latin typeface="Calibri"/>
            </a:endParaRPr>
          </a:p>
          <a:p>
            <a:pPr marL="914400" lvl="2" algn="l" defTabSz="457200">
              <a:spcBef>
                <a:spcPts val="479"/>
              </a:spcBef>
              <a:buClr>
                <a:srgbClr val="000000"/>
              </a:buClr>
              <a:buSzPct val="45000"/>
              <a:buFont typeface="Wingdings" charset="2"/>
              <a:buChar char=""/>
            </a:pPr>
            <a:r>
              <a:rPr lang="en-US" sz="3200" b="0" u="none" strike="noStrike">
                <a:solidFill>
                  <a:schemeClr val="dk1"/>
                </a:solidFill>
                <a:effectLst/>
                <a:uFillTx/>
                <a:latin typeface="Calibri"/>
              </a:rPr>
              <a:t>Third Outline Level</a:t>
            </a:r>
            <a:endParaRPr lang="en-US" sz="3200" b="0" u="none" strike="noStrike">
              <a:solidFill>
                <a:schemeClr val="dk1"/>
              </a:solidFill>
              <a:effectLst/>
              <a:uFillTx/>
              <a:latin typeface="Calibri"/>
            </a:endParaRPr>
          </a:p>
          <a:p>
            <a:pPr marL="1371600" lvl="3" algn="l" defTabSz="457200">
              <a:spcBef>
                <a:spcPts val="400"/>
              </a:spcBef>
              <a:buClr>
                <a:srgbClr val="000000"/>
              </a:buClr>
              <a:buSzPct val="75000"/>
              <a:buFont typeface="Symbol" charset="2"/>
              <a:buChar char=""/>
            </a:pPr>
            <a:r>
              <a:rPr lang="en-US" sz="3200" b="0" u="none" strike="noStrike">
                <a:solidFill>
                  <a:schemeClr val="dk1"/>
                </a:solidFill>
                <a:effectLst/>
                <a:uFillTx/>
                <a:latin typeface="Calibri"/>
              </a:rPr>
              <a:t>Fourth Outline Level</a:t>
            </a:r>
            <a:endParaRPr lang="en-US" sz="3200" b="0" u="none" strike="noStrike">
              <a:solidFill>
                <a:schemeClr val="dk1"/>
              </a:solidFill>
              <a:effectLst/>
              <a:uFillTx/>
              <a:latin typeface="Calibri"/>
            </a:endParaRPr>
          </a:p>
          <a:p>
            <a:pPr marL="1828800" lvl="4" algn="l" defTabSz="457200">
              <a:spcBef>
                <a:spcPts val="400"/>
              </a:spcBef>
              <a:buClr>
                <a:srgbClr val="000000"/>
              </a:buClr>
              <a:buSzPct val="45000"/>
              <a:buFont typeface="Wingdings" charset="2"/>
              <a:buChar char=""/>
            </a:pPr>
            <a:r>
              <a:rPr lang="en-US" sz="3200" b="0" u="none" strike="noStrike">
                <a:solidFill>
                  <a:schemeClr val="dk1"/>
                </a:solidFill>
                <a:effectLst/>
                <a:uFillTx/>
                <a:latin typeface="Calibri"/>
              </a:rPr>
              <a:t>Fifth Outline Level</a:t>
            </a:r>
            <a:endParaRPr lang="en-US" sz="3200" b="0" u="none" strike="noStrike">
              <a:solidFill>
                <a:schemeClr val="dk1"/>
              </a:solidFill>
              <a:effectLst/>
              <a:uFillTx/>
              <a:latin typeface="Calibri"/>
            </a:endParaRPr>
          </a:p>
          <a:p>
            <a:pPr marL="2286000" lvl="5"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Sixth Outline Level</a:t>
            </a:r>
            <a:endParaRPr lang="en-US" sz="3200" b="0" u="none" strike="noStrike">
              <a:solidFill>
                <a:schemeClr val="dk1"/>
              </a:solidFill>
              <a:effectLst/>
              <a:uFillTx/>
              <a:latin typeface="Calibri"/>
            </a:endParaRPr>
          </a:p>
          <a:p>
            <a:pPr marL="2743200" lvl="6" algn="l" defTabSz="457200">
              <a:spcBef>
                <a:spcPts val="283"/>
              </a:spcBef>
              <a:buClr>
                <a:srgbClr val="000000"/>
              </a:buClr>
              <a:buSzPct val="45000"/>
              <a:buFont typeface="Wingdings" charset="2"/>
              <a:buChar char=""/>
            </a:pPr>
            <a:r>
              <a:rPr lang="en-US" sz="3200" b="0" u="none" strike="noStrike">
                <a:solidFill>
                  <a:schemeClr val="dk1"/>
                </a:solidFill>
                <a:effectLst/>
                <a:uFillTx/>
                <a:latin typeface="Calibri"/>
              </a:rPr>
              <a:t>Seventh Outline Level</a:t>
            </a:r>
            <a:endParaRPr lang="en-US" sz="3200" b="0" u="none" strike="noStrike">
              <a:solidFill>
                <a:schemeClr val="dk1"/>
              </a:solidFill>
              <a:effectLst/>
              <a:uFillTx/>
              <a:latin typeface="Calibri"/>
            </a:endParaRPr>
          </a:p>
        </p:txBody>
      </p:sp>
      <p:sp>
        <p:nvSpPr>
          <p:cNvPr id="79" name="PlaceHolder 3"/>
          <p:cNvSpPr>
            <a:spLocks noGrp="1"/>
          </p:cNvSpPr>
          <p:nvPr>
            <p:ph type="body"/>
          </p:nvPr>
        </p:nvSpPr>
        <p:spPr>
          <a:xfrm>
            <a:off x="1792440" y="5367240"/>
            <a:ext cx="5486040" cy="804600"/>
          </a:xfrm>
          <a:prstGeom prst="rect">
            <a:avLst/>
          </a:prstGeom>
          <a:noFill/>
          <a:ln w="0">
            <a:noFill/>
          </a:ln>
        </p:spPr>
        <p:txBody>
          <a:bodyPr lIns="91440" tIns="45720" rIns="91440" bIns="45720" anchor="t">
            <a:noAutofit/>
          </a:bodyPr>
          <a:lstStyle>
            <a:lvl1pPr indent="0" algn="l" defTabSz="457200">
              <a:lnSpc>
                <a:spcPct val="100000"/>
              </a:lnSpc>
              <a:spcBef>
                <a:spcPts val="281"/>
              </a:spcBef>
              <a:buNone/>
              <a:tabLst>
                <a:tab pos="0" algn="l"/>
              </a:tabLst>
              <a:defRPr lang="en-US" sz="1400" b="0" u="none" strike="noStrike">
                <a:solidFill>
                  <a:schemeClr val="dk1"/>
                </a:solidFill>
                <a:effectLst/>
                <a:uFillTx/>
                <a:latin typeface="Calibri"/>
              </a:defRPr>
            </a:lvl1pPr>
          </a:lstStyle>
          <a:p>
            <a:pPr indent="0" algn="l" defTabSz="457200">
              <a:lnSpc>
                <a:spcPct val="100000"/>
              </a:lnSpc>
              <a:spcBef>
                <a:spcPts val="281"/>
              </a:spcBef>
              <a:buNone/>
              <a:tabLst>
                <a:tab pos="0" algn="l"/>
              </a:tabLst>
            </a:pPr>
            <a:r>
              <a:rPr lang="en-US" sz="1400" b="0" u="none" strike="noStrike">
                <a:solidFill>
                  <a:schemeClr val="dk1"/>
                </a:solidFill>
                <a:effectLst/>
                <a:uFillTx/>
                <a:latin typeface="Calibri"/>
              </a:rPr>
              <a:t>Click to edit Master text styles</a:t>
            </a:r>
            <a:endParaRPr lang="en-US" sz="1400" b="0" u="none" strike="noStrike">
              <a:solidFill>
                <a:schemeClr val="dk1"/>
              </a:solidFill>
              <a:effectLst/>
              <a:uFillTx/>
              <a:latin typeface="Calibri"/>
            </a:endParaRPr>
          </a:p>
        </p:txBody>
      </p:sp>
      <p:sp>
        <p:nvSpPr>
          <p:cNvPr id="80" name="PlaceHolder 4"/>
          <p:cNvSpPr>
            <a:spLocks noGrp="1"/>
          </p:cNvSpPr>
          <p:nvPr>
            <p:ph type="dt" idx="31"/>
          </p:nvPr>
        </p:nvSpPr>
        <p:spPr>
          <a:xfrm>
            <a:off x="457200" y="6356520"/>
            <a:ext cx="2133360" cy="364680"/>
          </a:xfrm>
          <a:prstGeom prst="rect">
            <a:avLst/>
          </a:prstGeom>
          <a:noFill/>
          <a:ln w="0">
            <a:noFill/>
          </a:ln>
        </p:spPr>
        <p:txBody>
          <a:bodyPr lIns="91440" tIns="45720" rIns="91440" bIns="45720" anchor="ctr">
            <a:noAutofit/>
          </a:bodyPr>
          <a:lstStyle>
            <a:lvl1pPr indent="0" algn="l" defTabSz="457200">
              <a:lnSpc>
                <a:spcPct val="100000"/>
              </a:lnSpc>
              <a:buNone/>
              <a:defRPr lang="en-US" sz="1200" b="0" u="none" strike="noStrike">
                <a:solidFill>
                  <a:schemeClr val="dk1">
                    <a:tint val="75000"/>
                  </a:schemeClr>
                </a:solidFill>
                <a:effectLst/>
                <a:uFillTx/>
                <a:latin typeface="Calibri"/>
              </a:defRPr>
            </a:lvl1pPr>
          </a:lstStyle>
          <a:p>
            <a:pPr indent="0" algn="l" defTabSz="457200">
              <a:lnSpc>
                <a:spcPct val="100000"/>
              </a:lnSpc>
              <a:buNone/>
            </a:pPr>
            <a:r>
              <a:rPr lang="en-US" sz="1200" b="0" u="none" strike="noStrike">
                <a:solidFill>
                  <a:schemeClr val="dk1">
                    <a:tint val="75000"/>
                  </a:schemeClr>
                </a:solidFill>
                <a:effectLst/>
                <a:uFillTx/>
                <a:latin typeface="Calibri"/>
              </a:rPr>
              <a:t>&lt;date/time&gt;</a:t>
            </a:r>
            <a:endParaRPr lang="en-US" sz="1200" b="0" u="none" strike="noStrike">
              <a:solidFill>
                <a:srgbClr val="000000"/>
              </a:solidFill>
              <a:effectLst/>
              <a:uFillTx/>
              <a:latin typeface="Times New Roman"/>
            </a:endParaRPr>
          </a:p>
        </p:txBody>
      </p:sp>
      <p:sp>
        <p:nvSpPr>
          <p:cNvPr id="81" name="PlaceHolder 5"/>
          <p:cNvSpPr>
            <a:spLocks noGrp="1"/>
          </p:cNvSpPr>
          <p:nvPr>
            <p:ph type="ftr" idx="32"/>
          </p:nvPr>
        </p:nvSpPr>
        <p:spPr>
          <a:xfrm>
            <a:off x="3124080" y="6356520"/>
            <a:ext cx="2895120" cy="364680"/>
          </a:xfrm>
          <a:prstGeom prst="rect">
            <a:avLst/>
          </a:prstGeom>
          <a:noFill/>
          <a:ln w="0">
            <a:noFill/>
          </a:ln>
        </p:spPr>
        <p:txBody>
          <a:bodyPr lIns="91440" tIns="45720" rIns="91440" bIns="45720" anchor="ctr">
            <a:noAutofit/>
          </a:bodyPr>
          <a:lstStyle>
            <a:lvl1pPr indent="0" algn="ctr">
              <a:buNone/>
              <a:defRPr lang="en-US" sz="1400" b="0" u="none" strike="noStrike">
                <a:solidFill>
                  <a:srgbClr val="000000"/>
                </a:solidFill>
                <a:effectLst/>
                <a:uFillTx/>
                <a:latin typeface="Times New Roman"/>
              </a:defRPr>
            </a:lvl1pPr>
          </a:lstStyle>
          <a:p>
            <a:pPr indent="0" algn="ctr">
              <a:buNone/>
            </a:pPr>
            <a:r>
              <a:rPr lang="en-US" sz="1400" b="0" u="none" strike="noStrike">
                <a:solidFill>
                  <a:srgbClr val="000000"/>
                </a:solidFill>
                <a:effectLst/>
                <a:uFillTx/>
                <a:latin typeface="Times New Roman"/>
              </a:rPr>
              <a:t>&lt;footer&gt;</a:t>
            </a:r>
            <a:endParaRPr lang="en-US" sz="1400" b="0" u="none" strike="noStrike">
              <a:solidFill>
                <a:srgbClr val="000000"/>
              </a:solidFill>
              <a:effectLst/>
              <a:uFillTx/>
              <a:latin typeface="Times New Roman"/>
            </a:endParaRPr>
          </a:p>
        </p:txBody>
      </p:sp>
      <p:sp>
        <p:nvSpPr>
          <p:cNvPr id="82" name="PlaceHolder 6"/>
          <p:cNvSpPr>
            <a:spLocks noGrp="1"/>
          </p:cNvSpPr>
          <p:nvPr>
            <p:ph type="sldNum" idx="33"/>
          </p:nvPr>
        </p:nvSpPr>
        <p:spPr>
          <a:xfrm>
            <a:off x="6553080" y="6356520"/>
            <a:ext cx="2133360" cy="364680"/>
          </a:xfrm>
          <a:prstGeom prst="rect">
            <a:avLst/>
          </a:prstGeom>
          <a:noFill/>
          <a:ln w="0">
            <a:noFill/>
          </a:ln>
        </p:spPr>
        <p:txBody>
          <a:bodyPr lIns="91440" tIns="45720" rIns="91440" bIns="45720" anchor="ctr">
            <a:noAutofit/>
          </a:bodyPr>
          <a:lstStyle>
            <a:lvl1pPr indent="0" algn="r" defTabSz="457200">
              <a:lnSpc>
                <a:spcPct val="100000"/>
              </a:lnSpc>
              <a:buNone/>
              <a:defRPr lang="en-US" sz="1200" b="0" u="none" strike="noStrike">
                <a:solidFill>
                  <a:schemeClr val="dk1">
                    <a:tint val="75000"/>
                  </a:schemeClr>
                </a:solidFill>
                <a:effectLst/>
                <a:uFillTx/>
                <a:latin typeface="Calibri"/>
              </a:defRPr>
            </a:lvl1pPr>
          </a:lstStyle>
          <a:p>
            <a:pPr indent="0" algn="r" defTabSz="457200">
              <a:lnSpc>
                <a:spcPct val="100000"/>
              </a:lnSpc>
              <a:buNone/>
            </a:pPr>
            <a:fld id="{7F70378E-5E21-423A-AAB1-2F73DEB3CAC9}" type="slidenum">
              <a:rPr lang="en-US" sz="1200" b="0" u="none" strike="noStrike">
                <a:solidFill>
                  <a:schemeClr val="dk1">
                    <a:tint val="75000"/>
                  </a:schemeClr>
                </a:solidFill>
                <a:effectLst/>
                <a:uFillTx/>
                <a:latin typeface="Calibri"/>
              </a:rPr>
              <a:t>&lt;number&gt;</a:t>
            </a:fld>
            <a:endParaRPr lang="en-US" sz="1200" b="0" u="none" strike="noStrike">
              <a:solidFill>
                <a:srgbClr val="000000"/>
              </a:solidFill>
              <a:effectLst/>
              <a:uFillTx/>
              <a:latin typeface="Times New Roman"/>
            </a:endParaRPr>
          </a:p>
        </p:txBody>
      </p:sp>
    </p:spTree>
  </p:cSld>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 Id="rId9" Type="http://schemas.openxmlformats.org/officeDocument/2006/relationships/slideLayout" Target="../slideLayouts/slideLayout8.xml"/><Relationship Id="rId10" Type="http://schemas.openxmlformats.org/officeDocument/2006/relationships/slideLayout" Target="../slideLayouts/slideLayout9.xml"/><Relationship Id="rId11" Type="http://schemas.openxmlformats.org/officeDocument/2006/relationships/slideLayout" Target="../slideLayouts/slideLayout10.xml"/><Relationship Id="rId12" Type="http://schemas.openxmlformats.org/officeDocument/2006/relationships/slideLayout" Target="../slideLayouts/slideLayout11.xml"/>
</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sldMaster>
</file>

<file path=ppt/slides/_rels/slide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xml"/>
</Relationships>
</file>

<file path=ppt/slides/_rels/slide2.xml.rels><?xml version="1.0" encoding="UTF-8"?>
<Relationships xmlns="http://schemas.openxmlformats.org/package/2006/relationships"><Relationship Id="rId1" Type="http://schemas.openxmlformats.org/officeDocument/2006/relationships/hyperlink" Target="https://www.youtube.com/@jesprotech" TargetMode="External"/><Relationship Id="rId2" Type="http://schemas.openxmlformats.org/officeDocument/2006/relationships/hyperlink" Target="https://www.youtube.com/@jesprotech_shorts" TargetMode="External"/><Relationship Id="rId3" Type="http://schemas.openxmlformats.org/officeDocument/2006/relationships/image" Target="../media/image1.png"/><Relationship Id="rId4" Type="http://schemas.openxmlformats.org/officeDocument/2006/relationships/slideLayout" Target="../slideLayouts/slideLayout9.xml"/><Relationship Id="rId5" Type="http://schemas.openxmlformats.org/officeDocument/2006/relationships/notesSlide" Target="../notesSlides/notesSlide2.xml"/>
</Relationships>
</file>

<file path=ppt/slides/_rels/slide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
</Relationships>
</file>

<file path=ppt/slides/_rels/slide4.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
</Relationships>
</file>

<file path=ppt/slides/_rels/slide5.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
</Relationships>
</file>

<file path=ppt/slides/_rels/slide6.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
</Relationships>
</file>

<file path=ppt/slides/_rels/slide7.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
</Relationships>
</file>

<file path=ppt/slides/_rels/slide8.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
</Relationships>
</file>

<file path=ppt/slides/_rels/slide9.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
</Relationships>
</file>

<file path=ppt/slides/_rels/slide10.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0.xml"/>
</Relationships>
</file>

<file path=ppt/slides/_rels/slide11.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1.xml"/>
</Relationships>
</file>

<file path=ppt/slides/_rels/slide12.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2.xml"/>
</Relationships>
</file>

<file path=ppt/slides/_rels/slide13.xml.rels><?xml version="1.0" encoding="UTF-8"?>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13.xml"/>
</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020"/>
        </a:solidFill>
      </p:bgPr>
    </p:bg>
    <p:spTree>
      <p:nvGrpSpPr>
        <p:cNvPr id="1" name=""/>
        <p:cNvGrpSpPr/>
        <p:nvPr/>
      </p:nvGrpSpPr>
      <p:grpSpPr>
        <a:xfrm>
          <a:off x="0" y="0"/>
          <a:ext cx="0" cy="0"/>
          <a:chOff x="0" y="0"/>
          <a:chExt cx="0" cy="0"/>
        </a:xfrm>
      </p:grpSpPr>
      <p:sp>
        <p:nvSpPr>
          <p:cNvPr id="89" name="TextBox 5"/>
          <p:cNvSpPr/>
          <p:nvPr/>
        </p:nvSpPr>
        <p:spPr>
          <a:xfrm>
            <a:off x="585360" y="6510600"/>
            <a:ext cx="6400440" cy="1641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800" b="1" u="none" strike="noStrike">
                <a:solidFill>
                  <a:srgbClr val="AEBBD3"/>
                </a:solidFill>
                <a:effectLst/>
                <a:uFillTx/>
                <a:latin typeface="Aptos"/>
              </a:rPr>
              <a:t>KONG CHATBOT ARCHITECTURE   •   01 / 10</a:t>
            </a:r>
            <a:endParaRPr lang="en-US" sz="800" b="0" u="none" strike="noStrike">
              <a:solidFill>
                <a:srgbClr val="FFFFFF"/>
              </a:solidFill>
              <a:effectLst/>
              <a:uFillTx/>
              <a:latin typeface="Arial"/>
            </a:endParaRPr>
          </a:p>
        </p:txBody>
      </p:sp>
      <p:sp>
        <p:nvSpPr>
          <p:cNvPr id="90" name="Rounded Rectangle 6"/>
          <p:cNvSpPr/>
          <p:nvPr/>
        </p:nvSpPr>
        <p:spPr>
          <a:xfrm>
            <a:off x="594360" y="589680"/>
            <a:ext cx="10945080" cy="535356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1" name="TextBox 7"/>
          <p:cNvSpPr/>
          <p:nvPr/>
        </p:nvSpPr>
        <p:spPr>
          <a:xfrm>
            <a:off x="916560" y="1761480"/>
            <a:ext cx="10300320" cy="3009600"/>
          </a:xfrm>
          <a:prstGeom prst="rect">
            <a:avLst/>
          </a:prstGeom>
          <a:noFill/>
          <a:ln w="0">
            <a:noFill/>
          </a:ln>
        </p:spPr>
        <p:style>
          <a:lnRef idx="0"/>
          <a:fillRef idx="0"/>
          <a:effectRef idx="0"/>
          <a:fontRef idx="minor"/>
        </p:style>
        <p:txBody>
          <a:bodyPr lIns="45720" tIns="27360" rIns="45720" bIns="27360" anchor="t">
            <a:spAutoFit/>
          </a:bodyPr>
          <a:p>
            <a:pPr algn="ctr" defTabSz="457200">
              <a:lnSpc>
                <a:spcPct val="100000"/>
              </a:lnSpc>
            </a:pPr>
            <a:r>
              <a:rPr lang="nl-NL" sz="4800" b="1" u="none" strike="noStrike">
                <a:solidFill>
                  <a:schemeClr val="lt1"/>
                </a:solidFill>
                <a:effectLst/>
                <a:uFillTx/>
                <a:latin typeface="Calibri"/>
              </a:rPr>
              <a:t>Hoe combineer je </a:t>
            </a:r>
            <a:endParaRPr lang="en-US" sz="4800" b="0" u="none" strike="noStrike">
              <a:solidFill>
                <a:srgbClr val="FFFFFF"/>
              </a:solidFill>
              <a:effectLst/>
              <a:uFillTx/>
              <a:latin typeface="Arial"/>
            </a:endParaRPr>
          </a:p>
          <a:p>
            <a:pPr algn="ctr" defTabSz="457200">
              <a:lnSpc>
                <a:spcPct val="100000"/>
              </a:lnSpc>
            </a:pPr>
            <a:r>
              <a:rPr lang="nl-NL" sz="4800" b="1" u="none" strike="noStrike">
                <a:solidFill>
                  <a:schemeClr val="lt1"/>
                </a:solidFill>
                <a:effectLst/>
                <a:uFillTx/>
                <a:latin typeface="Calibri"/>
              </a:rPr>
              <a:t>API Gateway, IaCen Spring bij ontwikkeling van een RAG-chatbot</a:t>
            </a:r>
            <a:endParaRPr lang="en-US" sz="4800" b="0" u="none" strike="noStrike">
              <a:solidFill>
                <a:srgbClr val="FFFFFF"/>
              </a:solidFill>
              <a:effectLst/>
              <a:uFillTx/>
              <a:latin typeface="Arial"/>
            </a:endParaRPr>
          </a:p>
          <a:p>
            <a:pPr algn="ctr" defTabSz="457200">
              <a:lnSpc>
                <a:spcPct val="100000"/>
              </a:lnSpc>
            </a:pPr>
            <a:r>
              <a:rPr lang="nl-NL" sz="4800" b="1" u="none" strike="noStrike">
                <a:solidFill>
                  <a:schemeClr val="lt1"/>
                </a:solidFill>
                <a:effectLst/>
                <a:uFillTx/>
                <a:latin typeface="Calibri"/>
              </a:rPr>
              <a:t>Joao Esperancinha</a:t>
            </a:r>
            <a:endParaRPr lang="en-US" sz="4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020"/>
        </a:solidFill>
      </p:bgPr>
    </p:bg>
    <p:spTree>
      <p:nvGrpSpPr>
        <p:cNvPr id="1" name=""/>
        <p:cNvGrpSpPr/>
        <p:nvPr/>
      </p:nvGrpSpPr>
      <p:grpSpPr>
        <a:xfrm>
          <a:off x="0" y="0"/>
          <a:ext cx="0" cy="0"/>
          <a:chOff x="0" y="0"/>
          <a:chExt cx="0" cy="0"/>
        </a:xfrm>
      </p:grpSpPr>
      <p:sp>
        <p:nvSpPr>
          <p:cNvPr id="92" name="TextBox 1"/>
          <p:cNvSpPr/>
          <p:nvPr/>
        </p:nvSpPr>
        <p:spPr>
          <a:xfrm>
            <a:off x="567000" y="320040"/>
            <a:ext cx="4937400" cy="22752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nl-NL" sz="1000" b="1" u="none" strike="noStrike">
                <a:solidFill>
                  <a:srgbClr val="42D3E6"/>
                </a:solidFill>
                <a:effectLst/>
                <a:uFillTx/>
                <a:latin typeface="Aptos"/>
              </a:rPr>
              <a:t>Introductie</a:t>
            </a:r>
            <a:endParaRPr lang="en-US" sz="1000" b="0" u="none" strike="noStrike">
              <a:solidFill>
                <a:srgbClr val="FFFFFF"/>
              </a:solidFill>
              <a:effectLst/>
              <a:uFillTx/>
              <a:latin typeface="Arial"/>
            </a:endParaRPr>
          </a:p>
        </p:txBody>
      </p:sp>
      <p:sp>
        <p:nvSpPr>
          <p:cNvPr id="93" name="TextBox 2"/>
          <p:cNvSpPr/>
          <p:nvPr/>
        </p:nvSpPr>
        <p:spPr>
          <a:xfrm>
            <a:off x="567000" y="658440"/>
            <a:ext cx="10972440" cy="5025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nl-NL" sz="2700" b="1" u="none" strike="noStrike">
                <a:solidFill>
                  <a:srgbClr val="F4F7FF"/>
                </a:solidFill>
                <a:effectLst/>
                <a:uFillTx/>
                <a:latin typeface="Aptos"/>
              </a:rPr>
              <a:t>Intro</a:t>
            </a:r>
            <a:endParaRPr lang="en-US" sz="2700" b="0" u="none" strike="noStrike">
              <a:solidFill>
                <a:srgbClr val="FFFFFF"/>
              </a:solidFill>
              <a:effectLst/>
              <a:uFillTx/>
              <a:latin typeface="Arial"/>
            </a:endParaRPr>
          </a:p>
        </p:txBody>
      </p:sp>
      <p:sp>
        <p:nvSpPr>
          <p:cNvPr id="94" name="TextBox 3"/>
          <p:cNvSpPr/>
          <p:nvPr/>
        </p:nvSpPr>
        <p:spPr>
          <a:xfrm>
            <a:off x="585360" y="1197720"/>
            <a:ext cx="10972440" cy="25812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nl-NL" sz="1200" b="0" u="none" strike="noStrike">
                <a:solidFill>
                  <a:srgbClr val="AEBBD3"/>
                </a:solidFill>
                <a:effectLst/>
                <a:uFillTx/>
                <a:latin typeface="Aptos"/>
              </a:rPr>
              <a:t>Hoe combineer je API Gateway, IaC, Spring bij ontwikkeling van een RAG-chatbot</a:t>
            </a:r>
            <a:endParaRPr lang="en-US" sz="1200" b="0" u="none" strike="noStrike">
              <a:solidFill>
                <a:srgbClr val="FFFFFF"/>
              </a:solidFill>
              <a:effectLst/>
              <a:uFillTx/>
              <a:latin typeface="Arial"/>
            </a:endParaRPr>
          </a:p>
        </p:txBody>
      </p:sp>
      <p:sp>
        <p:nvSpPr>
          <p:cNvPr id="95" name="Rectangle 4"/>
          <p:cNvSpPr/>
          <p:nvPr/>
        </p:nvSpPr>
        <p:spPr>
          <a:xfrm>
            <a:off x="585360" y="1664280"/>
            <a:ext cx="776880" cy="40680"/>
          </a:xfrm>
          <a:prstGeom prst="rect">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sp>
        <p:nvSpPr>
          <p:cNvPr id="96" name="TextBox 5"/>
          <p:cNvSpPr/>
          <p:nvPr/>
        </p:nvSpPr>
        <p:spPr>
          <a:xfrm>
            <a:off x="585360" y="6510600"/>
            <a:ext cx="6400440" cy="1641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800" b="1" u="none" strike="noStrike">
                <a:solidFill>
                  <a:srgbClr val="AEBBD3"/>
                </a:solidFill>
                <a:effectLst/>
                <a:uFillTx/>
                <a:latin typeface="Aptos"/>
              </a:rPr>
              <a:t>KONG CHATBOT ARCHITECTURE   •   01 / 10</a:t>
            </a:r>
            <a:endParaRPr lang="en-US" sz="800" b="0" u="none" strike="noStrike">
              <a:solidFill>
                <a:srgbClr val="FFFFFF"/>
              </a:solidFill>
              <a:effectLst/>
              <a:uFillTx/>
              <a:latin typeface="Arial"/>
            </a:endParaRPr>
          </a:p>
        </p:txBody>
      </p:sp>
      <p:sp>
        <p:nvSpPr>
          <p:cNvPr id="97" name="Rounded Rectangle 6"/>
          <p:cNvSpPr/>
          <p:nvPr/>
        </p:nvSpPr>
        <p:spPr>
          <a:xfrm>
            <a:off x="586080" y="1974240"/>
            <a:ext cx="10945080" cy="429516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98" name="TextBox 7"/>
          <p:cNvSpPr/>
          <p:nvPr/>
        </p:nvSpPr>
        <p:spPr>
          <a:xfrm>
            <a:off x="945720" y="2095920"/>
            <a:ext cx="6040080" cy="3933000"/>
          </a:xfrm>
          <a:prstGeom prst="rect">
            <a:avLst/>
          </a:prstGeom>
          <a:noFill/>
          <a:ln w="0">
            <a:noFill/>
          </a:ln>
        </p:spPr>
        <p:style>
          <a:lnRef idx="0"/>
          <a:fillRef idx="0"/>
          <a:effectRef idx="0"/>
          <a:fontRef idx="minor"/>
        </p:style>
        <p:txBody>
          <a:bodyPr lIns="45720" tIns="27360" rIns="45720" bIns="27360" anchor="t">
            <a:spAutoFit/>
          </a:bodyPr>
          <a:p>
            <a:pPr defTabSz="457200">
              <a:lnSpc>
                <a:spcPct val="100000"/>
              </a:lnSpc>
            </a:pPr>
            <a:r>
              <a:rPr lang="nl-NL" sz="1400" b="1" u="none" strike="noStrike">
                <a:solidFill>
                  <a:schemeClr val="lt1"/>
                </a:solidFill>
                <a:effectLst/>
                <a:uFillTx/>
                <a:latin typeface="Calibri"/>
              </a:rPr>
              <a:t>SOFTWARE ENGINEERING · AI · KNOWLEDGE SHARING</a:t>
            </a:r>
            <a:br>
              <a:rPr sz="1400"/>
            </a:br>
            <a:r>
              <a:rPr lang="nl-NL" sz="1400" b="1" u="none" strike="noStrike">
                <a:solidFill>
                  <a:schemeClr val="lt1"/>
                </a:solidFill>
                <a:effectLst/>
                <a:uFillTx/>
                <a:latin typeface="Calibri"/>
              </a:rPr>
              <a:t>João Esperancinha</a:t>
            </a:r>
            <a:br>
              <a:rPr sz="1400"/>
            </a:br>
            <a:r>
              <a:rPr lang="nl-NL" sz="1400" b="1" u="none" strike="noStrike">
                <a:solidFill>
                  <a:schemeClr val="lt1"/>
                </a:solidFill>
                <a:effectLst/>
                <a:uFillTx/>
                <a:latin typeface="Calibri"/>
              </a:rPr>
              <a:t>Building reliable software, exploring AI, and sharing what I learn.</a:t>
            </a:r>
            <a:br>
              <a:rPr sz="1400"/>
            </a:br>
            <a:br>
              <a:rPr sz="1400"/>
            </a:br>
            <a:r>
              <a:rPr lang="nl-NL" sz="1400" b="1" u="none" strike="noStrike">
                <a:solidFill>
                  <a:schemeClr val="lt1"/>
                </a:solidFill>
                <a:effectLst/>
                <a:uFillTx/>
                <a:latin typeface="Calibri"/>
              </a:rPr>
              <a:t>Technical expertise</a:t>
            </a:r>
            <a:br>
              <a:rPr sz="1400"/>
            </a:br>
            <a:r>
              <a:rPr lang="nl-NL" sz="1400" b="1" u="none" strike="noStrike">
                <a:solidFill>
                  <a:schemeClr val="lt1"/>
                </a:solidFill>
                <a:effectLst/>
                <a:uFillTx/>
                <a:latin typeface="Calibri"/>
              </a:rPr>
              <a:t>Kotlin &amp; Java</a:t>
            </a:r>
            <a:br>
              <a:rPr sz="1400"/>
            </a:br>
            <a:r>
              <a:rPr lang="nl-NL" sz="1400" b="1" u="none" strike="noStrike">
                <a:solidFill>
                  <a:schemeClr val="lt1"/>
                </a:solidFill>
                <a:effectLst/>
                <a:uFillTx/>
                <a:latin typeface="Calibri"/>
              </a:rPr>
              <a:t>Spring Boot</a:t>
            </a:r>
            <a:br>
              <a:rPr sz="1400"/>
            </a:br>
            <a:r>
              <a:rPr lang="nl-NL" sz="1400" b="1" u="none" strike="noStrike">
                <a:solidFill>
                  <a:schemeClr val="lt1"/>
                </a:solidFill>
                <a:effectLst/>
                <a:uFillTx/>
                <a:latin typeface="Calibri"/>
              </a:rPr>
              <a:t>Distributed systems</a:t>
            </a:r>
            <a:br>
              <a:rPr sz="1400"/>
            </a:br>
            <a:r>
              <a:rPr lang="nl-NL" sz="1400" b="1" u="none" strike="noStrike">
                <a:solidFill>
                  <a:schemeClr val="lt1"/>
                </a:solidFill>
                <a:effectLst/>
                <a:uFillTx/>
                <a:latin typeface="Calibri"/>
              </a:rPr>
              <a:t>APIs &amp; Kong Gateway</a:t>
            </a:r>
            <a:br>
              <a:rPr sz="1400"/>
            </a:br>
            <a:r>
              <a:rPr lang="nl-NL" sz="1400" b="1" u="none" strike="noStrike">
                <a:solidFill>
                  <a:schemeClr val="lt1"/>
                </a:solidFill>
                <a:effectLst/>
                <a:uFillTx/>
                <a:latin typeface="Calibri"/>
              </a:rPr>
              <a:t>Cloud &amp; AWS</a:t>
            </a:r>
            <a:br>
              <a:rPr sz="1400"/>
            </a:br>
            <a:r>
              <a:rPr lang="nl-NL" sz="1400" b="1" u="none" strike="noStrike">
                <a:solidFill>
                  <a:schemeClr val="lt1"/>
                </a:solidFill>
                <a:effectLst/>
                <a:uFillTx/>
                <a:latin typeface="Calibri"/>
              </a:rPr>
              <a:t>Generative AI &amp; RAG</a:t>
            </a:r>
            <a:br>
              <a:rPr sz="1400"/>
            </a:br>
            <a:br>
              <a:rPr sz="1400"/>
            </a:br>
            <a:r>
              <a:rPr lang="nl-NL" sz="1400" b="1" u="none" strike="noStrike">
                <a:solidFill>
                  <a:schemeClr val="lt1"/>
                </a:solidFill>
                <a:effectLst/>
                <a:uFillTx/>
                <a:latin typeface="Calibri"/>
              </a:rPr>
              <a:t>Knowledge sharing — JESPROTECH</a:t>
            </a:r>
            <a:br>
              <a:rPr sz="1400"/>
            </a:br>
            <a:br>
              <a:rPr sz="1400"/>
            </a:br>
            <a:r>
              <a:rPr lang="nl-NL" sz="1400" b="1" u="none" strike="noStrike">
                <a:solidFill>
                  <a:schemeClr val="lt1"/>
                </a:solidFill>
                <a:effectLst/>
                <a:uFillTx/>
                <a:latin typeface="Calibri"/>
              </a:rPr>
              <a:t>Practical programming tutorials, technical quizzes, software architecture, Kotlin and Java, and emerging AI engineering practices.</a:t>
            </a:r>
            <a:br>
              <a:rPr sz="1400"/>
            </a:br>
            <a:br>
              <a:rPr sz="1400"/>
            </a:br>
            <a:r>
              <a:rPr lang="nl-NL" sz="1400" b="1" u="none" strike="noStrike">
                <a:solidFill>
                  <a:schemeClr val="lt1"/>
                </a:solidFill>
                <a:effectLst/>
                <a:uFillTx/>
                <a:latin typeface="Calibri"/>
              </a:rPr>
              <a:t>20 years of IT experience · Engineering, integration, architecture, and mentoring</a:t>
            </a:r>
            <a:endParaRPr lang="en-US" sz="1400" b="0" u="none" strike="noStrike">
              <a:solidFill>
                <a:srgbClr val="FFFFFF"/>
              </a:solidFill>
              <a:effectLst/>
              <a:uFillTx/>
              <a:latin typeface="Arial"/>
            </a:endParaRPr>
          </a:p>
        </p:txBody>
      </p:sp>
      <p:sp>
        <p:nvSpPr>
          <p:cNvPr id="99" name="TextBox 7"/>
          <p:cNvSpPr/>
          <p:nvPr/>
        </p:nvSpPr>
        <p:spPr>
          <a:xfrm>
            <a:off x="6962040" y="3485160"/>
            <a:ext cx="4283640" cy="701280"/>
          </a:xfrm>
          <a:prstGeom prst="rect">
            <a:avLst/>
          </a:prstGeom>
          <a:noFill/>
          <a:ln w="0">
            <a:noFill/>
          </a:ln>
        </p:spPr>
        <p:style>
          <a:lnRef idx="0"/>
          <a:fillRef idx="0"/>
          <a:effectRef idx="0"/>
          <a:fontRef idx="minor"/>
        </p:style>
        <p:txBody>
          <a:bodyPr lIns="45720" tIns="27360" rIns="45720" bIns="27360" anchor="t">
            <a:spAutoFit/>
          </a:bodyPr>
          <a:p>
            <a:pPr algn="r" defTabSz="457200">
              <a:lnSpc>
                <a:spcPct val="100000"/>
              </a:lnSpc>
            </a:pPr>
            <a:r>
              <a:rPr lang="nl-NL" sz="1400" b="1" u="sng" strike="noStrike">
                <a:solidFill>
                  <a:schemeClr val="lt1"/>
                </a:solidFill>
                <a:effectLst/>
                <a:uFillTx/>
                <a:latin typeface="Calibri"/>
                <a:hlinkClick r:id="rId1"/>
              </a:rPr>
              <a:t>https://www.youtube.com/@jesprotech</a:t>
            </a:r>
            <a:endParaRPr lang="en-US" sz="1400" b="0" u="none" strike="noStrike">
              <a:solidFill>
                <a:srgbClr val="FFFFFF"/>
              </a:solidFill>
              <a:effectLst/>
              <a:uFillTx/>
              <a:latin typeface="Arial"/>
            </a:endParaRPr>
          </a:p>
          <a:p>
            <a:pPr algn="r" defTabSz="457200">
              <a:lnSpc>
                <a:spcPct val="100000"/>
              </a:lnSpc>
            </a:pPr>
            <a:r>
              <a:rPr lang="nl-NL" sz="1400" b="1" u="sng" strike="noStrike">
                <a:solidFill>
                  <a:schemeClr val="lt1"/>
                </a:solidFill>
                <a:effectLst/>
                <a:uFillTx/>
                <a:latin typeface="Calibri"/>
                <a:hlinkClick r:id="rId2"/>
              </a:rPr>
              <a:t>https://www.youtube.com/@jesprotech_shorts</a:t>
            </a:r>
            <a:endParaRPr lang="en-US" sz="1400" b="0" u="none" strike="noStrike">
              <a:solidFill>
                <a:srgbClr val="FFFFFF"/>
              </a:solidFill>
              <a:effectLst/>
              <a:uFillTx/>
              <a:latin typeface="Arial"/>
            </a:endParaRPr>
          </a:p>
          <a:p>
            <a:pPr algn="r" defTabSz="457200">
              <a:lnSpc>
                <a:spcPct val="100000"/>
              </a:lnSpc>
            </a:pPr>
            <a:r>
              <a:rPr lang="nl-NL" sz="1400" b="1" u="none" strike="noStrike">
                <a:solidFill>
                  <a:schemeClr val="lt1"/>
                </a:solidFill>
                <a:effectLst/>
                <a:uFillTx/>
                <a:latin typeface="Calibri"/>
              </a:rPr>
              <a:t>https://www.youtube.com/@jesprotech_timeout</a:t>
            </a:r>
            <a:endParaRPr lang="en-US" sz="1400" b="0" u="none" strike="noStrike">
              <a:solidFill>
                <a:srgbClr val="FFFFFF"/>
              </a:solidFill>
              <a:effectLst/>
              <a:uFillTx/>
              <a:latin typeface="Arial"/>
            </a:endParaRPr>
          </a:p>
        </p:txBody>
      </p:sp>
      <p:pic>
        <p:nvPicPr>
          <p:cNvPr id="100" name=""/>
          <p:cNvPicPr/>
          <p:nvPr/>
        </p:nvPicPr>
        <p:blipFill>
          <a:blip r:embed="rId3"/>
          <a:stretch/>
        </p:blipFill>
        <p:spPr>
          <a:xfrm>
            <a:off x="8732880" y="2103480"/>
            <a:ext cx="1325520" cy="1325520"/>
          </a:xfrm>
          <a:prstGeom prst="rect">
            <a:avLst/>
          </a:prstGeom>
          <a:noFill/>
          <a:ln w="0">
            <a:noFill/>
          </a:ln>
        </p:spPr>
      </p:pic>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020"/>
        </a:solidFill>
      </p:bgPr>
    </p:bg>
    <p:spTree>
      <p:nvGrpSpPr>
        <p:cNvPr id="1" name=""/>
        <p:cNvGrpSpPr/>
        <p:nvPr/>
      </p:nvGrpSpPr>
      <p:grpSpPr>
        <a:xfrm>
          <a:off x="0" y="0"/>
          <a:ext cx="0" cy="0"/>
          <a:chOff x="0" y="0"/>
          <a:chExt cx="0" cy="0"/>
        </a:xfrm>
      </p:grpSpPr>
      <p:sp>
        <p:nvSpPr>
          <p:cNvPr id="101" name="TextBox 1"/>
          <p:cNvSpPr/>
          <p:nvPr/>
        </p:nvSpPr>
        <p:spPr>
          <a:xfrm>
            <a:off x="567000" y="320040"/>
            <a:ext cx="4937400" cy="2556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1" u="none" strike="noStrike">
                <a:solidFill>
                  <a:srgbClr val="42D3E6"/>
                </a:solidFill>
                <a:effectLst/>
                <a:uFillTx/>
                <a:latin typeface="Aptos"/>
              </a:rPr>
              <a:t>01 • FOUNDATIONS</a:t>
            </a:r>
            <a:endParaRPr lang="en-US" sz="1000" b="0" u="none" strike="noStrike">
              <a:solidFill>
                <a:srgbClr val="FFFFFF"/>
              </a:solidFill>
              <a:effectLst/>
              <a:uFillTx/>
              <a:latin typeface="Arial"/>
            </a:endParaRPr>
          </a:p>
        </p:txBody>
      </p:sp>
      <p:sp>
        <p:nvSpPr>
          <p:cNvPr id="102" name="TextBox 2"/>
          <p:cNvSpPr/>
          <p:nvPr/>
        </p:nvSpPr>
        <p:spPr>
          <a:xfrm>
            <a:off x="567000" y="658440"/>
            <a:ext cx="10972440" cy="5025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2700" b="1" u="none" strike="noStrike">
                <a:solidFill>
                  <a:srgbClr val="F4F7FF"/>
                </a:solidFill>
                <a:effectLst/>
                <a:uFillTx/>
                <a:latin typeface="Aptos"/>
              </a:rPr>
              <a:t>RAG: give an LLM relevant knowledge</a:t>
            </a:r>
            <a:endParaRPr lang="en-US" sz="2700" b="0" u="none" strike="noStrike">
              <a:solidFill>
                <a:srgbClr val="FFFFFF"/>
              </a:solidFill>
              <a:effectLst/>
              <a:uFillTx/>
              <a:latin typeface="Arial"/>
            </a:endParaRPr>
          </a:p>
        </p:txBody>
      </p:sp>
      <p:sp>
        <p:nvSpPr>
          <p:cNvPr id="103" name="TextBox 3"/>
          <p:cNvSpPr/>
          <p:nvPr/>
        </p:nvSpPr>
        <p:spPr>
          <a:xfrm>
            <a:off x="585360" y="1197720"/>
            <a:ext cx="10972440" cy="3837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AEBBD3"/>
                </a:solidFill>
                <a:effectLst/>
                <a:uFillTx/>
                <a:latin typeface="Aptos"/>
              </a:rPr>
              <a:t>Connect language generation to a maintained, task-specific knowledge base.</a:t>
            </a:r>
            <a:endParaRPr lang="en-US" sz="1200" b="0" u="none" strike="noStrike">
              <a:solidFill>
                <a:srgbClr val="FFFFFF"/>
              </a:solidFill>
              <a:effectLst/>
              <a:uFillTx/>
              <a:latin typeface="Arial"/>
            </a:endParaRPr>
          </a:p>
        </p:txBody>
      </p:sp>
      <p:sp>
        <p:nvSpPr>
          <p:cNvPr id="104" name="Rectangle 4"/>
          <p:cNvSpPr/>
          <p:nvPr/>
        </p:nvSpPr>
        <p:spPr>
          <a:xfrm>
            <a:off x="585360" y="1664280"/>
            <a:ext cx="776880" cy="40680"/>
          </a:xfrm>
          <a:prstGeom prst="rect">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sp>
        <p:nvSpPr>
          <p:cNvPr id="105" name="TextBox 5"/>
          <p:cNvSpPr/>
          <p:nvPr/>
        </p:nvSpPr>
        <p:spPr>
          <a:xfrm>
            <a:off x="585360" y="6510600"/>
            <a:ext cx="6400440" cy="1641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800" b="1" u="none" strike="noStrike">
                <a:solidFill>
                  <a:srgbClr val="AEBBD3"/>
                </a:solidFill>
                <a:effectLst/>
                <a:uFillTx/>
                <a:latin typeface="Aptos"/>
              </a:rPr>
              <a:t>KONG CHATBOT ARCHITECTURE   •   01 / 10</a:t>
            </a:r>
            <a:endParaRPr lang="en-US" sz="800" b="0" u="none" strike="noStrike">
              <a:solidFill>
                <a:srgbClr val="FFFFFF"/>
              </a:solidFill>
              <a:effectLst/>
              <a:uFillTx/>
              <a:latin typeface="Arial"/>
            </a:endParaRPr>
          </a:p>
        </p:txBody>
      </p:sp>
      <p:sp>
        <p:nvSpPr>
          <p:cNvPr id="106" name="Rounded Rectangle 6"/>
          <p:cNvSpPr/>
          <p:nvPr/>
        </p:nvSpPr>
        <p:spPr>
          <a:xfrm>
            <a:off x="594360" y="1965960"/>
            <a:ext cx="6446160" cy="397728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7" name="TextBox 7"/>
          <p:cNvSpPr/>
          <p:nvPr/>
        </p:nvSpPr>
        <p:spPr>
          <a:xfrm>
            <a:off x="868680" y="2331720"/>
            <a:ext cx="5851800" cy="3200040"/>
          </a:xfrm>
          <a:prstGeom prst="rect">
            <a:avLst/>
          </a:prstGeom>
          <a:noFill/>
          <a:ln w="0">
            <a:noFill/>
          </a:ln>
        </p:spPr>
        <p:style>
          <a:lnRef idx="0"/>
          <a:fillRef idx="0"/>
          <a:effectRef idx="0"/>
          <a:fontRef idx="minor"/>
        </p:style>
        <p:txBody>
          <a:bodyPr lIns="45720" tIns="27360" rIns="45720" bIns="27360" anchor="t">
            <a:spAutoFit/>
          </a:bodyPr>
          <a:p>
            <a:pPr defTabSz="457200">
              <a:lnSpc>
                <a:spcPct val="100000"/>
              </a:lnSpc>
              <a:spcAft>
                <a:spcPts val="1800"/>
              </a:spcAft>
            </a:pPr>
            <a:r>
              <a:rPr lang="en-US" sz="1600" b="0" u="none" strike="noStrike">
                <a:solidFill>
                  <a:srgbClr val="42D3E6"/>
                </a:solidFill>
                <a:effectLst/>
                <a:uFillTx/>
                <a:latin typeface="Aptos"/>
              </a:rPr>
              <a:t>●  </a:t>
            </a:r>
            <a:r>
              <a:rPr lang="en-US" sz="1700" b="1" u="none" strike="noStrike">
                <a:solidFill>
                  <a:srgbClr val="F4F7FF"/>
                </a:solidFill>
                <a:effectLst/>
                <a:uFillTx/>
                <a:latin typeface="Aptos"/>
              </a:rPr>
              <a:t>Retrieve relevant passages. </a:t>
            </a:r>
            <a:r>
              <a:rPr lang="en-US" sz="1700" b="0" u="none" strike="noStrike">
                <a:solidFill>
                  <a:srgbClr val="F4F7FF"/>
                </a:solidFill>
                <a:effectLst/>
                <a:uFillTx/>
                <a:latin typeface="Aptos"/>
              </a:rPr>
              <a:t>Search a knowledge source and add the best excerpts to the user's question.</a:t>
            </a:r>
            <a:endParaRPr lang="en-US" sz="1700" b="0" u="none" strike="noStrike">
              <a:solidFill>
                <a:srgbClr val="FFFFFF"/>
              </a:solidFill>
              <a:effectLst/>
              <a:uFillTx/>
              <a:latin typeface="Arial"/>
            </a:endParaRPr>
          </a:p>
          <a:p>
            <a:pPr defTabSz="457200">
              <a:lnSpc>
                <a:spcPct val="100000"/>
              </a:lnSpc>
              <a:spcAft>
                <a:spcPts val="1800"/>
              </a:spcAft>
            </a:pPr>
            <a:r>
              <a:rPr lang="en-US" sz="1600" b="0" u="none" strike="noStrike">
                <a:solidFill>
                  <a:srgbClr val="42D3E6"/>
                </a:solidFill>
                <a:effectLst/>
                <a:uFillTx/>
                <a:latin typeface="Aptos"/>
              </a:rPr>
              <a:t>●  </a:t>
            </a:r>
            <a:r>
              <a:rPr lang="en-US" sz="1700" b="1" u="none" strike="noStrike">
                <a:solidFill>
                  <a:srgbClr val="F4F7FF"/>
                </a:solidFill>
                <a:effectLst/>
                <a:uFillTx/>
                <a:latin typeface="Aptos"/>
              </a:rPr>
              <a:t>Bring your own knowledge. </a:t>
            </a:r>
            <a:r>
              <a:rPr lang="en-US" sz="1700" b="0" u="none" strike="noStrike">
                <a:solidFill>
                  <a:srgbClr val="F4F7FF"/>
                </a:solidFill>
                <a:effectLst/>
                <a:uFillTx/>
                <a:latin typeface="Aptos"/>
              </a:rPr>
              <a:t>The model can use project-specific material that was not in its original training data.</a:t>
            </a:r>
            <a:endParaRPr lang="en-US" sz="1700" b="0" u="none" strike="noStrike">
              <a:solidFill>
                <a:srgbClr val="FFFFFF"/>
              </a:solidFill>
              <a:effectLst/>
              <a:uFillTx/>
              <a:latin typeface="Arial"/>
            </a:endParaRPr>
          </a:p>
          <a:p>
            <a:pPr defTabSz="457200">
              <a:lnSpc>
                <a:spcPct val="100000"/>
              </a:lnSpc>
              <a:spcAft>
                <a:spcPts val="1800"/>
              </a:spcAft>
            </a:pPr>
            <a:r>
              <a:rPr lang="en-US" sz="1600" b="0" u="none" strike="noStrike">
                <a:solidFill>
                  <a:srgbClr val="42D3E6"/>
                </a:solidFill>
                <a:effectLst/>
                <a:uFillTx/>
                <a:latin typeface="Aptos"/>
              </a:rPr>
              <a:t>●  </a:t>
            </a:r>
            <a:r>
              <a:rPr lang="en-US" sz="1700" b="1" u="none" strike="noStrike">
                <a:solidFill>
                  <a:srgbClr val="F4F7FF"/>
                </a:solidFill>
                <a:effectLst/>
                <a:uFillTx/>
                <a:latin typeface="Aptos"/>
              </a:rPr>
              <a:t>Ground the response. </a:t>
            </a:r>
            <a:r>
              <a:rPr lang="en-US" sz="1700" b="0" u="none" strike="noStrike">
                <a:solidFill>
                  <a:srgbClr val="F4F7FF"/>
                </a:solidFill>
                <a:effectLst/>
                <a:uFillTx/>
                <a:latin typeface="Aptos"/>
              </a:rPr>
              <a:t>In this project, Markdown and text files under `knowledge/` supply the context.</a:t>
            </a:r>
            <a:endParaRPr lang="en-US" sz="1700" b="0" u="none" strike="noStrike">
              <a:solidFill>
                <a:srgbClr val="FFFFFF"/>
              </a:solidFill>
              <a:effectLst/>
              <a:uFillTx/>
              <a:latin typeface="Arial"/>
            </a:endParaRPr>
          </a:p>
        </p:txBody>
      </p:sp>
      <p:sp>
        <p:nvSpPr>
          <p:cNvPr id="108" name="Rounded Rectangle 8"/>
          <p:cNvSpPr/>
          <p:nvPr/>
        </p:nvSpPr>
        <p:spPr>
          <a:xfrm>
            <a:off x="7315200" y="1965960"/>
            <a:ext cx="4251600" cy="3977280"/>
          </a:xfrm>
          <a:prstGeom prst="roundRect">
            <a:avLst>
              <a:gd name="adj" fmla="val 16667"/>
            </a:avLst>
          </a:prstGeom>
          <a:solidFill>
            <a:srgbClr val="111C30"/>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09" name="Rounded Rectangle 9"/>
          <p:cNvSpPr/>
          <p:nvPr/>
        </p:nvSpPr>
        <p:spPr>
          <a:xfrm>
            <a:off x="7635240" y="2304360"/>
            <a:ext cx="1508400" cy="292320"/>
          </a:xfrm>
          <a:prstGeom prst="roundRect">
            <a:avLst>
              <a:gd name="adj" fmla="val 16667"/>
            </a:avLst>
          </a:prstGeom>
          <a:solidFill>
            <a:srgbClr val="48E0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10" name="TextBox 10"/>
          <p:cNvSpPr/>
          <p:nvPr/>
        </p:nvSpPr>
        <p:spPr>
          <a:xfrm>
            <a:off x="7671960" y="2322720"/>
            <a:ext cx="143532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THE CORE IDEA</a:t>
            </a:r>
            <a:endParaRPr lang="en-US" sz="900" b="0" u="none" strike="noStrike">
              <a:solidFill>
                <a:srgbClr val="FFFFFF"/>
              </a:solidFill>
              <a:effectLst/>
              <a:uFillTx/>
              <a:latin typeface="Arial"/>
            </a:endParaRPr>
          </a:p>
        </p:txBody>
      </p:sp>
      <p:sp>
        <p:nvSpPr>
          <p:cNvPr id="111" name="Rounded Rectangle 11"/>
          <p:cNvSpPr/>
          <p:nvPr/>
        </p:nvSpPr>
        <p:spPr>
          <a:xfrm>
            <a:off x="7699320" y="2971800"/>
            <a:ext cx="1325520" cy="840960"/>
          </a:xfrm>
          <a:prstGeom prst="roundRect">
            <a:avLst>
              <a:gd name="adj" fmla="val 16667"/>
            </a:avLst>
          </a:prstGeom>
          <a:solidFill>
            <a:srgbClr val="1A2641"/>
          </a:solidFill>
          <a:ln w="17780">
            <a:solidFill>
              <a:srgbClr val="48E0B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400" b="1" u="none" strike="noStrike">
                <a:solidFill>
                  <a:srgbClr val="F4F7FF"/>
                </a:solidFill>
                <a:effectLst/>
                <a:uFillTx/>
                <a:latin typeface="Aptos"/>
              </a:rPr>
              <a:t>Project</a:t>
            </a:r>
            <a:br>
              <a:rPr sz="1400"/>
            </a:br>
            <a:r>
              <a:rPr lang="en-US" sz="1400" b="1" u="none" strike="noStrike">
                <a:solidFill>
                  <a:srgbClr val="F4F7FF"/>
                </a:solidFill>
                <a:effectLst/>
                <a:uFillTx/>
                <a:latin typeface="Aptos"/>
              </a:rPr>
              <a:t>knowledge</a:t>
            </a:r>
            <a:endParaRPr lang="en-US" sz="1400" b="0" u="none" strike="noStrike">
              <a:solidFill>
                <a:srgbClr val="FFFFFF"/>
              </a:solidFill>
              <a:effectLst/>
              <a:uFillTx/>
              <a:latin typeface="Arial"/>
            </a:endParaRPr>
          </a:p>
        </p:txBody>
      </p:sp>
      <p:sp>
        <p:nvSpPr>
          <p:cNvPr id="112" name="Rounded Rectangle 12"/>
          <p:cNvSpPr/>
          <p:nvPr/>
        </p:nvSpPr>
        <p:spPr>
          <a:xfrm>
            <a:off x="9646920" y="2971800"/>
            <a:ext cx="1325520" cy="840960"/>
          </a:xfrm>
          <a:prstGeom prst="roundRect">
            <a:avLst>
              <a:gd name="adj" fmla="val 16667"/>
            </a:avLst>
          </a:prstGeom>
          <a:solidFill>
            <a:srgbClr val="1A2641"/>
          </a:solidFill>
          <a:ln w="17780">
            <a:solidFill>
              <a:srgbClr val="42D3E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400" b="1" u="none" strike="noStrike">
                <a:solidFill>
                  <a:srgbClr val="F4F7FF"/>
                </a:solidFill>
                <a:effectLst/>
                <a:uFillTx/>
                <a:latin typeface="Aptos"/>
              </a:rPr>
              <a:t>Relevant</a:t>
            </a:r>
            <a:br>
              <a:rPr sz="1400"/>
            </a:br>
            <a:r>
              <a:rPr lang="en-US" sz="1400" b="1" u="none" strike="noStrike">
                <a:solidFill>
                  <a:srgbClr val="F4F7FF"/>
                </a:solidFill>
                <a:effectLst/>
                <a:uFillTx/>
                <a:latin typeface="Aptos"/>
              </a:rPr>
              <a:t>context</a:t>
            </a:r>
            <a:endParaRPr lang="en-US" sz="1400" b="0" u="none" strike="noStrike">
              <a:solidFill>
                <a:srgbClr val="FFFFFF"/>
              </a:solidFill>
              <a:effectLst/>
              <a:uFillTx/>
              <a:latin typeface="Arial"/>
            </a:endParaRPr>
          </a:p>
        </p:txBody>
      </p:sp>
      <p:cxnSp>
        <p:nvCxnSpPr>
          <p:cNvPr id="113" name="Connector 13"/>
          <p:cNvCxnSpPr/>
          <p:nvPr/>
        </p:nvCxnSpPr>
        <p:spPr>
          <a:xfrm>
            <a:off x="9052560" y="3392280"/>
            <a:ext cx="521280" cy="360"/>
          </a:xfrm>
          <a:prstGeom prst="straightConnector1">
            <a:avLst/>
          </a:prstGeom>
          <a:ln>
            <a:solidFill>
              <a:srgbClr val="48E0B8"/>
            </a:solidFill>
            <a:round/>
          </a:ln>
        </p:spPr>
      </p:cxnSp>
      <p:sp>
        <p:nvSpPr>
          <p:cNvPr id="114" name="Rounded Rectangle 14"/>
          <p:cNvSpPr/>
          <p:nvPr/>
        </p:nvSpPr>
        <p:spPr>
          <a:xfrm>
            <a:off x="8668440" y="4316040"/>
            <a:ext cx="1325520" cy="685440"/>
          </a:xfrm>
          <a:prstGeom prst="roundRect">
            <a:avLst>
              <a:gd name="adj" fmla="val 16667"/>
            </a:avLst>
          </a:prstGeom>
          <a:solidFill>
            <a:srgbClr val="1A2641"/>
          </a:solidFill>
          <a:ln w="17780">
            <a:solidFill>
              <a:srgbClr val="A07D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800" b="1" u="none" strike="noStrike">
                <a:solidFill>
                  <a:srgbClr val="F4F7FF"/>
                </a:solidFill>
                <a:effectLst/>
                <a:uFillTx/>
                <a:latin typeface="Aptos"/>
              </a:rPr>
              <a:t>LLM</a:t>
            </a:r>
            <a:endParaRPr lang="en-US" sz="1800" b="0" u="none" strike="noStrike">
              <a:solidFill>
                <a:srgbClr val="FFFFFF"/>
              </a:solidFill>
              <a:effectLst/>
              <a:uFillTx/>
              <a:latin typeface="Arial"/>
            </a:endParaRPr>
          </a:p>
        </p:txBody>
      </p:sp>
      <p:cxnSp>
        <p:nvCxnSpPr>
          <p:cNvPr id="115" name="Connector 15"/>
          <p:cNvCxnSpPr/>
          <p:nvPr/>
        </p:nvCxnSpPr>
        <p:spPr>
          <a:xfrm flipH="1">
            <a:off x="9646920" y="3876840"/>
            <a:ext cx="640440" cy="375480"/>
          </a:xfrm>
          <a:prstGeom prst="straightConnector1">
            <a:avLst/>
          </a:prstGeom>
          <a:ln>
            <a:solidFill>
              <a:srgbClr val="42D3E6"/>
            </a:solidFill>
            <a:round/>
          </a:ln>
        </p:spPr>
      </p:cxnSp>
      <p:sp>
        <p:nvSpPr>
          <p:cNvPr id="116" name="TextBox 16"/>
          <p:cNvSpPr/>
          <p:nvPr/>
        </p:nvSpPr>
        <p:spPr>
          <a:xfrm>
            <a:off x="7635240" y="5257800"/>
            <a:ext cx="3611520" cy="456840"/>
          </a:xfrm>
          <a:prstGeom prst="rect">
            <a:avLst/>
          </a:prstGeom>
          <a:noFill/>
          <a:ln w="0">
            <a:noFill/>
          </a:ln>
        </p:spPr>
        <p:style>
          <a:lnRef idx="0"/>
          <a:fillRef idx="0"/>
          <a:effectRef idx="0"/>
          <a:fontRef idx="minor"/>
        </p:style>
        <p:txBody>
          <a:bodyPr lIns="36720" tIns="36720" rIns="36720" bIns="36720" anchor="t">
            <a:spAutoFit/>
          </a:bodyPr>
          <a:p>
            <a:pPr algn="ctr" defTabSz="457200">
              <a:lnSpc>
                <a:spcPct val="100000"/>
              </a:lnSpc>
              <a:spcAft>
                <a:spcPts val="400"/>
              </a:spcAft>
            </a:pPr>
            <a:r>
              <a:rPr lang="en-US" sz="1300" b="0" u="none" strike="noStrike">
                <a:solidFill>
                  <a:srgbClr val="AEBBD3"/>
                </a:solidFill>
                <a:effectLst/>
                <a:uFillTx/>
                <a:latin typeface="Aptos"/>
              </a:rPr>
              <a:t>More useful, evidence-grounded answers — not a guarantee of correctness.</a:t>
            </a:r>
            <a:endParaRPr lang="en-US" sz="13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020"/>
        </a:solidFill>
      </p:bgPr>
    </p:bg>
    <p:spTree>
      <p:nvGrpSpPr>
        <p:cNvPr id="1" name=""/>
        <p:cNvGrpSpPr/>
        <p:nvPr/>
      </p:nvGrpSpPr>
      <p:grpSpPr>
        <a:xfrm>
          <a:off x="0" y="0"/>
          <a:ext cx="0" cy="0"/>
          <a:chOff x="0" y="0"/>
          <a:chExt cx="0" cy="0"/>
        </a:xfrm>
      </p:grpSpPr>
      <p:sp>
        <p:nvSpPr>
          <p:cNvPr id="117" name="TextBox 1"/>
          <p:cNvSpPr/>
          <p:nvPr/>
        </p:nvSpPr>
        <p:spPr>
          <a:xfrm>
            <a:off x="567000" y="320040"/>
            <a:ext cx="4937400" cy="2556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1" u="none" strike="noStrike">
                <a:solidFill>
                  <a:srgbClr val="42D3E6"/>
                </a:solidFill>
                <a:effectLst/>
                <a:uFillTx/>
                <a:latin typeface="Aptos"/>
              </a:rPr>
              <a:t>02 • HOW IT WORKS</a:t>
            </a:r>
            <a:endParaRPr lang="en-US" sz="1000" b="0" u="none" strike="noStrike">
              <a:solidFill>
                <a:srgbClr val="FFFFFF"/>
              </a:solidFill>
              <a:effectLst/>
              <a:uFillTx/>
              <a:latin typeface="Arial"/>
            </a:endParaRPr>
          </a:p>
        </p:txBody>
      </p:sp>
      <p:sp>
        <p:nvSpPr>
          <p:cNvPr id="118" name="TextBox 2"/>
          <p:cNvSpPr/>
          <p:nvPr/>
        </p:nvSpPr>
        <p:spPr>
          <a:xfrm>
            <a:off x="567000" y="658440"/>
            <a:ext cx="10972440" cy="5025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2700" b="1" u="none" strike="noStrike">
                <a:solidFill>
                  <a:srgbClr val="F4F7FF"/>
                </a:solidFill>
                <a:effectLst/>
                <a:uFillTx/>
                <a:latin typeface="Aptos"/>
              </a:rPr>
              <a:t>The RAG cycle: retrieve, ground, generate</a:t>
            </a:r>
            <a:endParaRPr lang="en-US" sz="2700" b="0" u="none" strike="noStrike">
              <a:solidFill>
                <a:srgbClr val="FFFFFF"/>
              </a:solidFill>
              <a:effectLst/>
              <a:uFillTx/>
              <a:latin typeface="Arial"/>
            </a:endParaRPr>
          </a:p>
        </p:txBody>
      </p:sp>
      <p:sp>
        <p:nvSpPr>
          <p:cNvPr id="119" name="TextBox 3"/>
          <p:cNvSpPr/>
          <p:nvPr/>
        </p:nvSpPr>
        <p:spPr>
          <a:xfrm>
            <a:off x="585360" y="1197720"/>
            <a:ext cx="10972440" cy="3837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AEBBD3"/>
                </a:solidFill>
                <a:effectLst/>
                <a:uFillTx/>
                <a:latin typeface="Aptos"/>
              </a:rPr>
              <a:t>A repeatable pipeline turns documents into context for each question.</a:t>
            </a:r>
            <a:endParaRPr lang="en-US" sz="1200" b="0" u="none" strike="noStrike">
              <a:solidFill>
                <a:srgbClr val="FFFFFF"/>
              </a:solidFill>
              <a:effectLst/>
              <a:uFillTx/>
              <a:latin typeface="Arial"/>
            </a:endParaRPr>
          </a:p>
        </p:txBody>
      </p:sp>
      <p:sp>
        <p:nvSpPr>
          <p:cNvPr id="120" name="Rectangle 4"/>
          <p:cNvSpPr/>
          <p:nvPr/>
        </p:nvSpPr>
        <p:spPr>
          <a:xfrm>
            <a:off x="585360" y="1664280"/>
            <a:ext cx="776880" cy="40680"/>
          </a:xfrm>
          <a:prstGeom prst="rect">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sp>
        <p:nvSpPr>
          <p:cNvPr id="121" name="TextBox 5"/>
          <p:cNvSpPr/>
          <p:nvPr/>
        </p:nvSpPr>
        <p:spPr>
          <a:xfrm>
            <a:off x="585360" y="6510600"/>
            <a:ext cx="6400440" cy="1641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800" b="1" u="none" strike="noStrike">
                <a:solidFill>
                  <a:srgbClr val="AEBBD3"/>
                </a:solidFill>
                <a:effectLst/>
                <a:uFillTx/>
                <a:latin typeface="Aptos"/>
              </a:rPr>
              <a:t>KONG CHATBOT ARCHITECTURE   •   02 / 10</a:t>
            </a:r>
            <a:endParaRPr lang="en-US" sz="800" b="0" u="none" strike="noStrike">
              <a:solidFill>
                <a:srgbClr val="FFFFFF"/>
              </a:solidFill>
              <a:effectLst/>
              <a:uFillTx/>
              <a:latin typeface="Arial"/>
            </a:endParaRPr>
          </a:p>
        </p:txBody>
      </p:sp>
      <p:sp>
        <p:nvSpPr>
          <p:cNvPr id="122" name="Rounded Rectangle 6"/>
          <p:cNvSpPr/>
          <p:nvPr/>
        </p:nvSpPr>
        <p:spPr>
          <a:xfrm>
            <a:off x="621720" y="2331720"/>
            <a:ext cx="2267280" cy="242280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3" name="Rounded Rectangle 7"/>
          <p:cNvSpPr/>
          <p:nvPr/>
        </p:nvSpPr>
        <p:spPr>
          <a:xfrm>
            <a:off x="786240" y="2541960"/>
            <a:ext cx="475200" cy="292320"/>
          </a:xfrm>
          <a:prstGeom prst="roundRect">
            <a:avLst>
              <a:gd name="adj" fmla="val 16667"/>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4" name="TextBox 8"/>
          <p:cNvSpPr/>
          <p:nvPr/>
        </p:nvSpPr>
        <p:spPr>
          <a:xfrm>
            <a:off x="822960" y="2560320"/>
            <a:ext cx="40212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01</a:t>
            </a:r>
            <a:endParaRPr lang="en-US" sz="900" b="0" u="none" strike="noStrike">
              <a:solidFill>
                <a:srgbClr val="FFFFFF"/>
              </a:solidFill>
              <a:effectLst/>
              <a:uFillTx/>
              <a:latin typeface="Arial"/>
            </a:endParaRPr>
          </a:p>
        </p:txBody>
      </p:sp>
      <p:sp>
        <p:nvSpPr>
          <p:cNvPr id="125" name="TextBox 9"/>
          <p:cNvSpPr/>
          <p:nvPr/>
        </p:nvSpPr>
        <p:spPr>
          <a:xfrm>
            <a:off x="786240" y="2990160"/>
            <a:ext cx="1901520" cy="3196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600" b="1" u="none" strike="noStrike">
                <a:solidFill>
                  <a:srgbClr val="42D3E6"/>
                </a:solidFill>
                <a:effectLst/>
                <a:uFillTx/>
                <a:latin typeface="Aptos"/>
              </a:rPr>
              <a:t>PREPARE</a:t>
            </a:r>
            <a:endParaRPr lang="en-US" sz="1600" b="0" u="none" strike="noStrike">
              <a:solidFill>
                <a:srgbClr val="FFFFFF"/>
              </a:solidFill>
              <a:effectLst/>
              <a:uFillTx/>
              <a:latin typeface="Arial"/>
            </a:endParaRPr>
          </a:p>
        </p:txBody>
      </p:sp>
      <p:sp>
        <p:nvSpPr>
          <p:cNvPr id="126" name="TextBox 10"/>
          <p:cNvSpPr/>
          <p:nvPr/>
        </p:nvSpPr>
        <p:spPr>
          <a:xfrm>
            <a:off x="786240" y="3456360"/>
            <a:ext cx="1901520" cy="10054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F4F7FF"/>
                </a:solidFill>
                <a:effectLst/>
                <a:uFillTx/>
                <a:latin typeface="Aptos"/>
              </a:rPr>
              <a:t>Split documents into overlapping chunks; calculate an embedding vector for each chunk.</a:t>
            </a:r>
            <a:endParaRPr lang="en-US" sz="1200" b="0" u="none" strike="noStrike">
              <a:solidFill>
                <a:srgbClr val="FFFFFF"/>
              </a:solidFill>
              <a:effectLst/>
              <a:uFillTx/>
              <a:latin typeface="Arial"/>
            </a:endParaRPr>
          </a:p>
        </p:txBody>
      </p:sp>
      <p:sp>
        <p:nvSpPr>
          <p:cNvPr id="127" name="Rounded Rectangle 11"/>
          <p:cNvSpPr/>
          <p:nvPr/>
        </p:nvSpPr>
        <p:spPr>
          <a:xfrm>
            <a:off x="3520440" y="2331720"/>
            <a:ext cx="2267280" cy="242280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8" name="Rounded Rectangle 12"/>
          <p:cNvSpPr/>
          <p:nvPr/>
        </p:nvSpPr>
        <p:spPr>
          <a:xfrm>
            <a:off x="3684960" y="2541960"/>
            <a:ext cx="475200" cy="292320"/>
          </a:xfrm>
          <a:prstGeom prst="roundRect">
            <a:avLst>
              <a:gd name="adj" fmla="val 16667"/>
            </a:avLst>
          </a:prstGeom>
          <a:solidFill>
            <a:srgbClr val="48E0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29" name="TextBox 13"/>
          <p:cNvSpPr/>
          <p:nvPr/>
        </p:nvSpPr>
        <p:spPr>
          <a:xfrm>
            <a:off x="3721680" y="2560320"/>
            <a:ext cx="40212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02</a:t>
            </a:r>
            <a:endParaRPr lang="en-US" sz="900" b="0" u="none" strike="noStrike">
              <a:solidFill>
                <a:srgbClr val="FFFFFF"/>
              </a:solidFill>
              <a:effectLst/>
              <a:uFillTx/>
              <a:latin typeface="Arial"/>
            </a:endParaRPr>
          </a:p>
        </p:txBody>
      </p:sp>
      <p:sp>
        <p:nvSpPr>
          <p:cNvPr id="130" name="TextBox 14"/>
          <p:cNvSpPr/>
          <p:nvPr/>
        </p:nvSpPr>
        <p:spPr>
          <a:xfrm>
            <a:off x="3684960" y="2990160"/>
            <a:ext cx="1901520" cy="3196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600" b="1" u="none" strike="noStrike">
                <a:solidFill>
                  <a:srgbClr val="48E0B8"/>
                </a:solidFill>
                <a:effectLst/>
                <a:uFillTx/>
                <a:latin typeface="Aptos"/>
              </a:rPr>
              <a:t>RETRIEVE</a:t>
            </a:r>
            <a:endParaRPr lang="en-US" sz="1600" b="0" u="none" strike="noStrike">
              <a:solidFill>
                <a:srgbClr val="FFFFFF"/>
              </a:solidFill>
              <a:effectLst/>
              <a:uFillTx/>
              <a:latin typeface="Arial"/>
            </a:endParaRPr>
          </a:p>
        </p:txBody>
      </p:sp>
      <p:sp>
        <p:nvSpPr>
          <p:cNvPr id="131" name="TextBox 15"/>
          <p:cNvSpPr/>
          <p:nvPr/>
        </p:nvSpPr>
        <p:spPr>
          <a:xfrm>
            <a:off x="3684960" y="3456360"/>
            <a:ext cx="1901520" cy="10054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F4F7FF"/>
                </a:solidFill>
                <a:effectLst/>
                <a:uFillTx/>
                <a:latin typeface="Aptos"/>
              </a:rPr>
              <a:t>Embed the question and rank chunks by vector similarity.</a:t>
            </a:r>
            <a:endParaRPr lang="en-US" sz="1200" b="0" u="none" strike="noStrike">
              <a:solidFill>
                <a:srgbClr val="FFFFFF"/>
              </a:solidFill>
              <a:effectLst/>
              <a:uFillTx/>
              <a:latin typeface="Arial"/>
            </a:endParaRPr>
          </a:p>
        </p:txBody>
      </p:sp>
      <p:sp>
        <p:nvSpPr>
          <p:cNvPr id="132" name="Rounded Rectangle 16"/>
          <p:cNvSpPr/>
          <p:nvPr/>
        </p:nvSpPr>
        <p:spPr>
          <a:xfrm>
            <a:off x="6419160" y="2331720"/>
            <a:ext cx="2267280" cy="242280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3" name="Rounded Rectangle 17"/>
          <p:cNvSpPr/>
          <p:nvPr/>
        </p:nvSpPr>
        <p:spPr>
          <a:xfrm>
            <a:off x="6583680" y="2541960"/>
            <a:ext cx="475200" cy="292320"/>
          </a:xfrm>
          <a:prstGeom prst="roundRect">
            <a:avLst>
              <a:gd name="adj" fmla="val 16667"/>
            </a:avLst>
          </a:prstGeom>
          <a:solidFill>
            <a:srgbClr val="A07D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4" name="TextBox 18"/>
          <p:cNvSpPr/>
          <p:nvPr/>
        </p:nvSpPr>
        <p:spPr>
          <a:xfrm>
            <a:off x="6620400" y="2560320"/>
            <a:ext cx="40212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03</a:t>
            </a:r>
            <a:endParaRPr lang="en-US" sz="900" b="0" u="none" strike="noStrike">
              <a:solidFill>
                <a:srgbClr val="FFFFFF"/>
              </a:solidFill>
              <a:effectLst/>
              <a:uFillTx/>
              <a:latin typeface="Arial"/>
            </a:endParaRPr>
          </a:p>
        </p:txBody>
      </p:sp>
      <p:sp>
        <p:nvSpPr>
          <p:cNvPr id="135" name="TextBox 19"/>
          <p:cNvSpPr/>
          <p:nvPr/>
        </p:nvSpPr>
        <p:spPr>
          <a:xfrm>
            <a:off x="6583680" y="2990160"/>
            <a:ext cx="1901520" cy="3196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600" b="1" u="none" strike="noStrike">
                <a:solidFill>
                  <a:srgbClr val="A07DFF"/>
                </a:solidFill>
                <a:effectLst/>
                <a:uFillTx/>
                <a:latin typeface="Aptos"/>
              </a:rPr>
              <a:t>GROUND</a:t>
            </a:r>
            <a:endParaRPr lang="en-US" sz="1600" b="0" u="none" strike="noStrike">
              <a:solidFill>
                <a:srgbClr val="FFFFFF"/>
              </a:solidFill>
              <a:effectLst/>
              <a:uFillTx/>
              <a:latin typeface="Arial"/>
            </a:endParaRPr>
          </a:p>
        </p:txBody>
      </p:sp>
      <p:sp>
        <p:nvSpPr>
          <p:cNvPr id="136" name="TextBox 20"/>
          <p:cNvSpPr/>
          <p:nvPr/>
        </p:nvSpPr>
        <p:spPr>
          <a:xfrm>
            <a:off x="6583680" y="3456360"/>
            <a:ext cx="1901520" cy="10054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F4F7FF"/>
                </a:solidFill>
                <a:effectLst/>
                <a:uFillTx/>
                <a:latin typeface="Aptos"/>
              </a:rPr>
              <a:t>Add the best excerpts and source titles to the model request.</a:t>
            </a:r>
            <a:endParaRPr lang="en-US" sz="1200" b="0" u="none" strike="noStrike">
              <a:solidFill>
                <a:srgbClr val="FFFFFF"/>
              </a:solidFill>
              <a:effectLst/>
              <a:uFillTx/>
              <a:latin typeface="Arial"/>
            </a:endParaRPr>
          </a:p>
        </p:txBody>
      </p:sp>
      <p:sp>
        <p:nvSpPr>
          <p:cNvPr id="137" name="Rounded Rectangle 21"/>
          <p:cNvSpPr/>
          <p:nvPr/>
        </p:nvSpPr>
        <p:spPr>
          <a:xfrm>
            <a:off x="9317880" y="2331720"/>
            <a:ext cx="2267280" cy="242280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8" name="Rounded Rectangle 22"/>
          <p:cNvSpPr/>
          <p:nvPr/>
        </p:nvSpPr>
        <p:spPr>
          <a:xfrm>
            <a:off x="9482400" y="2541960"/>
            <a:ext cx="475200" cy="292320"/>
          </a:xfrm>
          <a:prstGeom prst="roundRect">
            <a:avLst>
              <a:gd name="adj" fmla="val 16667"/>
            </a:avLst>
          </a:prstGeom>
          <a:solidFill>
            <a:srgbClr val="FFB55B"/>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39" name="TextBox 23"/>
          <p:cNvSpPr/>
          <p:nvPr/>
        </p:nvSpPr>
        <p:spPr>
          <a:xfrm>
            <a:off x="9518760" y="2560320"/>
            <a:ext cx="40212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04</a:t>
            </a:r>
            <a:endParaRPr lang="en-US" sz="900" b="0" u="none" strike="noStrike">
              <a:solidFill>
                <a:srgbClr val="FFFFFF"/>
              </a:solidFill>
              <a:effectLst/>
              <a:uFillTx/>
              <a:latin typeface="Arial"/>
            </a:endParaRPr>
          </a:p>
        </p:txBody>
      </p:sp>
      <p:sp>
        <p:nvSpPr>
          <p:cNvPr id="140" name="TextBox 24"/>
          <p:cNvSpPr/>
          <p:nvPr/>
        </p:nvSpPr>
        <p:spPr>
          <a:xfrm>
            <a:off x="9482400" y="2990160"/>
            <a:ext cx="1901520" cy="3196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600" b="1" u="none" strike="noStrike">
                <a:solidFill>
                  <a:srgbClr val="FFB55B"/>
                </a:solidFill>
                <a:effectLst/>
                <a:uFillTx/>
                <a:latin typeface="Aptos"/>
              </a:rPr>
              <a:t>GENERATE</a:t>
            </a:r>
            <a:endParaRPr lang="en-US" sz="1600" b="0" u="none" strike="noStrike">
              <a:solidFill>
                <a:srgbClr val="FFFFFF"/>
              </a:solidFill>
              <a:effectLst/>
              <a:uFillTx/>
              <a:latin typeface="Arial"/>
            </a:endParaRPr>
          </a:p>
        </p:txBody>
      </p:sp>
      <p:sp>
        <p:nvSpPr>
          <p:cNvPr id="141" name="TextBox 25"/>
          <p:cNvSpPr/>
          <p:nvPr/>
        </p:nvSpPr>
        <p:spPr>
          <a:xfrm>
            <a:off x="9482400" y="3456360"/>
            <a:ext cx="1901520" cy="10054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F4F7FF"/>
                </a:solidFill>
                <a:effectLst/>
                <a:uFillTx/>
                <a:latin typeface="Aptos"/>
              </a:rPr>
              <a:t>Ask the model to answer from those excerpts and cite relevant source titles.</a:t>
            </a:r>
            <a:endParaRPr lang="en-US" sz="1200" b="0" u="none" strike="noStrike">
              <a:solidFill>
                <a:srgbClr val="FFFFFF"/>
              </a:solidFill>
              <a:effectLst/>
              <a:uFillTx/>
              <a:latin typeface="Arial"/>
            </a:endParaRPr>
          </a:p>
        </p:txBody>
      </p:sp>
      <p:cxnSp>
        <p:nvCxnSpPr>
          <p:cNvPr id="142" name="Connector 26"/>
          <p:cNvCxnSpPr/>
          <p:nvPr/>
        </p:nvCxnSpPr>
        <p:spPr>
          <a:xfrm>
            <a:off x="2953440" y="3520440"/>
            <a:ext cx="439200" cy="360"/>
          </a:xfrm>
          <a:prstGeom prst="straightConnector1">
            <a:avLst/>
          </a:prstGeom>
          <a:ln>
            <a:solidFill>
              <a:srgbClr val="42D3E6"/>
            </a:solidFill>
            <a:round/>
          </a:ln>
        </p:spPr>
      </p:cxnSp>
      <p:cxnSp>
        <p:nvCxnSpPr>
          <p:cNvPr id="143" name="Connector 27"/>
          <p:cNvCxnSpPr/>
          <p:nvPr/>
        </p:nvCxnSpPr>
        <p:spPr>
          <a:xfrm>
            <a:off x="5852160" y="3520440"/>
            <a:ext cx="439200" cy="360"/>
          </a:xfrm>
          <a:prstGeom prst="straightConnector1">
            <a:avLst/>
          </a:prstGeom>
          <a:ln>
            <a:solidFill>
              <a:srgbClr val="42D3E6"/>
            </a:solidFill>
            <a:round/>
          </a:ln>
        </p:spPr>
      </p:cxnSp>
      <p:cxnSp>
        <p:nvCxnSpPr>
          <p:cNvPr id="144" name="Connector 28"/>
          <p:cNvCxnSpPr/>
          <p:nvPr/>
        </p:nvCxnSpPr>
        <p:spPr>
          <a:xfrm>
            <a:off x="8750520" y="3520440"/>
            <a:ext cx="439560" cy="360"/>
          </a:xfrm>
          <a:prstGeom prst="straightConnector1">
            <a:avLst/>
          </a:prstGeom>
          <a:ln>
            <a:solidFill>
              <a:srgbClr val="42D3E6"/>
            </a:solidFill>
            <a:round/>
          </a:ln>
        </p:spPr>
      </p:cxnSp>
      <p:sp>
        <p:nvSpPr>
          <p:cNvPr id="145" name="Rounded Rectangle 29"/>
          <p:cNvSpPr/>
          <p:nvPr/>
        </p:nvSpPr>
        <p:spPr>
          <a:xfrm>
            <a:off x="621720" y="5102280"/>
            <a:ext cx="10972440" cy="776880"/>
          </a:xfrm>
          <a:prstGeom prst="roundRect">
            <a:avLst>
              <a:gd name="adj" fmla="val 16667"/>
            </a:avLst>
          </a:prstGeom>
          <a:solidFill>
            <a:srgbClr val="251E2B"/>
          </a:solidFill>
          <a:ln w="12700">
            <a:solidFill>
              <a:srgbClr val="64465A"/>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46" name="TextBox 30"/>
          <p:cNvSpPr/>
          <p:nvPr/>
        </p:nvSpPr>
        <p:spPr>
          <a:xfrm>
            <a:off x="868680" y="5321880"/>
            <a:ext cx="1142640" cy="22824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1" u="none" strike="noStrike">
                <a:solidFill>
                  <a:srgbClr val="FFB55B"/>
                </a:solidFill>
                <a:effectLst/>
                <a:uFillTx/>
                <a:latin typeface="Aptos"/>
              </a:rPr>
              <a:t>IMPORTANT</a:t>
            </a:r>
            <a:endParaRPr lang="en-US" sz="1000" b="0" u="none" strike="noStrike">
              <a:solidFill>
                <a:srgbClr val="FFFFFF"/>
              </a:solidFill>
              <a:effectLst/>
              <a:uFillTx/>
              <a:latin typeface="Arial"/>
            </a:endParaRPr>
          </a:p>
        </p:txBody>
      </p:sp>
      <p:sp>
        <p:nvSpPr>
          <p:cNvPr id="147" name="TextBox 31"/>
          <p:cNvSpPr/>
          <p:nvPr/>
        </p:nvSpPr>
        <p:spPr>
          <a:xfrm>
            <a:off x="1920240" y="5257800"/>
            <a:ext cx="9235080" cy="3837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300" b="0" u="none" strike="noStrike">
                <a:solidFill>
                  <a:srgbClr val="F4F7FF"/>
                </a:solidFill>
                <a:effectLst/>
                <a:uFillTx/>
                <a:latin typeface="Aptos"/>
              </a:rPr>
              <a:t>Similarity thresholds are heuristics. Grounding helps traceability; it does not prove facts or prevent prompt injection.</a:t>
            </a:r>
            <a:endParaRPr lang="en-US" sz="1300" b="0" u="none" strike="noStrike">
              <a:solidFill>
                <a:srgbClr val="FFFFFF"/>
              </a:solidFill>
              <a:effectLst/>
              <a:uFillTx/>
              <a:latin typeface="Arial"/>
            </a:endParaRPr>
          </a:p>
        </p:txBody>
      </p:sp>
      <p:sp>
        <p:nvSpPr>
          <p:cNvPr id="148" name="TextBox 32"/>
          <p:cNvSpPr/>
          <p:nvPr/>
        </p:nvSpPr>
        <p:spPr>
          <a:xfrm>
            <a:off x="731520" y="6053400"/>
            <a:ext cx="10881000" cy="2556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0" u="none" strike="noStrike">
                <a:solidFill>
                  <a:srgbClr val="AEBBD3"/>
                </a:solidFill>
                <a:effectLst/>
                <a:uFillTx/>
                <a:latin typeface="Aptos"/>
              </a:rPr>
              <a:t>LOCAL: empty / below-threshold result → “I don't know” (no generation call)     •     KONNECT: AI RAG Injector supplies context</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020"/>
        </a:solidFill>
      </p:bgPr>
    </p:bg>
    <p:spTree>
      <p:nvGrpSpPr>
        <p:cNvPr id="1" name=""/>
        <p:cNvGrpSpPr/>
        <p:nvPr/>
      </p:nvGrpSpPr>
      <p:grpSpPr>
        <a:xfrm>
          <a:off x="0" y="0"/>
          <a:ext cx="0" cy="0"/>
          <a:chOff x="0" y="0"/>
          <a:chExt cx="0" cy="0"/>
        </a:xfrm>
      </p:grpSpPr>
      <p:sp>
        <p:nvSpPr>
          <p:cNvPr id="149" name="TextBox 1"/>
          <p:cNvSpPr/>
          <p:nvPr/>
        </p:nvSpPr>
        <p:spPr>
          <a:xfrm>
            <a:off x="567000" y="320040"/>
            <a:ext cx="4937400" cy="2556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1" u="none" strike="noStrike">
                <a:solidFill>
                  <a:srgbClr val="42D3E6"/>
                </a:solidFill>
                <a:effectLst/>
                <a:uFillTx/>
                <a:latin typeface="Aptos"/>
              </a:rPr>
              <a:t>03 • DEPLOYMENT CHOICES</a:t>
            </a:r>
            <a:endParaRPr lang="en-US" sz="1000" b="0" u="none" strike="noStrike">
              <a:solidFill>
                <a:srgbClr val="FFFFFF"/>
              </a:solidFill>
              <a:effectLst/>
              <a:uFillTx/>
              <a:latin typeface="Arial"/>
            </a:endParaRPr>
          </a:p>
        </p:txBody>
      </p:sp>
      <p:sp>
        <p:nvSpPr>
          <p:cNvPr id="150" name="TextBox 2"/>
          <p:cNvSpPr/>
          <p:nvPr/>
        </p:nvSpPr>
        <p:spPr>
          <a:xfrm>
            <a:off x="567000" y="658440"/>
            <a:ext cx="10972440" cy="5025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2700" b="1" u="none" strike="noStrike">
                <a:solidFill>
                  <a:srgbClr val="F4F7FF"/>
                </a:solidFill>
                <a:effectLst/>
                <a:uFillTx/>
                <a:latin typeface="Aptos"/>
              </a:rPr>
              <a:t>One chatbot API, two deployment modes</a:t>
            </a:r>
            <a:endParaRPr lang="en-US" sz="2700" b="0" u="none" strike="noStrike">
              <a:solidFill>
                <a:srgbClr val="FFFFFF"/>
              </a:solidFill>
              <a:effectLst/>
              <a:uFillTx/>
              <a:latin typeface="Arial"/>
            </a:endParaRPr>
          </a:p>
        </p:txBody>
      </p:sp>
      <p:sp>
        <p:nvSpPr>
          <p:cNvPr id="151" name="TextBox 3"/>
          <p:cNvSpPr/>
          <p:nvPr/>
        </p:nvSpPr>
        <p:spPr>
          <a:xfrm>
            <a:off x="585360" y="1197720"/>
            <a:ext cx="10972440" cy="3837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AEBBD3"/>
                </a:solidFill>
                <a:effectLst/>
                <a:uFillTx/>
                <a:latin typeface="Aptos"/>
              </a:rPr>
              <a:t>RAG_MODE selects where retrieval happens; the Spring-facing API stays consistent.</a:t>
            </a:r>
            <a:endParaRPr lang="en-US" sz="1200" b="0" u="none" strike="noStrike">
              <a:solidFill>
                <a:srgbClr val="FFFFFF"/>
              </a:solidFill>
              <a:effectLst/>
              <a:uFillTx/>
              <a:latin typeface="Arial"/>
            </a:endParaRPr>
          </a:p>
        </p:txBody>
      </p:sp>
      <p:sp>
        <p:nvSpPr>
          <p:cNvPr id="152" name="Rectangle 4"/>
          <p:cNvSpPr/>
          <p:nvPr/>
        </p:nvSpPr>
        <p:spPr>
          <a:xfrm>
            <a:off x="585360" y="1664280"/>
            <a:ext cx="776880" cy="40680"/>
          </a:xfrm>
          <a:prstGeom prst="rect">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sp>
        <p:nvSpPr>
          <p:cNvPr id="153" name="TextBox 5"/>
          <p:cNvSpPr/>
          <p:nvPr/>
        </p:nvSpPr>
        <p:spPr>
          <a:xfrm>
            <a:off x="585360" y="6510600"/>
            <a:ext cx="6400440" cy="1641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800" b="1" u="none" strike="noStrike">
                <a:solidFill>
                  <a:srgbClr val="AEBBD3"/>
                </a:solidFill>
                <a:effectLst/>
                <a:uFillTx/>
                <a:latin typeface="Aptos"/>
              </a:rPr>
              <a:t>KONG CHATBOT ARCHITECTURE   •   03 / 10</a:t>
            </a:r>
            <a:endParaRPr lang="en-US" sz="800" b="0" u="none" strike="noStrike">
              <a:solidFill>
                <a:srgbClr val="FFFFFF"/>
              </a:solidFill>
              <a:effectLst/>
              <a:uFillTx/>
              <a:latin typeface="Arial"/>
            </a:endParaRPr>
          </a:p>
        </p:txBody>
      </p:sp>
      <p:sp>
        <p:nvSpPr>
          <p:cNvPr id="154" name="Rounded Rectangle 6"/>
          <p:cNvSpPr/>
          <p:nvPr/>
        </p:nvSpPr>
        <p:spPr>
          <a:xfrm>
            <a:off x="4983480" y="1847160"/>
            <a:ext cx="1919880" cy="502560"/>
          </a:xfrm>
          <a:prstGeom prst="roundRect">
            <a:avLst>
              <a:gd name="adj" fmla="val 16667"/>
            </a:avLst>
          </a:prstGeom>
          <a:solidFill>
            <a:srgbClr val="1A2641"/>
          </a:solidFill>
          <a:ln w="17780">
            <a:solidFill>
              <a:srgbClr val="F4F7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400" b="1" u="none" strike="noStrike">
                <a:solidFill>
                  <a:srgbClr val="F4F7FF"/>
                </a:solidFill>
                <a:effectLst/>
                <a:uFillTx/>
                <a:latin typeface="Aptos"/>
              </a:rPr>
              <a:t>Client</a:t>
            </a:r>
            <a:endParaRPr lang="en-US" sz="1400" b="0" u="none" strike="noStrike">
              <a:solidFill>
                <a:srgbClr val="FFFFFF"/>
              </a:solidFill>
              <a:effectLst/>
              <a:uFillTx/>
              <a:latin typeface="Arial"/>
            </a:endParaRPr>
          </a:p>
        </p:txBody>
      </p:sp>
      <p:sp>
        <p:nvSpPr>
          <p:cNvPr id="155" name="Rounded Rectangle 7"/>
          <p:cNvSpPr/>
          <p:nvPr/>
        </p:nvSpPr>
        <p:spPr>
          <a:xfrm>
            <a:off x="4709160" y="2670120"/>
            <a:ext cx="2468520" cy="712800"/>
          </a:xfrm>
          <a:prstGeom prst="roundRect">
            <a:avLst>
              <a:gd name="adj" fmla="val 16667"/>
            </a:avLst>
          </a:prstGeom>
          <a:solidFill>
            <a:srgbClr val="1A2641"/>
          </a:solidFill>
          <a:ln w="17780">
            <a:solidFill>
              <a:srgbClr val="42D3E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500" b="1" u="none" strike="noStrike">
                <a:solidFill>
                  <a:srgbClr val="F4F7FF"/>
                </a:solidFill>
                <a:effectLst/>
                <a:uFillTx/>
                <a:latin typeface="Aptos"/>
              </a:rPr>
              <a:t>Spring Boot API</a:t>
            </a:r>
            <a:br>
              <a:rPr sz="1500"/>
            </a:br>
            <a:r>
              <a:rPr lang="en-US" sz="1500" b="1" u="none" strike="noStrike">
                <a:solidFill>
                  <a:srgbClr val="F4F7FF"/>
                </a:solidFill>
                <a:effectLst/>
                <a:uFillTx/>
                <a:latin typeface="Aptos"/>
              </a:rPr>
              <a:t>:8080</a:t>
            </a:r>
            <a:endParaRPr lang="en-US" sz="1500" b="0" u="none" strike="noStrike">
              <a:solidFill>
                <a:srgbClr val="FFFFFF"/>
              </a:solidFill>
              <a:effectLst/>
              <a:uFillTx/>
              <a:latin typeface="Arial"/>
            </a:endParaRPr>
          </a:p>
        </p:txBody>
      </p:sp>
      <p:cxnSp>
        <p:nvCxnSpPr>
          <p:cNvPr id="156" name="Connector 8"/>
          <p:cNvCxnSpPr/>
          <p:nvPr/>
        </p:nvCxnSpPr>
        <p:spPr>
          <a:xfrm>
            <a:off x="5943600" y="2359080"/>
            <a:ext cx="360" cy="274680"/>
          </a:xfrm>
          <a:prstGeom prst="straightConnector1">
            <a:avLst/>
          </a:prstGeom>
          <a:ln>
            <a:solidFill>
              <a:srgbClr val="42D3E6"/>
            </a:solidFill>
            <a:round/>
          </a:ln>
        </p:spPr>
      </p:cxnSp>
      <p:cxnSp>
        <p:nvCxnSpPr>
          <p:cNvPr id="157" name="Connector 9"/>
          <p:cNvCxnSpPr/>
          <p:nvPr/>
        </p:nvCxnSpPr>
        <p:spPr>
          <a:xfrm flipH="1">
            <a:off x="3108960" y="3401280"/>
            <a:ext cx="2377800" cy="485280"/>
          </a:xfrm>
          <a:prstGeom prst="straightConnector1">
            <a:avLst/>
          </a:prstGeom>
          <a:ln>
            <a:solidFill>
              <a:srgbClr val="48E0B8"/>
            </a:solidFill>
            <a:round/>
          </a:ln>
        </p:spPr>
      </p:cxnSp>
      <p:cxnSp>
        <p:nvCxnSpPr>
          <p:cNvPr id="158" name="Connector 10"/>
          <p:cNvCxnSpPr/>
          <p:nvPr/>
        </p:nvCxnSpPr>
        <p:spPr>
          <a:xfrm>
            <a:off x="6400800" y="3401280"/>
            <a:ext cx="2652120" cy="485280"/>
          </a:xfrm>
          <a:prstGeom prst="straightConnector1">
            <a:avLst/>
          </a:prstGeom>
          <a:ln>
            <a:solidFill>
              <a:srgbClr val="A07DFF"/>
            </a:solidFill>
            <a:round/>
          </a:ln>
        </p:spPr>
      </p:cxnSp>
      <p:sp>
        <p:nvSpPr>
          <p:cNvPr id="159" name="Rounded Rectangle 11"/>
          <p:cNvSpPr/>
          <p:nvPr/>
        </p:nvSpPr>
        <p:spPr>
          <a:xfrm>
            <a:off x="868680" y="3611880"/>
            <a:ext cx="1005480" cy="292320"/>
          </a:xfrm>
          <a:prstGeom prst="roundRect">
            <a:avLst>
              <a:gd name="adj" fmla="val 16667"/>
            </a:avLst>
          </a:prstGeom>
          <a:solidFill>
            <a:srgbClr val="48E0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0" name="TextBox 12"/>
          <p:cNvSpPr/>
          <p:nvPr/>
        </p:nvSpPr>
        <p:spPr>
          <a:xfrm>
            <a:off x="905400" y="3630240"/>
            <a:ext cx="93240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LOCAL</a:t>
            </a:r>
            <a:endParaRPr lang="en-US" sz="900" b="0" u="none" strike="noStrike">
              <a:solidFill>
                <a:srgbClr val="FFFFFF"/>
              </a:solidFill>
              <a:effectLst/>
              <a:uFillTx/>
              <a:latin typeface="Arial"/>
            </a:endParaRPr>
          </a:p>
        </p:txBody>
      </p:sp>
      <p:sp>
        <p:nvSpPr>
          <p:cNvPr id="161" name="Rounded Rectangle 13"/>
          <p:cNvSpPr/>
          <p:nvPr/>
        </p:nvSpPr>
        <p:spPr>
          <a:xfrm>
            <a:off x="7818120" y="3611880"/>
            <a:ext cx="1234080" cy="292320"/>
          </a:xfrm>
          <a:prstGeom prst="roundRect">
            <a:avLst>
              <a:gd name="adj" fmla="val 16667"/>
            </a:avLst>
          </a:prstGeom>
          <a:solidFill>
            <a:srgbClr val="A07D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2" name="TextBox 14"/>
          <p:cNvSpPr/>
          <p:nvPr/>
        </p:nvSpPr>
        <p:spPr>
          <a:xfrm>
            <a:off x="7854840" y="3630240"/>
            <a:ext cx="116100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KONNECT</a:t>
            </a:r>
            <a:endParaRPr lang="en-US" sz="900" b="0" u="none" strike="noStrike">
              <a:solidFill>
                <a:srgbClr val="FFFFFF"/>
              </a:solidFill>
              <a:effectLst/>
              <a:uFillTx/>
              <a:latin typeface="Arial"/>
            </a:endParaRPr>
          </a:p>
        </p:txBody>
      </p:sp>
      <p:sp>
        <p:nvSpPr>
          <p:cNvPr id="163" name="Rounded Rectangle 15"/>
          <p:cNvSpPr/>
          <p:nvPr/>
        </p:nvSpPr>
        <p:spPr>
          <a:xfrm>
            <a:off x="594360" y="3977640"/>
            <a:ext cx="5074560" cy="199296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64" name="Rounded Rectangle 16"/>
          <p:cNvSpPr/>
          <p:nvPr/>
        </p:nvSpPr>
        <p:spPr>
          <a:xfrm>
            <a:off x="868680" y="4407480"/>
            <a:ext cx="1234080" cy="658080"/>
          </a:xfrm>
          <a:prstGeom prst="roundRect">
            <a:avLst>
              <a:gd name="adj" fmla="val 16667"/>
            </a:avLst>
          </a:prstGeom>
          <a:solidFill>
            <a:srgbClr val="1A2641"/>
          </a:solidFill>
          <a:ln w="17780">
            <a:solidFill>
              <a:srgbClr val="48E0B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200" b="1" u="none" strike="noStrike">
                <a:solidFill>
                  <a:srgbClr val="F4F7FF"/>
                </a:solidFill>
                <a:effectLst/>
                <a:uFillTx/>
                <a:latin typeface="Aptos"/>
              </a:rPr>
              <a:t>Kong OSS</a:t>
            </a:r>
            <a:br>
              <a:rPr sz="1200"/>
            </a:br>
            <a:r>
              <a:rPr lang="en-US" sz="1200" b="1" u="none" strike="noStrike">
                <a:solidFill>
                  <a:srgbClr val="F4F7FF"/>
                </a:solidFill>
                <a:effectLst/>
                <a:uFillTx/>
                <a:latin typeface="Aptos"/>
              </a:rPr>
              <a:t>:8000</a:t>
            </a:r>
            <a:endParaRPr lang="en-US" sz="1200" b="0" u="none" strike="noStrike">
              <a:solidFill>
                <a:srgbClr val="FFFFFF"/>
              </a:solidFill>
              <a:effectLst/>
              <a:uFillTx/>
              <a:latin typeface="Arial"/>
            </a:endParaRPr>
          </a:p>
        </p:txBody>
      </p:sp>
      <p:sp>
        <p:nvSpPr>
          <p:cNvPr id="165" name="Rounded Rectangle 17"/>
          <p:cNvSpPr/>
          <p:nvPr/>
        </p:nvSpPr>
        <p:spPr>
          <a:xfrm>
            <a:off x="2514600" y="4407480"/>
            <a:ext cx="1325520" cy="658080"/>
          </a:xfrm>
          <a:prstGeom prst="roundRect">
            <a:avLst>
              <a:gd name="adj" fmla="val 16667"/>
            </a:avLst>
          </a:prstGeom>
          <a:solidFill>
            <a:srgbClr val="1A2641"/>
          </a:solidFill>
          <a:ln w="17780">
            <a:solidFill>
              <a:srgbClr val="48E0B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200" b="1" u="none" strike="noStrike">
                <a:solidFill>
                  <a:srgbClr val="F4F7FF"/>
                </a:solidFill>
                <a:effectLst/>
                <a:uFillTx/>
                <a:latin typeface="Aptos"/>
              </a:rPr>
              <a:t>Ollama chat</a:t>
            </a:r>
            <a:br>
              <a:rPr sz="1200"/>
            </a:br>
            <a:r>
              <a:rPr lang="en-US" sz="1200" b="1" u="none" strike="noStrike">
                <a:solidFill>
                  <a:srgbClr val="F4F7FF"/>
                </a:solidFill>
                <a:effectLst/>
                <a:uFillTx/>
                <a:latin typeface="Aptos"/>
              </a:rPr>
              <a:t>+ embeddings</a:t>
            </a:r>
            <a:endParaRPr lang="en-US" sz="1200" b="0" u="none" strike="noStrike">
              <a:solidFill>
                <a:srgbClr val="FFFFFF"/>
              </a:solidFill>
              <a:effectLst/>
              <a:uFillTx/>
              <a:latin typeface="Arial"/>
            </a:endParaRPr>
          </a:p>
        </p:txBody>
      </p:sp>
      <p:sp>
        <p:nvSpPr>
          <p:cNvPr id="166" name="Rounded Rectangle 18"/>
          <p:cNvSpPr/>
          <p:nvPr/>
        </p:nvSpPr>
        <p:spPr>
          <a:xfrm>
            <a:off x="4096440" y="4407480"/>
            <a:ext cx="1298160" cy="658080"/>
          </a:xfrm>
          <a:prstGeom prst="roundRect">
            <a:avLst>
              <a:gd name="adj" fmla="val 16667"/>
            </a:avLst>
          </a:prstGeom>
          <a:solidFill>
            <a:srgbClr val="1A2641"/>
          </a:solidFill>
          <a:ln w="17780">
            <a:solidFill>
              <a:srgbClr val="48E0B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100" b="1" u="none" strike="noStrike">
                <a:solidFill>
                  <a:srgbClr val="F4F7FF"/>
                </a:solidFill>
                <a:effectLst/>
                <a:uFillTx/>
                <a:latin typeface="Aptos"/>
              </a:rPr>
              <a:t>Spring in-memory</a:t>
            </a:r>
            <a:br>
              <a:rPr sz="1100"/>
            </a:br>
            <a:r>
              <a:rPr lang="en-US" sz="1100" b="1" u="none" strike="noStrike">
                <a:solidFill>
                  <a:srgbClr val="F4F7FF"/>
                </a:solidFill>
                <a:effectLst/>
                <a:uFillTx/>
                <a:latin typeface="Aptos"/>
              </a:rPr>
              <a:t>vector index</a:t>
            </a:r>
            <a:endParaRPr lang="en-US" sz="1100" b="0" u="none" strike="noStrike">
              <a:solidFill>
                <a:srgbClr val="FFFFFF"/>
              </a:solidFill>
              <a:effectLst/>
              <a:uFillTx/>
              <a:latin typeface="Arial"/>
            </a:endParaRPr>
          </a:p>
        </p:txBody>
      </p:sp>
      <p:cxnSp>
        <p:nvCxnSpPr>
          <p:cNvPr id="167" name="Connector 19"/>
          <p:cNvCxnSpPr/>
          <p:nvPr/>
        </p:nvCxnSpPr>
        <p:spPr>
          <a:xfrm>
            <a:off x="2130480" y="4736520"/>
            <a:ext cx="329400" cy="360"/>
          </a:xfrm>
          <a:prstGeom prst="straightConnector1">
            <a:avLst/>
          </a:prstGeom>
          <a:ln>
            <a:solidFill>
              <a:srgbClr val="48E0B8"/>
            </a:solidFill>
            <a:round/>
          </a:ln>
        </p:spPr>
      </p:cxnSp>
      <p:cxnSp>
        <p:nvCxnSpPr>
          <p:cNvPr id="168" name="Connector 20"/>
          <p:cNvCxnSpPr/>
          <p:nvPr/>
        </p:nvCxnSpPr>
        <p:spPr>
          <a:xfrm>
            <a:off x="3867840" y="4736520"/>
            <a:ext cx="173880" cy="360"/>
          </a:xfrm>
          <a:prstGeom prst="straightConnector1">
            <a:avLst/>
          </a:prstGeom>
          <a:ln>
            <a:solidFill>
              <a:srgbClr val="48E0B8"/>
            </a:solidFill>
            <a:round/>
          </a:ln>
        </p:spPr>
      </p:cxnSp>
      <p:sp>
        <p:nvSpPr>
          <p:cNvPr id="169" name="TextBox 21"/>
          <p:cNvSpPr/>
          <p:nvPr/>
        </p:nvSpPr>
        <p:spPr>
          <a:xfrm>
            <a:off x="868680" y="5330880"/>
            <a:ext cx="4525920" cy="3654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0" u="none" strike="noStrike">
                <a:solidFill>
                  <a:srgbClr val="AEBBD3"/>
                </a:solidFill>
                <a:effectLst/>
                <a:uFillTx/>
                <a:latin typeface="Aptos"/>
              </a:rPr>
              <a:t>Local development • no Kong account or external model credentials</a:t>
            </a:r>
            <a:endParaRPr lang="en-US" sz="1000" b="0" u="none" strike="noStrike">
              <a:solidFill>
                <a:srgbClr val="FFFFFF"/>
              </a:solidFill>
              <a:effectLst/>
              <a:uFillTx/>
              <a:latin typeface="Arial"/>
            </a:endParaRPr>
          </a:p>
        </p:txBody>
      </p:sp>
      <p:sp>
        <p:nvSpPr>
          <p:cNvPr id="170" name="Rounded Rectangle 22"/>
          <p:cNvSpPr/>
          <p:nvPr/>
        </p:nvSpPr>
        <p:spPr>
          <a:xfrm>
            <a:off x="6492240" y="3977640"/>
            <a:ext cx="5074560" cy="199296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71" name="Rounded Rectangle 23"/>
          <p:cNvSpPr/>
          <p:nvPr/>
        </p:nvSpPr>
        <p:spPr>
          <a:xfrm>
            <a:off x="6748200" y="4407480"/>
            <a:ext cx="1371240" cy="658080"/>
          </a:xfrm>
          <a:prstGeom prst="roundRect">
            <a:avLst>
              <a:gd name="adj" fmla="val 16667"/>
            </a:avLst>
          </a:prstGeom>
          <a:solidFill>
            <a:srgbClr val="1A2641"/>
          </a:solidFill>
          <a:ln w="17780">
            <a:solidFill>
              <a:srgbClr val="A07D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100" b="1" u="none" strike="noStrike">
                <a:solidFill>
                  <a:srgbClr val="F4F7FF"/>
                </a:solidFill>
                <a:effectLst/>
                <a:uFillTx/>
                <a:latin typeface="Aptos"/>
              </a:rPr>
              <a:t>Kong Gateway</a:t>
            </a:r>
            <a:br>
              <a:rPr sz="1100"/>
            </a:br>
            <a:r>
              <a:rPr lang="en-US" sz="1100" b="1" u="none" strike="noStrike">
                <a:solidFill>
                  <a:srgbClr val="F4F7FF"/>
                </a:solidFill>
                <a:effectLst/>
                <a:uFillTx/>
                <a:latin typeface="Aptos"/>
              </a:rPr>
              <a:t>data plane :8000</a:t>
            </a:r>
            <a:endParaRPr lang="en-US" sz="1100" b="0" u="none" strike="noStrike">
              <a:solidFill>
                <a:srgbClr val="FFFFFF"/>
              </a:solidFill>
              <a:effectLst/>
              <a:uFillTx/>
              <a:latin typeface="Arial"/>
            </a:endParaRPr>
          </a:p>
        </p:txBody>
      </p:sp>
      <p:sp>
        <p:nvSpPr>
          <p:cNvPr id="172" name="Rounded Rectangle 24"/>
          <p:cNvSpPr/>
          <p:nvPr/>
        </p:nvSpPr>
        <p:spPr>
          <a:xfrm>
            <a:off x="8430840" y="4407480"/>
            <a:ext cx="1051200" cy="658080"/>
          </a:xfrm>
          <a:prstGeom prst="roundRect">
            <a:avLst>
              <a:gd name="adj" fmla="val 16667"/>
            </a:avLst>
          </a:prstGeom>
          <a:solidFill>
            <a:srgbClr val="1A2641"/>
          </a:solidFill>
          <a:ln w="17780">
            <a:solidFill>
              <a:srgbClr val="A07D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200" b="1" u="none" strike="noStrike">
                <a:solidFill>
                  <a:srgbClr val="F4F7FF"/>
                </a:solidFill>
                <a:effectLst/>
                <a:uFillTx/>
                <a:latin typeface="Aptos"/>
              </a:rPr>
              <a:t>AI RAG</a:t>
            </a:r>
            <a:br>
              <a:rPr sz="1200"/>
            </a:br>
            <a:r>
              <a:rPr lang="en-US" sz="1200" b="1" u="none" strike="noStrike">
                <a:solidFill>
                  <a:srgbClr val="F4F7FF"/>
                </a:solidFill>
                <a:effectLst/>
                <a:uFillTx/>
                <a:latin typeface="Aptos"/>
              </a:rPr>
              <a:t>Injector</a:t>
            </a:r>
            <a:endParaRPr lang="en-US" sz="1200" b="0" u="none" strike="noStrike">
              <a:solidFill>
                <a:srgbClr val="FFFFFF"/>
              </a:solidFill>
              <a:effectLst/>
              <a:uFillTx/>
              <a:latin typeface="Arial"/>
            </a:endParaRPr>
          </a:p>
        </p:txBody>
      </p:sp>
      <p:sp>
        <p:nvSpPr>
          <p:cNvPr id="173" name="Rounded Rectangle 25"/>
          <p:cNvSpPr/>
          <p:nvPr/>
        </p:nvSpPr>
        <p:spPr>
          <a:xfrm>
            <a:off x="9802440" y="4407480"/>
            <a:ext cx="1325520" cy="658080"/>
          </a:xfrm>
          <a:prstGeom prst="roundRect">
            <a:avLst>
              <a:gd name="adj" fmla="val 16667"/>
            </a:avLst>
          </a:prstGeom>
          <a:solidFill>
            <a:srgbClr val="1A2641"/>
          </a:solidFill>
          <a:ln w="17780">
            <a:solidFill>
              <a:srgbClr val="A07D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100" b="1" u="none" strike="noStrike">
                <a:solidFill>
                  <a:srgbClr val="F4F7FF"/>
                </a:solidFill>
                <a:effectLst/>
                <a:uFillTx/>
                <a:latin typeface="Aptos"/>
              </a:rPr>
              <a:t>Redis Stack</a:t>
            </a:r>
            <a:br>
              <a:rPr sz="1100"/>
            </a:br>
            <a:r>
              <a:rPr lang="en-US" sz="1100" b="1" u="none" strike="noStrike">
                <a:solidFill>
                  <a:srgbClr val="F4F7FF"/>
                </a:solidFill>
                <a:effectLst/>
                <a:uFillTx/>
                <a:latin typeface="Aptos"/>
              </a:rPr>
              <a:t>vector index</a:t>
            </a:r>
            <a:endParaRPr lang="en-US" sz="1100" b="0" u="none" strike="noStrike">
              <a:solidFill>
                <a:srgbClr val="FFFFFF"/>
              </a:solidFill>
              <a:effectLst/>
              <a:uFillTx/>
              <a:latin typeface="Arial"/>
            </a:endParaRPr>
          </a:p>
        </p:txBody>
      </p:sp>
      <p:cxnSp>
        <p:nvCxnSpPr>
          <p:cNvPr id="174" name="Connector 26"/>
          <p:cNvCxnSpPr/>
          <p:nvPr/>
        </p:nvCxnSpPr>
        <p:spPr>
          <a:xfrm>
            <a:off x="8156160" y="4736520"/>
            <a:ext cx="219960" cy="360"/>
          </a:xfrm>
          <a:prstGeom prst="straightConnector1">
            <a:avLst/>
          </a:prstGeom>
          <a:ln>
            <a:solidFill>
              <a:srgbClr val="A07DFF"/>
            </a:solidFill>
            <a:round/>
          </a:ln>
        </p:spPr>
      </p:cxnSp>
      <p:cxnSp>
        <p:nvCxnSpPr>
          <p:cNvPr id="175" name="Connector 27"/>
          <p:cNvCxnSpPr/>
          <p:nvPr/>
        </p:nvCxnSpPr>
        <p:spPr>
          <a:xfrm>
            <a:off x="9500400" y="4736520"/>
            <a:ext cx="247320" cy="360"/>
          </a:xfrm>
          <a:prstGeom prst="straightConnector1">
            <a:avLst/>
          </a:prstGeom>
          <a:ln>
            <a:solidFill>
              <a:srgbClr val="A07DFF"/>
            </a:solidFill>
            <a:round/>
          </a:ln>
        </p:spPr>
      </p:cxnSp>
      <p:sp>
        <p:nvSpPr>
          <p:cNvPr id="176" name="TextBox 28"/>
          <p:cNvSpPr/>
          <p:nvPr/>
        </p:nvSpPr>
        <p:spPr>
          <a:xfrm>
            <a:off x="6766560" y="5330880"/>
            <a:ext cx="4480200" cy="3654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0" u="none" strike="noStrike">
                <a:solidFill>
                  <a:srgbClr val="AEBBD3"/>
                </a:solidFill>
                <a:effectLst/>
                <a:uFillTx/>
                <a:latin typeface="Aptos"/>
              </a:rPr>
              <a:t>Konnect control plane manages config • AI Proxy → OpenAI</a:t>
            </a:r>
            <a:endParaRPr lang="en-US" sz="1000" b="0" u="none" strike="noStrike">
              <a:solidFill>
                <a:srgbClr val="FFFFFF"/>
              </a:solidFill>
              <a:effectLst/>
              <a:uFillTx/>
              <a:latin typeface="Arial"/>
            </a:endParaRPr>
          </a:p>
        </p:txBody>
      </p:sp>
      <p:sp>
        <p:nvSpPr>
          <p:cNvPr id="177" name="TextBox 29"/>
          <p:cNvSpPr/>
          <p:nvPr/>
        </p:nvSpPr>
        <p:spPr>
          <a:xfrm>
            <a:off x="1097280" y="6144840"/>
            <a:ext cx="9966600" cy="200880"/>
          </a:xfrm>
          <a:prstGeom prst="rect">
            <a:avLst/>
          </a:prstGeom>
          <a:noFill/>
          <a:ln w="0">
            <a:noFill/>
          </a:ln>
        </p:spPr>
        <p:style>
          <a:lnRef idx="0"/>
          <a:fillRef idx="0"/>
          <a:effectRef idx="0"/>
          <a:fontRef idx="minor"/>
        </p:style>
        <p:txBody>
          <a:bodyPr lIns="36720" tIns="36720" rIns="36720" bIns="36720" anchor="t">
            <a:spAutoFit/>
          </a:bodyPr>
          <a:p>
            <a:pPr algn="ctr" defTabSz="457200">
              <a:lnSpc>
                <a:spcPct val="100000"/>
              </a:lnSpc>
              <a:spcAft>
                <a:spcPts val="400"/>
              </a:spcAft>
            </a:pPr>
            <a:r>
              <a:rPr lang="en-US" sz="1000" b="1" u="none" strike="noStrike">
                <a:solidFill>
                  <a:srgbClr val="FFB55B"/>
                </a:solidFill>
                <a:effectLst/>
                <a:uFillTx/>
                <a:latin typeface="Aptos"/>
              </a:rPr>
              <a:t>Compose + Terraform provision a local Docker environment — not a cloud-platform deployment.</a:t>
            </a:r>
            <a:endParaRPr lang="en-US" sz="10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020"/>
        </a:solidFill>
      </p:bgPr>
    </p:bg>
    <p:spTree>
      <p:nvGrpSpPr>
        <p:cNvPr id="1" name=""/>
        <p:cNvGrpSpPr/>
        <p:nvPr/>
      </p:nvGrpSpPr>
      <p:grpSpPr>
        <a:xfrm>
          <a:off x="0" y="0"/>
          <a:ext cx="0" cy="0"/>
          <a:chOff x="0" y="0"/>
          <a:chExt cx="0" cy="0"/>
        </a:xfrm>
      </p:grpSpPr>
      <p:sp>
        <p:nvSpPr>
          <p:cNvPr id="178" name="TextBox 1"/>
          <p:cNvSpPr/>
          <p:nvPr/>
        </p:nvSpPr>
        <p:spPr>
          <a:xfrm>
            <a:off x="567000" y="320040"/>
            <a:ext cx="4937400" cy="2556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1" u="none" strike="noStrike">
                <a:solidFill>
                  <a:srgbClr val="42D3E6"/>
                </a:solidFill>
                <a:effectLst/>
                <a:uFillTx/>
                <a:latin typeface="Aptos"/>
              </a:rPr>
              <a:t>04 • GATEWAY BOUNDARY</a:t>
            </a:r>
            <a:endParaRPr lang="en-US" sz="1000" b="0" u="none" strike="noStrike">
              <a:solidFill>
                <a:srgbClr val="FFFFFF"/>
              </a:solidFill>
              <a:effectLst/>
              <a:uFillTx/>
              <a:latin typeface="Arial"/>
            </a:endParaRPr>
          </a:p>
        </p:txBody>
      </p:sp>
      <p:sp>
        <p:nvSpPr>
          <p:cNvPr id="179" name="TextBox 2"/>
          <p:cNvSpPr/>
          <p:nvPr/>
        </p:nvSpPr>
        <p:spPr>
          <a:xfrm>
            <a:off x="567000" y="658440"/>
            <a:ext cx="10972440" cy="5025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2700" b="1" u="none" strike="noStrike">
                <a:solidFill>
                  <a:srgbClr val="F4F7FF"/>
                </a:solidFill>
                <a:effectLst/>
                <a:uFillTx/>
                <a:latin typeface="Aptos"/>
              </a:rPr>
              <a:t>Kong Gateway: the model-traffic boundary</a:t>
            </a:r>
            <a:endParaRPr lang="en-US" sz="2700" b="0" u="none" strike="noStrike">
              <a:solidFill>
                <a:srgbClr val="FFFFFF"/>
              </a:solidFill>
              <a:effectLst/>
              <a:uFillTx/>
              <a:latin typeface="Arial"/>
            </a:endParaRPr>
          </a:p>
        </p:txBody>
      </p:sp>
      <p:sp>
        <p:nvSpPr>
          <p:cNvPr id="180" name="TextBox 3"/>
          <p:cNvSpPr/>
          <p:nvPr/>
        </p:nvSpPr>
        <p:spPr>
          <a:xfrm>
            <a:off x="585360" y="1197720"/>
            <a:ext cx="10972440" cy="3837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AEBBD3"/>
                </a:solidFill>
                <a:effectLst/>
                <a:uFillTx/>
                <a:latin typeface="Aptos"/>
              </a:rPr>
              <a:t>The application talks to Kong; Kong routes model traffic according to the selected mode.</a:t>
            </a:r>
            <a:endParaRPr lang="en-US" sz="1200" b="0" u="none" strike="noStrike">
              <a:solidFill>
                <a:srgbClr val="FFFFFF"/>
              </a:solidFill>
              <a:effectLst/>
              <a:uFillTx/>
              <a:latin typeface="Arial"/>
            </a:endParaRPr>
          </a:p>
        </p:txBody>
      </p:sp>
      <p:sp>
        <p:nvSpPr>
          <p:cNvPr id="181" name="Rectangle 4"/>
          <p:cNvSpPr/>
          <p:nvPr/>
        </p:nvSpPr>
        <p:spPr>
          <a:xfrm>
            <a:off x="585360" y="1664280"/>
            <a:ext cx="776880" cy="40680"/>
          </a:xfrm>
          <a:prstGeom prst="rect">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sp>
        <p:nvSpPr>
          <p:cNvPr id="182" name="TextBox 5"/>
          <p:cNvSpPr/>
          <p:nvPr/>
        </p:nvSpPr>
        <p:spPr>
          <a:xfrm>
            <a:off x="585360" y="6510600"/>
            <a:ext cx="6400440" cy="1641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800" b="1" u="none" strike="noStrike">
                <a:solidFill>
                  <a:srgbClr val="AEBBD3"/>
                </a:solidFill>
                <a:effectLst/>
                <a:uFillTx/>
                <a:latin typeface="Aptos"/>
              </a:rPr>
              <a:t>KONG CHATBOT ARCHITECTURE   •   04 / 10</a:t>
            </a:r>
            <a:endParaRPr lang="en-US" sz="800" b="0" u="none" strike="noStrike">
              <a:solidFill>
                <a:srgbClr val="FFFFFF"/>
              </a:solidFill>
              <a:effectLst/>
              <a:uFillTx/>
              <a:latin typeface="Arial"/>
            </a:endParaRPr>
          </a:p>
        </p:txBody>
      </p:sp>
      <p:sp>
        <p:nvSpPr>
          <p:cNvPr id="183" name="Rounded Rectangle 6"/>
          <p:cNvSpPr/>
          <p:nvPr/>
        </p:nvSpPr>
        <p:spPr>
          <a:xfrm>
            <a:off x="621720" y="1993320"/>
            <a:ext cx="5321520" cy="361152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4" name="Rounded Rectangle 7"/>
          <p:cNvSpPr/>
          <p:nvPr/>
        </p:nvSpPr>
        <p:spPr>
          <a:xfrm>
            <a:off x="914400" y="2286000"/>
            <a:ext cx="1691280" cy="292320"/>
          </a:xfrm>
          <a:prstGeom prst="roundRect">
            <a:avLst>
              <a:gd name="adj" fmla="val 16667"/>
            </a:avLst>
          </a:prstGeom>
          <a:solidFill>
            <a:srgbClr val="48E0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85" name="TextBox 8"/>
          <p:cNvSpPr/>
          <p:nvPr/>
        </p:nvSpPr>
        <p:spPr>
          <a:xfrm>
            <a:off x="951120" y="2304360"/>
            <a:ext cx="161820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LOCAL • KONG OSS</a:t>
            </a:r>
            <a:endParaRPr lang="en-US" sz="900" b="0" u="none" strike="noStrike">
              <a:solidFill>
                <a:srgbClr val="FFFFFF"/>
              </a:solidFill>
              <a:effectLst/>
              <a:uFillTx/>
              <a:latin typeface="Arial"/>
            </a:endParaRPr>
          </a:p>
        </p:txBody>
      </p:sp>
      <p:sp>
        <p:nvSpPr>
          <p:cNvPr id="186" name="Rounded Rectangle 9"/>
          <p:cNvSpPr/>
          <p:nvPr/>
        </p:nvSpPr>
        <p:spPr>
          <a:xfrm>
            <a:off x="960120" y="3035880"/>
            <a:ext cx="1416960" cy="694440"/>
          </a:xfrm>
          <a:prstGeom prst="roundRect">
            <a:avLst>
              <a:gd name="adj" fmla="val 16667"/>
            </a:avLst>
          </a:prstGeom>
          <a:solidFill>
            <a:srgbClr val="1A2641"/>
          </a:solidFill>
          <a:ln w="17780">
            <a:solidFill>
              <a:srgbClr val="42D3E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300" b="1" u="none" strike="noStrike">
                <a:solidFill>
                  <a:srgbClr val="F4F7FF"/>
                </a:solidFill>
                <a:effectLst/>
                <a:uFillTx/>
                <a:latin typeface="Aptos"/>
              </a:rPr>
              <a:t>Spring Boot</a:t>
            </a:r>
            <a:endParaRPr lang="en-US" sz="1300" b="0" u="none" strike="noStrike">
              <a:solidFill>
                <a:srgbClr val="FFFFFF"/>
              </a:solidFill>
              <a:effectLst/>
              <a:uFillTx/>
              <a:latin typeface="Arial"/>
            </a:endParaRPr>
          </a:p>
        </p:txBody>
      </p:sp>
      <p:sp>
        <p:nvSpPr>
          <p:cNvPr id="187" name="Rounded Rectangle 10"/>
          <p:cNvSpPr/>
          <p:nvPr/>
        </p:nvSpPr>
        <p:spPr>
          <a:xfrm>
            <a:off x="2743200" y="3035880"/>
            <a:ext cx="1416960" cy="694440"/>
          </a:xfrm>
          <a:prstGeom prst="roundRect">
            <a:avLst>
              <a:gd name="adj" fmla="val 16667"/>
            </a:avLst>
          </a:prstGeom>
          <a:solidFill>
            <a:srgbClr val="1A2641"/>
          </a:solidFill>
          <a:ln w="17780">
            <a:solidFill>
              <a:srgbClr val="48E0B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300" b="1" u="none" strike="noStrike">
                <a:solidFill>
                  <a:srgbClr val="F4F7FF"/>
                </a:solidFill>
                <a:effectLst/>
                <a:uFillTx/>
                <a:latin typeface="Aptos"/>
              </a:rPr>
              <a:t>Kong OSS</a:t>
            </a:r>
            <a:br>
              <a:rPr sz="1300"/>
            </a:br>
            <a:r>
              <a:rPr lang="en-US" sz="1300" b="1" u="none" strike="noStrike">
                <a:solidFill>
                  <a:srgbClr val="F4F7FF"/>
                </a:solidFill>
                <a:effectLst/>
                <a:uFillTx/>
                <a:latin typeface="Aptos"/>
              </a:rPr>
              <a:t>DB-less routes</a:t>
            </a:r>
            <a:endParaRPr lang="en-US" sz="1300" b="0" u="none" strike="noStrike">
              <a:solidFill>
                <a:srgbClr val="FFFFFF"/>
              </a:solidFill>
              <a:effectLst/>
              <a:uFillTx/>
              <a:latin typeface="Arial"/>
            </a:endParaRPr>
          </a:p>
        </p:txBody>
      </p:sp>
      <p:sp>
        <p:nvSpPr>
          <p:cNvPr id="188" name="Rounded Rectangle 11"/>
          <p:cNvSpPr/>
          <p:nvPr/>
        </p:nvSpPr>
        <p:spPr>
          <a:xfrm>
            <a:off x="4526280" y="3035880"/>
            <a:ext cx="1005480" cy="694440"/>
          </a:xfrm>
          <a:prstGeom prst="roundRect">
            <a:avLst>
              <a:gd name="adj" fmla="val 16667"/>
            </a:avLst>
          </a:prstGeom>
          <a:solidFill>
            <a:srgbClr val="1A2641"/>
          </a:solidFill>
          <a:ln w="17780">
            <a:solidFill>
              <a:srgbClr val="48E0B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300" b="1" u="none" strike="noStrike">
                <a:solidFill>
                  <a:srgbClr val="F4F7FF"/>
                </a:solidFill>
                <a:effectLst/>
                <a:uFillTx/>
                <a:latin typeface="Aptos"/>
              </a:rPr>
              <a:t>Ollama</a:t>
            </a:r>
            <a:endParaRPr lang="en-US" sz="1300" b="0" u="none" strike="noStrike">
              <a:solidFill>
                <a:srgbClr val="FFFFFF"/>
              </a:solidFill>
              <a:effectLst/>
              <a:uFillTx/>
              <a:latin typeface="Arial"/>
            </a:endParaRPr>
          </a:p>
        </p:txBody>
      </p:sp>
      <p:cxnSp>
        <p:nvCxnSpPr>
          <p:cNvPr id="189" name="Connector 12"/>
          <p:cNvCxnSpPr/>
          <p:nvPr/>
        </p:nvCxnSpPr>
        <p:spPr>
          <a:xfrm>
            <a:off x="2413800" y="3383280"/>
            <a:ext cx="274680" cy="360"/>
          </a:xfrm>
          <a:prstGeom prst="straightConnector1">
            <a:avLst/>
          </a:prstGeom>
          <a:ln>
            <a:solidFill>
              <a:srgbClr val="48E0B8"/>
            </a:solidFill>
            <a:round/>
          </a:ln>
        </p:spPr>
      </p:cxnSp>
      <p:cxnSp>
        <p:nvCxnSpPr>
          <p:cNvPr id="190" name="Connector 13"/>
          <p:cNvCxnSpPr/>
          <p:nvPr/>
        </p:nvCxnSpPr>
        <p:spPr>
          <a:xfrm>
            <a:off x="4196880" y="3383280"/>
            <a:ext cx="274680" cy="360"/>
          </a:xfrm>
          <a:prstGeom prst="straightConnector1">
            <a:avLst/>
          </a:prstGeom>
          <a:ln>
            <a:solidFill>
              <a:srgbClr val="48E0B8"/>
            </a:solidFill>
            <a:round/>
          </a:ln>
        </p:spPr>
      </p:cxnSp>
      <p:sp>
        <p:nvSpPr>
          <p:cNvPr id="191" name="TextBox 14"/>
          <p:cNvSpPr/>
          <p:nvPr/>
        </p:nvSpPr>
        <p:spPr>
          <a:xfrm>
            <a:off x="932760" y="4160520"/>
            <a:ext cx="4617360" cy="5940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300" b="0" u="none" strike="noStrike">
                <a:solidFill>
                  <a:srgbClr val="AEBBD3"/>
                </a:solidFill>
                <a:effectLst/>
                <a:uFillTx/>
                <a:latin typeface="Aptos"/>
              </a:rPr>
              <a:t>Chat + embedding HTTP requests are proxied to local models.</a:t>
            </a:r>
            <a:endParaRPr lang="en-US" sz="1300" b="0" u="none" strike="noStrike">
              <a:solidFill>
                <a:srgbClr val="FFFFFF"/>
              </a:solidFill>
              <a:effectLst/>
              <a:uFillTx/>
              <a:latin typeface="Arial"/>
            </a:endParaRPr>
          </a:p>
        </p:txBody>
      </p:sp>
      <p:sp>
        <p:nvSpPr>
          <p:cNvPr id="192" name="TextBox 15"/>
          <p:cNvSpPr/>
          <p:nvPr/>
        </p:nvSpPr>
        <p:spPr>
          <a:xfrm>
            <a:off x="932760" y="4983480"/>
            <a:ext cx="4388760" cy="2556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1" u="none" strike="noStrike">
                <a:solidFill>
                  <a:srgbClr val="48E0B8"/>
                </a:solidFill>
                <a:effectLst/>
                <a:uFillTx/>
                <a:latin typeface="Aptos"/>
              </a:rPr>
              <a:t>Configured in kong/local.yaml</a:t>
            </a:r>
            <a:endParaRPr lang="en-US" sz="1000" b="0" u="none" strike="noStrike">
              <a:solidFill>
                <a:srgbClr val="FFFFFF"/>
              </a:solidFill>
              <a:effectLst/>
              <a:uFillTx/>
              <a:latin typeface="Arial"/>
            </a:endParaRPr>
          </a:p>
        </p:txBody>
      </p:sp>
      <p:sp>
        <p:nvSpPr>
          <p:cNvPr id="193" name="Rounded Rectangle 16"/>
          <p:cNvSpPr/>
          <p:nvPr/>
        </p:nvSpPr>
        <p:spPr>
          <a:xfrm>
            <a:off x="6236280" y="1993320"/>
            <a:ext cx="5321520" cy="361152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4" name="Rounded Rectangle 17"/>
          <p:cNvSpPr/>
          <p:nvPr/>
        </p:nvSpPr>
        <p:spPr>
          <a:xfrm>
            <a:off x="6537960" y="2286000"/>
            <a:ext cx="1965600" cy="292320"/>
          </a:xfrm>
          <a:prstGeom prst="roundRect">
            <a:avLst>
              <a:gd name="adj" fmla="val 16667"/>
            </a:avLst>
          </a:prstGeom>
          <a:solidFill>
            <a:srgbClr val="A07D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195" name="TextBox 18"/>
          <p:cNvSpPr/>
          <p:nvPr/>
        </p:nvSpPr>
        <p:spPr>
          <a:xfrm>
            <a:off x="6574680" y="2304360"/>
            <a:ext cx="189252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KONNECT • AI GATEWAY</a:t>
            </a:r>
            <a:endParaRPr lang="en-US" sz="900" b="0" u="none" strike="noStrike">
              <a:solidFill>
                <a:srgbClr val="FFFFFF"/>
              </a:solidFill>
              <a:effectLst/>
              <a:uFillTx/>
              <a:latin typeface="Arial"/>
            </a:endParaRPr>
          </a:p>
        </p:txBody>
      </p:sp>
      <p:sp>
        <p:nvSpPr>
          <p:cNvPr id="196" name="Rounded Rectangle 19"/>
          <p:cNvSpPr/>
          <p:nvPr/>
        </p:nvSpPr>
        <p:spPr>
          <a:xfrm>
            <a:off x="6537960" y="3035880"/>
            <a:ext cx="1234080" cy="694440"/>
          </a:xfrm>
          <a:prstGeom prst="roundRect">
            <a:avLst>
              <a:gd name="adj" fmla="val 16667"/>
            </a:avLst>
          </a:prstGeom>
          <a:solidFill>
            <a:srgbClr val="1A2641"/>
          </a:solidFill>
          <a:ln w="17780">
            <a:solidFill>
              <a:srgbClr val="42D3E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300" b="1" u="none" strike="noStrike">
                <a:solidFill>
                  <a:srgbClr val="F4F7FF"/>
                </a:solidFill>
                <a:effectLst/>
                <a:uFillTx/>
                <a:latin typeface="Aptos"/>
              </a:rPr>
              <a:t>Spring Boot</a:t>
            </a:r>
            <a:endParaRPr lang="en-US" sz="1300" b="0" u="none" strike="noStrike">
              <a:solidFill>
                <a:srgbClr val="FFFFFF"/>
              </a:solidFill>
              <a:effectLst/>
              <a:uFillTx/>
              <a:latin typeface="Arial"/>
            </a:endParaRPr>
          </a:p>
        </p:txBody>
      </p:sp>
      <p:sp>
        <p:nvSpPr>
          <p:cNvPr id="197" name="Rounded Rectangle 20"/>
          <p:cNvSpPr/>
          <p:nvPr/>
        </p:nvSpPr>
        <p:spPr>
          <a:xfrm>
            <a:off x="8138160" y="3035880"/>
            <a:ext cx="1279800" cy="694440"/>
          </a:xfrm>
          <a:prstGeom prst="roundRect">
            <a:avLst>
              <a:gd name="adj" fmla="val 16667"/>
            </a:avLst>
          </a:prstGeom>
          <a:solidFill>
            <a:srgbClr val="1A2641"/>
          </a:solidFill>
          <a:ln w="17780">
            <a:solidFill>
              <a:srgbClr val="A07D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300" b="1" u="none" strike="noStrike">
                <a:solidFill>
                  <a:srgbClr val="F4F7FF"/>
                </a:solidFill>
                <a:effectLst/>
                <a:uFillTx/>
                <a:latin typeface="Aptos"/>
              </a:rPr>
              <a:t>Kong Gateway</a:t>
            </a:r>
            <a:endParaRPr lang="en-US" sz="1300" b="0" u="none" strike="noStrike">
              <a:solidFill>
                <a:srgbClr val="FFFFFF"/>
              </a:solidFill>
              <a:effectLst/>
              <a:uFillTx/>
              <a:latin typeface="Arial"/>
            </a:endParaRPr>
          </a:p>
        </p:txBody>
      </p:sp>
      <p:sp>
        <p:nvSpPr>
          <p:cNvPr id="198" name="Rounded Rectangle 21"/>
          <p:cNvSpPr/>
          <p:nvPr/>
        </p:nvSpPr>
        <p:spPr>
          <a:xfrm>
            <a:off x="9738360" y="2853000"/>
            <a:ext cx="1279800" cy="639720"/>
          </a:xfrm>
          <a:prstGeom prst="roundRect">
            <a:avLst>
              <a:gd name="adj" fmla="val 16667"/>
            </a:avLst>
          </a:prstGeom>
          <a:solidFill>
            <a:srgbClr val="1A2641"/>
          </a:solidFill>
          <a:ln w="17780">
            <a:solidFill>
              <a:srgbClr val="A07D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100" b="1" u="none" strike="noStrike">
                <a:solidFill>
                  <a:srgbClr val="F4F7FF"/>
                </a:solidFill>
                <a:effectLst/>
                <a:uFillTx/>
                <a:latin typeface="Aptos"/>
              </a:rPr>
              <a:t>AI Proxy</a:t>
            </a:r>
            <a:br>
              <a:rPr sz="1100"/>
            </a:br>
            <a:r>
              <a:rPr lang="en-US" sz="1100" b="1" u="none" strike="noStrike">
                <a:solidFill>
                  <a:srgbClr val="F4F7FF"/>
                </a:solidFill>
                <a:effectLst/>
                <a:uFillTx/>
                <a:latin typeface="Aptos"/>
              </a:rPr>
              <a:t>Advanced</a:t>
            </a:r>
            <a:endParaRPr lang="en-US" sz="1100" b="0" u="none" strike="noStrike">
              <a:solidFill>
                <a:srgbClr val="FFFFFF"/>
              </a:solidFill>
              <a:effectLst/>
              <a:uFillTx/>
              <a:latin typeface="Arial"/>
            </a:endParaRPr>
          </a:p>
        </p:txBody>
      </p:sp>
      <p:sp>
        <p:nvSpPr>
          <p:cNvPr id="199" name="Rounded Rectangle 22"/>
          <p:cNvSpPr/>
          <p:nvPr/>
        </p:nvSpPr>
        <p:spPr>
          <a:xfrm>
            <a:off x="9738360" y="3593520"/>
            <a:ext cx="1279800" cy="639720"/>
          </a:xfrm>
          <a:prstGeom prst="roundRect">
            <a:avLst>
              <a:gd name="adj" fmla="val 16667"/>
            </a:avLst>
          </a:prstGeom>
          <a:solidFill>
            <a:srgbClr val="1A2641"/>
          </a:solidFill>
          <a:ln w="17780">
            <a:solidFill>
              <a:srgbClr val="A07D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100" b="1" u="none" strike="noStrike">
                <a:solidFill>
                  <a:srgbClr val="F4F7FF"/>
                </a:solidFill>
                <a:effectLst/>
                <a:uFillTx/>
                <a:latin typeface="Aptos"/>
              </a:rPr>
              <a:t>AI RAG</a:t>
            </a:r>
            <a:br>
              <a:rPr sz="1100"/>
            </a:br>
            <a:r>
              <a:rPr lang="en-US" sz="1100" b="1" u="none" strike="noStrike">
                <a:solidFill>
                  <a:srgbClr val="F4F7FF"/>
                </a:solidFill>
                <a:effectLst/>
                <a:uFillTx/>
                <a:latin typeface="Aptos"/>
              </a:rPr>
              <a:t>Injector</a:t>
            </a:r>
            <a:endParaRPr lang="en-US" sz="1100" b="0" u="none" strike="noStrike">
              <a:solidFill>
                <a:srgbClr val="FFFFFF"/>
              </a:solidFill>
              <a:effectLst/>
              <a:uFillTx/>
              <a:latin typeface="Arial"/>
            </a:endParaRPr>
          </a:p>
        </p:txBody>
      </p:sp>
      <p:cxnSp>
        <p:nvCxnSpPr>
          <p:cNvPr id="200" name="Connector 23"/>
          <p:cNvCxnSpPr/>
          <p:nvPr/>
        </p:nvCxnSpPr>
        <p:spPr>
          <a:xfrm>
            <a:off x="7808760" y="3383280"/>
            <a:ext cx="274680" cy="360"/>
          </a:xfrm>
          <a:prstGeom prst="straightConnector1">
            <a:avLst/>
          </a:prstGeom>
          <a:ln>
            <a:solidFill>
              <a:srgbClr val="A07DFF"/>
            </a:solidFill>
            <a:round/>
          </a:ln>
        </p:spPr>
      </p:cxnSp>
      <p:cxnSp>
        <p:nvCxnSpPr>
          <p:cNvPr id="201" name="Connector 24"/>
          <p:cNvCxnSpPr/>
          <p:nvPr/>
        </p:nvCxnSpPr>
        <p:spPr>
          <a:xfrm flipV="1">
            <a:off x="9454680" y="3163680"/>
            <a:ext cx="228960" cy="82800"/>
          </a:xfrm>
          <a:prstGeom prst="straightConnector1">
            <a:avLst/>
          </a:prstGeom>
          <a:ln>
            <a:solidFill>
              <a:srgbClr val="A07DFF"/>
            </a:solidFill>
            <a:round/>
          </a:ln>
        </p:spPr>
      </p:cxnSp>
      <p:cxnSp>
        <p:nvCxnSpPr>
          <p:cNvPr id="202" name="Connector 25"/>
          <p:cNvCxnSpPr/>
          <p:nvPr/>
        </p:nvCxnSpPr>
        <p:spPr>
          <a:xfrm>
            <a:off x="9454680" y="3520440"/>
            <a:ext cx="228960" cy="356760"/>
          </a:xfrm>
          <a:prstGeom prst="straightConnector1">
            <a:avLst/>
          </a:prstGeom>
          <a:ln>
            <a:solidFill>
              <a:srgbClr val="A07DFF"/>
            </a:solidFill>
            <a:round/>
          </a:ln>
        </p:spPr>
      </p:cxnSp>
      <p:sp>
        <p:nvSpPr>
          <p:cNvPr id="203" name="TextBox 26"/>
          <p:cNvSpPr/>
          <p:nvPr/>
        </p:nvSpPr>
        <p:spPr>
          <a:xfrm>
            <a:off x="6537960" y="4526280"/>
            <a:ext cx="4525920" cy="6580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AEBBD3"/>
                </a:solidFill>
                <a:effectLst/>
                <a:uFillTx/>
                <a:latin typeface="Aptos"/>
              </a:rPr>
              <a:t>Centralizes provider connectivity, credentials, routing and AI policies as the platform evolves.</a:t>
            </a:r>
            <a:endParaRPr lang="en-US" sz="1200" b="0" u="none" strike="noStrike">
              <a:solidFill>
                <a:srgbClr val="FFFFFF"/>
              </a:solidFill>
              <a:effectLst/>
              <a:uFillTx/>
              <a:latin typeface="Arial"/>
            </a:endParaRPr>
          </a:p>
        </p:txBody>
      </p:sp>
      <p:sp>
        <p:nvSpPr>
          <p:cNvPr id="204" name="Rounded Rectangle 27"/>
          <p:cNvSpPr/>
          <p:nvPr/>
        </p:nvSpPr>
        <p:spPr>
          <a:xfrm>
            <a:off x="1188720" y="5833800"/>
            <a:ext cx="9829440" cy="438480"/>
          </a:xfrm>
          <a:prstGeom prst="roundRect">
            <a:avLst>
              <a:gd name="adj" fmla="val 16667"/>
            </a:avLst>
          </a:prstGeom>
          <a:solidFill>
            <a:srgbClr val="231E2C"/>
          </a:solidFill>
          <a:ln w="12700">
            <a:solidFill>
              <a:srgbClr val="50466E"/>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05" name="TextBox 28"/>
          <p:cNvSpPr/>
          <p:nvPr/>
        </p:nvSpPr>
        <p:spPr>
          <a:xfrm>
            <a:off x="1371600" y="5925240"/>
            <a:ext cx="9463680" cy="200880"/>
          </a:xfrm>
          <a:prstGeom prst="rect">
            <a:avLst/>
          </a:prstGeom>
          <a:noFill/>
          <a:ln w="0">
            <a:noFill/>
          </a:ln>
        </p:spPr>
        <p:style>
          <a:lnRef idx="0"/>
          <a:fillRef idx="0"/>
          <a:effectRef idx="0"/>
          <a:fontRef idx="minor"/>
        </p:style>
        <p:txBody>
          <a:bodyPr lIns="36720" tIns="36720" rIns="36720" bIns="36720" anchor="t">
            <a:spAutoFit/>
          </a:bodyPr>
          <a:p>
            <a:pPr algn="ctr" defTabSz="457200">
              <a:lnSpc>
                <a:spcPct val="100000"/>
              </a:lnSpc>
              <a:spcAft>
                <a:spcPts val="400"/>
              </a:spcAft>
            </a:pPr>
            <a:r>
              <a:rPr lang="en-US" sz="1100" b="1" u="none" strike="noStrike">
                <a:solidFill>
                  <a:srgbClr val="FFB55B"/>
                </a:solidFill>
                <a:effectLst/>
                <a:uFillTx/>
                <a:latin typeface="Aptos"/>
              </a:rPr>
              <a:t>Local mode uses ordinary OSS routes — the proprietary Konnect AI plugins are not enabled there.</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020"/>
        </a:solidFill>
      </p:bgPr>
    </p:bg>
    <p:spTree>
      <p:nvGrpSpPr>
        <p:cNvPr id="1" name=""/>
        <p:cNvGrpSpPr/>
        <p:nvPr/>
      </p:nvGrpSpPr>
      <p:grpSpPr>
        <a:xfrm>
          <a:off x="0" y="0"/>
          <a:ext cx="0" cy="0"/>
          <a:chOff x="0" y="0"/>
          <a:chExt cx="0" cy="0"/>
        </a:xfrm>
      </p:grpSpPr>
      <p:sp>
        <p:nvSpPr>
          <p:cNvPr id="206" name="TextBox 1"/>
          <p:cNvSpPr/>
          <p:nvPr/>
        </p:nvSpPr>
        <p:spPr>
          <a:xfrm>
            <a:off x="567000" y="320040"/>
            <a:ext cx="4937400" cy="2556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1" u="none" strike="noStrike">
                <a:solidFill>
                  <a:srgbClr val="42D3E6"/>
                </a:solidFill>
                <a:effectLst/>
                <a:uFillTx/>
                <a:latin typeface="Aptos"/>
              </a:rPr>
              <a:t>05 • MANAGED CONFIGURATION</a:t>
            </a:r>
            <a:endParaRPr lang="en-US" sz="1000" b="0" u="none" strike="noStrike">
              <a:solidFill>
                <a:srgbClr val="FFFFFF"/>
              </a:solidFill>
              <a:effectLst/>
              <a:uFillTx/>
              <a:latin typeface="Arial"/>
            </a:endParaRPr>
          </a:p>
        </p:txBody>
      </p:sp>
      <p:sp>
        <p:nvSpPr>
          <p:cNvPr id="207" name="TextBox 2"/>
          <p:cNvSpPr/>
          <p:nvPr/>
        </p:nvSpPr>
        <p:spPr>
          <a:xfrm>
            <a:off x="567000" y="658440"/>
            <a:ext cx="10972440" cy="5025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2700" b="1" u="none" strike="noStrike">
                <a:solidFill>
                  <a:srgbClr val="F4F7FF"/>
                </a:solidFill>
                <a:effectLst/>
                <a:uFillTx/>
                <a:latin typeface="Aptos"/>
              </a:rPr>
              <a:t>Kong Konnect: centrally managed gateway configuration</a:t>
            </a:r>
            <a:endParaRPr lang="en-US" sz="2700" b="0" u="none" strike="noStrike">
              <a:solidFill>
                <a:srgbClr val="FFFFFF"/>
              </a:solidFill>
              <a:effectLst/>
              <a:uFillTx/>
              <a:latin typeface="Arial"/>
            </a:endParaRPr>
          </a:p>
        </p:txBody>
      </p:sp>
      <p:sp>
        <p:nvSpPr>
          <p:cNvPr id="208" name="TextBox 3"/>
          <p:cNvSpPr/>
          <p:nvPr/>
        </p:nvSpPr>
        <p:spPr>
          <a:xfrm>
            <a:off x="585360" y="1197720"/>
            <a:ext cx="10972440" cy="3837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AEBBD3"/>
                </a:solidFill>
                <a:effectLst/>
                <a:uFillTx/>
                <a:latin typeface="Aptos"/>
              </a:rPr>
              <a:t>Control-plane management and data-plane request serving are separate responsibilities.</a:t>
            </a:r>
            <a:endParaRPr lang="en-US" sz="1200" b="0" u="none" strike="noStrike">
              <a:solidFill>
                <a:srgbClr val="FFFFFF"/>
              </a:solidFill>
              <a:effectLst/>
              <a:uFillTx/>
              <a:latin typeface="Arial"/>
            </a:endParaRPr>
          </a:p>
        </p:txBody>
      </p:sp>
      <p:sp>
        <p:nvSpPr>
          <p:cNvPr id="209" name="Rectangle 4"/>
          <p:cNvSpPr/>
          <p:nvPr/>
        </p:nvSpPr>
        <p:spPr>
          <a:xfrm>
            <a:off x="585360" y="1664280"/>
            <a:ext cx="776880" cy="40680"/>
          </a:xfrm>
          <a:prstGeom prst="rect">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sp>
        <p:nvSpPr>
          <p:cNvPr id="210" name="TextBox 5"/>
          <p:cNvSpPr/>
          <p:nvPr/>
        </p:nvSpPr>
        <p:spPr>
          <a:xfrm>
            <a:off x="585360" y="6510600"/>
            <a:ext cx="6400440" cy="1641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800" b="1" u="none" strike="noStrike">
                <a:solidFill>
                  <a:srgbClr val="AEBBD3"/>
                </a:solidFill>
                <a:effectLst/>
                <a:uFillTx/>
                <a:latin typeface="Aptos"/>
              </a:rPr>
              <a:t>KONG CHATBOT ARCHITECTURE   •   05 / 10</a:t>
            </a:r>
            <a:endParaRPr lang="en-US" sz="800" b="0" u="none" strike="noStrike">
              <a:solidFill>
                <a:srgbClr val="FFFFFF"/>
              </a:solidFill>
              <a:effectLst/>
              <a:uFillTx/>
              <a:latin typeface="Arial"/>
            </a:endParaRPr>
          </a:p>
        </p:txBody>
      </p:sp>
      <p:sp>
        <p:nvSpPr>
          <p:cNvPr id="211" name="Rounded Rectangle 6"/>
          <p:cNvSpPr/>
          <p:nvPr/>
        </p:nvSpPr>
        <p:spPr>
          <a:xfrm>
            <a:off x="640080" y="2011680"/>
            <a:ext cx="2742840" cy="3382920"/>
          </a:xfrm>
          <a:prstGeom prst="roundRect">
            <a:avLst>
              <a:gd name="adj" fmla="val 16667"/>
            </a:avLst>
          </a:prstGeom>
          <a:solidFill>
            <a:srgbClr val="181C36"/>
          </a:solidFill>
          <a:ln w="12700">
            <a:solidFill>
              <a:srgbClr val="A07D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2" name="Rounded Rectangle 7"/>
          <p:cNvSpPr/>
          <p:nvPr/>
        </p:nvSpPr>
        <p:spPr>
          <a:xfrm>
            <a:off x="914400" y="2304360"/>
            <a:ext cx="1416960" cy="292320"/>
          </a:xfrm>
          <a:prstGeom prst="roundRect">
            <a:avLst>
              <a:gd name="adj" fmla="val 16667"/>
            </a:avLst>
          </a:prstGeom>
          <a:solidFill>
            <a:srgbClr val="A07D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3" name="TextBox 8"/>
          <p:cNvSpPr/>
          <p:nvPr/>
        </p:nvSpPr>
        <p:spPr>
          <a:xfrm>
            <a:off x="951120" y="2322720"/>
            <a:ext cx="134388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CONTROL PLANE</a:t>
            </a:r>
            <a:endParaRPr lang="en-US" sz="900" b="0" u="none" strike="noStrike">
              <a:solidFill>
                <a:srgbClr val="FFFFFF"/>
              </a:solidFill>
              <a:effectLst/>
              <a:uFillTx/>
              <a:latin typeface="Arial"/>
            </a:endParaRPr>
          </a:p>
        </p:txBody>
      </p:sp>
      <p:sp>
        <p:nvSpPr>
          <p:cNvPr id="214" name="Rounded Rectangle 9"/>
          <p:cNvSpPr/>
          <p:nvPr/>
        </p:nvSpPr>
        <p:spPr>
          <a:xfrm>
            <a:off x="1097280" y="2971800"/>
            <a:ext cx="1737000" cy="621360"/>
          </a:xfrm>
          <a:prstGeom prst="roundRect">
            <a:avLst>
              <a:gd name="adj" fmla="val 16667"/>
            </a:avLst>
          </a:prstGeom>
          <a:solidFill>
            <a:srgbClr val="1A2641"/>
          </a:solidFill>
          <a:ln w="17780">
            <a:solidFill>
              <a:srgbClr val="A07D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700" b="1" u="none" strike="noStrike">
                <a:solidFill>
                  <a:srgbClr val="F4F7FF"/>
                </a:solidFill>
                <a:effectLst/>
                <a:uFillTx/>
                <a:latin typeface="Aptos"/>
              </a:rPr>
              <a:t>Konnect</a:t>
            </a:r>
            <a:endParaRPr lang="en-US" sz="1700" b="0" u="none" strike="noStrike">
              <a:solidFill>
                <a:srgbClr val="FFFFFF"/>
              </a:solidFill>
              <a:effectLst/>
              <a:uFillTx/>
              <a:latin typeface="Arial"/>
            </a:endParaRPr>
          </a:p>
        </p:txBody>
      </p:sp>
      <p:sp>
        <p:nvSpPr>
          <p:cNvPr id="215" name="TextBox 10"/>
          <p:cNvSpPr/>
          <p:nvPr/>
        </p:nvSpPr>
        <p:spPr>
          <a:xfrm>
            <a:off x="914400" y="3886200"/>
            <a:ext cx="2148480" cy="639720"/>
          </a:xfrm>
          <a:prstGeom prst="rect">
            <a:avLst/>
          </a:prstGeom>
          <a:noFill/>
          <a:ln w="0">
            <a:noFill/>
          </a:ln>
        </p:spPr>
        <p:style>
          <a:lnRef idx="0"/>
          <a:fillRef idx="0"/>
          <a:effectRef idx="0"/>
          <a:fontRef idx="minor"/>
        </p:style>
        <p:txBody>
          <a:bodyPr lIns="36720" tIns="36720" rIns="36720" bIns="36720" anchor="t">
            <a:spAutoFit/>
          </a:bodyPr>
          <a:p>
            <a:pPr algn="ctr" defTabSz="457200">
              <a:lnSpc>
                <a:spcPct val="100000"/>
              </a:lnSpc>
              <a:spcAft>
                <a:spcPts val="400"/>
              </a:spcAft>
            </a:pPr>
            <a:r>
              <a:rPr lang="en-US" sz="1300" b="0" u="none" strike="noStrike">
                <a:solidFill>
                  <a:srgbClr val="AEBBD3"/>
                </a:solidFill>
                <a:effectLst/>
                <a:uFillTx/>
                <a:latin typeface="Aptos"/>
              </a:rPr>
              <a:t>Manages gateway configuration and plugin policy</a:t>
            </a:r>
            <a:endParaRPr lang="en-US" sz="1300" b="0" u="none" strike="noStrike">
              <a:solidFill>
                <a:srgbClr val="FFFFFF"/>
              </a:solidFill>
              <a:effectLst/>
              <a:uFillTx/>
              <a:latin typeface="Arial"/>
            </a:endParaRPr>
          </a:p>
        </p:txBody>
      </p:sp>
      <p:cxnSp>
        <p:nvCxnSpPr>
          <p:cNvPr id="216" name="Connector 11"/>
          <p:cNvCxnSpPr/>
          <p:nvPr/>
        </p:nvCxnSpPr>
        <p:spPr>
          <a:xfrm>
            <a:off x="3438000" y="3273480"/>
            <a:ext cx="722880" cy="360"/>
          </a:xfrm>
          <a:prstGeom prst="straightConnector1">
            <a:avLst/>
          </a:prstGeom>
          <a:ln>
            <a:solidFill>
              <a:srgbClr val="A07DFF"/>
            </a:solidFill>
            <a:round/>
          </a:ln>
        </p:spPr>
      </p:cxnSp>
      <p:sp>
        <p:nvSpPr>
          <p:cNvPr id="217" name="Rounded Rectangle 12"/>
          <p:cNvSpPr/>
          <p:nvPr/>
        </p:nvSpPr>
        <p:spPr>
          <a:xfrm>
            <a:off x="4251960" y="2011680"/>
            <a:ext cx="3702960" cy="338292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8" name="Rounded Rectangle 13"/>
          <p:cNvSpPr/>
          <p:nvPr/>
        </p:nvSpPr>
        <p:spPr>
          <a:xfrm>
            <a:off x="4526280" y="2304360"/>
            <a:ext cx="1234080" cy="292320"/>
          </a:xfrm>
          <a:prstGeom prst="roundRect">
            <a:avLst>
              <a:gd name="adj" fmla="val 16667"/>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19" name="TextBox 14"/>
          <p:cNvSpPr/>
          <p:nvPr/>
        </p:nvSpPr>
        <p:spPr>
          <a:xfrm>
            <a:off x="4563000" y="2322720"/>
            <a:ext cx="116100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DATA PLANE</a:t>
            </a:r>
            <a:endParaRPr lang="en-US" sz="900" b="0" u="none" strike="noStrike">
              <a:solidFill>
                <a:srgbClr val="FFFFFF"/>
              </a:solidFill>
              <a:effectLst/>
              <a:uFillTx/>
              <a:latin typeface="Arial"/>
            </a:endParaRPr>
          </a:p>
        </p:txBody>
      </p:sp>
      <p:sp>
        <p:nvSpPr>
          <p:cNvPr id="220" name="Rounded Rectangle 15"/>
          <p:cNvSpPr/>
          <p:nvPr/>
        </p:nvSpPr>
        <p:spPr>
          <a:xfrm>
            <a:off x="4709160" y="2944440"/>
            <a:ext cx="2697120" cy="594000"/>
          </a:xfrm>
          <a:prstGeom prst="roundRect">
            <a:avLst>
              <a:gd name="adj" fmla="val 16667"/>
            </a:avLst>
          </a:prstGeom>
          <a:solidFill>
            <a:srgbClr val="1A2641"/>
          </a:solidFill>
          <a:ln w="17780">
            <a:solidFill>
              <a:srgbClr val="42D3E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600" b="1" u="none" strike="noStrike">
                <a:solidFill>
                  <a:srgbClr val="F4F7FF"/>
                </a:solidFill>
                <a:effectLst/>
                <a:uFillTx/>
                <a:latin typeface="Aptos"/>
              </a:rPr>
              <a:t>Kong Gateway</a:t>
            </a:r>
            <a:endParaRPr lang="en-US" sz="1600" b="0" u="none" strike="noStrike">
              <a:solidFill>
                <a:srgbClr val="FFFFFF"/>
              </a:solidFill>
              <a:effectLst/>
              <a:uFillTx/>
              <a:latin typeface="Arial"/>
            </a:endParaRPr>
          </a:p>
        </p:txBody>
      </p:sp>
      <p:sp>
        <p:nvSpPr>
          <p:cNvPr id="221" name="Rounded Rectangle 16"/>
          <p:cNvSpPr/>
          <p:nvPr/>
        </p:nvSpPr>
        <p:spPr>
          <a:xfrm>
            <a:off x="4553640" y="3886200"/>
            <a:ext cx="1416960" cy="621360"/>
          </a:xfrm>
          <a:prstGeom prst="roundRect">
            <a:avLst>
              <a:gd name="adj" fmla="val 16667"/>
            </a:avLst>
          </a:prstGeom>
          <a:solidFill>
            <a:srgbClr val="1A2641"/>
          </a:solidFill>
          <a:ln w="17780">
            <a:solidFill>
              <a:srgbClr val="A07D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200" b="1" u="none" strike="noStrike">
                <a:solidFill>
                  <a:srgbClr val="F4F7FF"/>
                </a:solidFill>
                <a:effectLst/>
                <a:uFillTx/>
                <a:latin typeface="Aptos"/>
              </a:rPr>
              <a:t>AI RAG Injector</a:t>
            </a:r>
            <a:endParaRPr lang="en-US" sz="1200" b="0" u="none" strike="noStrike">
              <a:solidFill>
                <a:srgbClr val="FFFFFF"/>
              </a:solidFill>
              <a:effectLst/>
              <a:uFillTx/>
              <a:latin typeface="Arial"/>
            </a:endParaRPr>
          </a:p>
        </p:txBody>
      </p:sp>
      <p:sp>
        <p:nvSpPr>
          <p:cNvPr id="222" name="Rounded Rectangle 17"/>
          <p:cNvSpPr/>
          <p:nvPr/>
        </p:nvSpPr>
        <p:spPr>
          <a:xfrm>
            <a:off x="6199560" y="3886200"/>
            <a:ext cx="1416960" cy="621360"/>
          </a:xfrm>
          <a:prstGeom prst="roundRect">
            <a:avLst>
              <a:gd name="adj" fmla="val 16667"/>
            </a:avLst>
          </a:prstGeom>
          <a:solidFill>
            <a:srgbClr val="1A2641"/>
          </a:solidFill>
          <a:ln w="17780">
            <a:solidFill>
              <a:srgbClr val="A07D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200" b="1" u="none" strike="noStrike">
                <a:solidFill>
                  <a:srgbClr val="F4F7FF"/>
                </a:solidFill>
                <a:effectLst/>
                <a:uFillTx/>
                <a:latin typeface="Aptos"/>
              </a:rPr>
              <a:t>AI Proxy</a:t>
            </a:r>
            <a:br>
              <a:rPr sz="1200"/>
            </a:br>
            <a:r>
              <a:rPr lang="en-US" sz="1200" b="1" u="none" strike="noStrike">
                <a:solidFill>
                  <a:srgbClr val="F4F7FF"/>
                </a:solidFill>
                <a:effectLst/>
                <a:uFillTx/>
                <a:latin typeface="Aptos"/>
              </a:rPr>
              <a:t>Advanced</a:t>
            </a:r>
            <a:endParaRPr lang="en-US" sz="1200" b="0" u="none" strike="noStrike">
              <a:solidFill>
                <a:srgbClr val="FFFFFF"/>
              </a:solidFill>
              <a:effectLst/>
              <a:uFillTx/>
              <a:latin typeface="Arial"/>
            </a:endParaRPr>
          </a:p>
        </p:txBody>
      </p:sp>
      <p:cxnSp>
        <p:nvCxnSpPr>
          <p:cNvPr id="223" name="Connector 18"/>
          <p:cNvCxnSpPr/>
          <p:nvPr/>
        </p:nvCxnSpPr>
        <p:spPr>
          <a:xfrm flipH="1">
            <a:off x="5257800" y="3566160"/>
            <a:ext cx="777600" cy="265320"/>
          </a:xfrm>
          <a:prstGeom prst="straightConnector1">
            <a:avLst/>
          </a:prstGeom>
          <a:ln>
            <a:solidFill>
              <a:srgbClr val="A07DFF"/>
            </a:solidFill>
            <a:round/>
          </a:ln>
        </p:spPr>
      </p:cxnSp>
      <p:cxnSp>
        <p:nvCxnSpPr>
          <p:cNvPr id="224" name="Connector 19"/>
          <p:cNvCxnSpPr/>
          <p:nvPr/>
        </p:nvCxnSpPr>
        <p:spPr>
          <a:xfrm>
            <a:off x="6035040" y="3566160"/>
            <a:ext cx="869040" cy="265320"/>
          </a:xfrm>
          <a:prstGeom prst="straightConnector1">
            <a:avLst/>
          </a:prstGeom>
          <a:ln>
            <a:solidFill>
              <a:srgbClr val="A07DFF"/>
            </a:solidFill>
            <a:round/>
          </a:ln>
        </p:spPr>
      </p:cxnSp>
      <p:sp>
        <p:nvSpPr>
          <p:cNvPr id="225" name="Rounded Rectangle 20"/>
          <p:cNvSpPr/>
          <p:nvPr/>
        </p:nvSpPr>
        <p:spPr>
          <a:xfrm>
            <a:off x="8229600" y="2011680"/>
            <a:ext cx="3337200" cy="3382920"/>
          </a:xfrm>
          <a:prstGeom prst="roundRect">
            <a:avLst>
              <a:gd name="adj" fmla="val 16667"/>
            </a:avLst>
          </a:prstGeom>
          <a:solidFill>
            <a:srgbClr val="10232B"/>
          </a:solidFill>
          <a:ln w="12700">
            <a:solidFill>
              <a:srgbClr val="48E0B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6" name="Rounded Rectangle 21"/>
          <p:cNvSpPr/>
          <p:nvPr/>
        </p:nvSpPr>
        <p:spPr>
          <a:xfrm>
            <a:off x="8503920" y="2304360"/>
            <a:ext cx="1874160" cy="292320"/>
          </a:xfrm>
          <a:prstGeom prst="roundRect">
            <a:avLst>
              <a:gd name="adj" fmla="val 16667"/>
            </a:avLst>
          </a:prstGeom>
          <a:solidFill>
            <a:srgbClr val="48E0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27" name="TextBox 22"/>
          <p:cNvSpPr/>
          <p:nvPr/>
        </p:nvSpPr>
        <p:spPr>
          <a:xfrm>
            <a:off x="8540640" y="2322720"/>
            <a:ext cx="180108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SUPPORTING SERVICES</a:t>
            </a:r>
            <a:endParaRPr lang="en-US" sz="900" b="0" u="none" strike="noStrike">
              <a:solidFill>
                <a:srgbClr val="FFFFFF"/>
              </a:solidFill>
              <a:effectLst/>
              <a:uFillTx/>
              <a:latin typeface="Arial"/>
            </a:endParaRPr>
          </a:p>
        </p:txBody>
      </p:sp>
      <p:sp>
        <p:nvSpPr>
          <p:cNvPr id="228" name="Rounded Rectangle 23"/>
          <p:cNvSpPr/>
          <p:nvPr/>
        </p:nvSpPr>
        <p:spPr>
          <a:xfrm>
            <a:off x="9386280" y="2944440"/>
            <a:ext cx="1234080" cy="731160"/>
          </a:xfrm>
          <a:prstGeom prst="roundRect">
            <a:avLst>
              <a:gd name="adj" fmla="val 16667"/>
            </a:avLst>
          </a:prstGeom>
          <a:solidFill>
            <a:srgbClr val="1A2641"/>
          </a:solidFill>
          <a:ln w="17780">
            <a:solidFill>
              <a:srgbClr val="48E0B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200" b="1" u="none" strike="noStrike">
                <a:solidFill>
                  <a:srgbClr val="F4F7FF"/>
                </a:solidFill>
                <a:effectLst/>
                <a:uFillTx/>
                <a:latin typeface="Aptos"/>
              </a:rPr>
              <a:t>Redis Stack</a:t>
            </a:r>
            <a:br>
              <a:rPr sz="1200"/>
            </a:br>
            <a:r>
              <a:rPr lang="en-US" sz="1200" b="1" u="none" strike="noStrike">
                <a:solidFill>
                  <a:srgbClr val="F4F7FF"/>
                </a:solidFill>
                <a:effectLst/>
                <a:uFillTx/>
                <a:latin typeface="Aptos"/>
              </a:rPr>
              <a:t>vector index</a:t>
            </a:r>
            <a:endParaRPr lang="en-US" sz="1200" b="0" u="none" strike="noStrike">
              <a:solidFill>
                <a:srgbClr val="FFFFFF"/>
              </a:solidFill>
              <a:effectLst/>
              <a:uFillTx/>
              <a:latin typeface="Arial"/>
            </a:endParaRPr>
          </a:p>
        </p:txBody>
      </p:sp>
      <p:sp>
        <p:nvSpPr>
          <p:cNvPr id="229" name="Rounded Rectangle 24"/>
          <p:cNvSpPr/>
          <p:nvPr/>
        </p:nvSpPr>
        <p:spPr>
          <a:xfrm>
            <a:off x="9386280" y="4023360"/>
            <a:ext cx="1234080" cy="731160"/>
          </a:xfrm>
          <a:prstGeom prst="roundRect">
            <a:avLst>
              <a:gd name="adj" fmla="val 16667"/>
            </a:avLst>
          </a:prstGeom>
          <a:solidFill>
            <a:srgbClr val="1A2641"/>
          </a:solidFill>
          <a:ln w="17780">
            <a:solidFill>
              <a:srgbClr val="48E0B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100" b="1" u="none" strike="noStrike">
                <a:solidFill>
                  <a:srgbClr val="F4F7FF"/>
                </a:solidFill>
                <a:effectLst/>
                <a:uFillTx/>
                <a:latin typeface="Aptos"/>
              </a:rPr>
              <a:t>OpenAI</a:t>
            </a:r>
            <a:br>
              <a:rPr sz="1100"/>
            </a:br>
            <a:r>
              <a:rPr lang="en-US" sz="1100" b="1" u="none" strike="noStrike">
                <a:solidFill>
                  <a:srgbClr val="F4F7FF"/>
                </a:solidFill>
                <a:effectLst/>
                <a:uFillTx/>
                <a:latin typeface="Aptos"/>
              </a:rPr>
              <a:t>embeddings + chat</a:t>
            </a:r>
            <a:endParaRPr lang="en-US" sz="1100" b="0" u="none" strike="noStrike">
              <a:solidFill>
                <a:srgbClr val="FFFFFF"/>
              </a:solidFill>
              <a:effectLst/>
              <a:uFillTx/>
              <a:latin typeface="Arial"/>
            </a:endParaRPr>
          </a:p>
        </p:txBody>
      </p:sp>
      <p:cxnSp>
        <p:nvCxnSpPr>
          <p:cNvPr id="230" name="Connector 25"/>
          <p:cNvCxnSpPr>
            <a:endCxn id="228" idx="1"/>
          </p:cNvCxnSpPr>
          <p:nvPr/>
        </p:nvCxnSpPr>
        <p:spPr>
          <a:xfrm flipV="1">
            <a:off x="7982640" y="3310200"/>
            <a:ext cx="1404000" cy="859680"/>
          </a:xfrm>
          <a:prstGeom prst="straightConnector1">
            <a:avLst/>
          </a:prstGeom>
          <a:ln>
            <a:solidFill>
              <a:srgbClr val="48E0B8"/>
            </a:solidFill>
            <a:round/>
          </a:ln>
        </p:spPr>
      </p:cxnSp>
      <p:cxnSp>
        <p:nvCxnSpPr>
          <p:cNvPr id="231" name="Connector 26"/>
          <p:cNvCxnSpPr>
            <a:endCxn id="229" idx="1"/>
          </p:cNvCxnSpPr>
          <p:nvPr/>
        </p:nvCxnSpPr>
        <p:spPr>
          <a:xfrm>
            <a:off x="7982640" y="4169520"/>
            <a:ext cx="1404000" cy="219960"/>
          </a:xfrm>
          <a:prstGeom prst="straightConnector1">
            <a:avLst/>
          </a:prstGeom>
          <a:ln>
            <a:solidFill>
              <a:srgbClr val="48E0B8"/>
            </a:solidFill>
            <a:round/>
          </a:ln>
        </p:spPr>
      </p:cxnSp>
      <p:sp>
        <p:nvSpPr>
          <p:cNvPr id="232" name="TextBox 27"/>
          <p:cNvSpPr/>
          <p:nvPr/>
        </p:nvSpPr>
        <p:spPr>
          <a:xfrm>
            <a:off x="822960" y="5596200"/>
            <a:ext cx="5166000" cy="43884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F4F7FF"/>
                </a:solidFill>
                <a:effectLst/>
                <a:uFillTx/>
                <a:latin typeface="Aptos"/>
              </a:rPr>
              <a:t>Bootstrap configures the data-plane certificate, service, routes and plugins.</a:t>
            </a:r>
            <a:endParaRPr lang="en-US" sz="1200" b="0" u="none" strike="noStrike">
              <a:solidFill>
                <a:srgbClr val="FFFFFF"/>
              </a:solidFill>
              <a:effectLst/>
              <a:uFillTx/>
              <a:latin typeface="Arial"/>
            </a:endParaRPr>
          </a:p>
        </p:txBody>
      </p:sp>
      <p:sp>
        <p:nvSpPr>
          <p:cNvPr id="233" name="TextBox 28"/>
          <p:cNvSpPr/>
          <p:nvPr/>
        </p:nvSpPr>
        <p:spPr>
          <a:xfrm>
            <a:off x="6217920" y="5596200"/>
            <a:ext cx="5166000" cy="56664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100" b="0" u="none" strike="noStrike">
                <a:solidFill>
                  <a:srgbClr val="FFB55B"/>
                </a:solidFill>
                <a:effectLst/>
                <a:uFillTx/>
                <a:latin typeface="Aptos"/>
              </a:rPr>
              <a:t>Requires compatible Konnect entitlement + OpenAI credentials. Ingestion has additional standalone Enterprise licensing requirements.</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020"/>
        </a:solidFill>
      </p:bgPr>
    </p:bg>
    <p:spTree>
      <p:nvGrpSpPr>
        <p:cNvPr id="1" name=""/>
        <p:cNvGrpSpPr/>
        <p:nvPr/>
      </p:nvGrpSpPr>
      <p:grpSpPr>
        <a:xfrm>
          <a:off x="0" y="0"/>
          <a:ext cx="0" cy="0"/>
          <a:chOff x="0" y="0"/>
          <a:chExt cx="0" cy="0"/>
        </a:xfrm>
      </p:grpSpPr>
      <p:sp>
        <p:nvSpPr>
          <p:cNvPr id="234" name="TextBox 1"/>
          <p:cNvSpPr/>
          <p:nvPr/>
        </p:nvSpPr>
        <p:spPr>
          <a:xfrm>
            <a:off x="567000" y="320040"/>
            <a:ext cx="4937400" cy="2556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1" u="none" strike="noStrike">
                <a:solidFill>
                  <a:srgbClr val="42D3E6"/>
                </a:solidFill>
                <a:effectLst/>
                <a:uFillTx/>
                <a:latin typeface="Aptos"/>
              </a:rPr>
              <a:t>06 • APPLICATION LAYER</a:t>
            </a:r>
            <a:endParaRPr lang="en-US" sz="1000" b="0" u="none" strike="noStrike">
              <a:solidFill>
                <a:srgbClr val="FFFFFF"/>
              </a:solidFill>
              <a:effectLst/>
              <a:uFillTx/>
              <a:latin typeface="Arial"/>
            </a:endParaRPr>
          </a:p>
        </p:txBody>
      </p:sp>
      <p:sp>
        <p:nvSpPr>
          <p:cNvPr id="235" name="TextBox 2"/>
          <p:cNvSpPr/>
          <p:nvPr/>
        </p:nvSpPr>
        <p:spPr>
          <a:xfrm>
            <a:off x="567000" y="658440"/>
            <a:ext cx="10972440" cy="5025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2700" b="1" u="none" strike="noStrike">
                <a:solidFill>
                  <a:srgbClr val="F4F7FF"/>
                </a:solidFill>
                <a:effectLst/>
                <a:uFillTx/>
                <a:latin typeface="Aptos"/>
              </a:rPr>
              <a:t>Spring Boot: API and application orchestration</a:t>
            </a:r>
            <a:endParaRPr lang="en-US" sz="2700" b="0" u="none" strike="noStrike">
              <a:solidFill>
                <a:srgbClr val="FFFFFF"/>
              </a:solidFill>
              <a:effectLst/>
              <a:uFillTx/>
              <a:latin typeface="Arial"/>
            </a:endParaRPr>
          </a:p>
        </p:txBody>
      </p:sp>
      <p:sp>
        <p:nvSpPr>
          <p:cNvPr id="236" name="TextBox 3"/>
          <p:cNvSpPr/>
          <p:nvPr/>
        </p:nvSpPr>
        <p:spPr>
          <a:xfrm>
            <a:off x="585360" y="1197720"/>
            <a:ext cx="10972440" cy="3837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AEBBD3"/>
                </a:solidFill>
                <a:effectLst/>
                <a:uFillTx/>
                <a:latin typeface="Aptos"/>
              </a:rPr>
              <a:t>A stable HTTP API coordinates chat behavior while retrieval stays mode-dependent.</a:t>
            </a:r>
            <a:endParaRPr lang="en-US" sz="1200" b="0" u="none" strike="noStrike">
              <a:solidFill>
                <a:srgbClr val="FFFFFF"/>
              </a:solidFill>
              <a:effectLst/>
              <a:uFillTx/>
              <a:latin typeface="Arial"/>
            </a:endParaRPr>
          </a:p>
        </p:txBody>
      </p:sp>
      <p:sp>
        <p:nvSpPr>
          <p:cNvPr id="237" name="Rectangle 4"/>
          <p:cNvSpPr/>
          <p:nvPr/>
        </p:nvSpPr>
        <p:spPr>
          <a:xfrm>
            <a:off x="585360" y="1664280"/>
            <a:ext cx="776880" cy="40680"/>
          </a:xfrm>
          <a:prstGeom prst="rect">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sp>
        <p:nvSpPr>
          <p:cNvPr id="238" name="TextBox 5"/>
          <p:cNvSpPr/>
          <p:nvPr/>
        </p:nvSpPr>
        <p:spPr>
          <a:xfrm>
            <a:off x="585360" y="6510600"/>
            <a:ext cx="6400440" cy="1641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800" b="1" u="none" strike="noStrike">
                <a:solidFill>
                  <a:srgbClr val="AEBBD3"/>
                </a:solidFill>
                <a:effectLst/>
                <a:uFillTx/>
                <a:latin typeface="Aptos"/>
              </a:rPr>
              <a:t>KONG CHATBOT ARCHITECTURE   •   06 / 10</a:t>
            </a:r>
            <a:endParaRPr lang="en-US" sz="800" b="0" u="none" strike="noStrike">
              <a:solidFill>
                <a:srgbClr val="FFFFFF"/>
              </a:solidFill>
              <a:effectLst/>
              <a:uFillTx/>
              <a:latin typeface="Arial"/>
            </a:endParaRPr>
          </a:p>
        </p:txBody>
      </p:sp>
      <p:sp>
        <p:nvSpPr>
          <p:cNvPr id="239" name="Rounded Rectangle 6"/>
          <p:cNvSpPr/>
          <p:nvPr/>
        </p:nvSpPr>
        <p:spPr>
          <a:xfrm>
            <a:off x="640080" y="1993320"/>
            <a:ext cx="2605680" cy="84096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0" name="Rounded Rectangle 7"/>
          <p:cNvSpPr/>
          <p:nvPr/>
        </p:nvSpPr>
        <p:spPr>
          <a:xfrm>
            <a:off x="786240" y="2157840"/>
            <a:ext cx="594000" cy="292320"/>
          </a:xfrm>
          <a:prstGeom prst="roundRect">
            <a:avLst>
              <a:gd name="adj" fmla="val 16667"/>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1" name="TextBox 8"/>
          <p:cNvSpPr/>
          <p:nvPr/>
        </p:nvSpPr>
        <p:spPr>
          <a:xfrm>
            <a:off x="822960" y="2176200"/>
            <a:ext cx="52092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POST</a:t>
            </a:r>
            <a:endParaRPr lang="en-US" sz="900" b="0" u="none" strike="noStrike">
              <a:solidFill>
                <a:srgbClr val="FFFFFF"/>
              </a:solidFill>
              <a:effectLst/>
              <a:uFillTx/>
              <a:latin typeface="Arial"/>
            </a:endParaRPr>
          </a:p>
        </p:txBody>
      </p:sp>
      <p:sp>
        <p:nvSpPr>
          <p:cNvPr id="242" name="TextBox 9"/>
          <p:cNvSpPr/>
          <p:nvPr/>
        </p:nvSpPr>
        <p:spPr>
          <a:xfrm>
            <a:off x="1463040" y="2139840"/>
            <a:ext cx="1645560" cy="21924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1" u="none" strike="noStrike">
                <a:solidFill>
                  <a:srgbClr val="F4F7FF"/>
                </a:solidFill>
                <a:effectLst/>
                <a:uFillTx/>
                <a:latin typeface="Aptos"/>
              </a:rPr>
              <a:t>/api/rag/chat</a:t>
            </a:r>
            <a:endParaRPr lang="en-US" sz="1200" b="0" u="none" strike="noStrike">
              <a:solidFill>
                <a:srgbClr val="FFFFFF"/>
              </a:solidFill>
              <a:effectLst/>
              <a:uFillTx/>
              <a:latin typeface="Arial"/>
            </a:endParaRPr>
          </a:p>
        </p:txBody>
      </p:sp>
      <p:sp>
        <p:nvSpPr>
          <p:cNvPr id="243" name="TextBox 10"/>
          <p:cNvSpPr/>
          <p:nvPr/>
        </p:nvSpPr>
        <p:spPr>
          <a:xfrm>
            <a:off x="1463040" y="2404800"/>
            <a:ext cx="1645560" cy="18252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900" b="0" u="none" strike="noStrike">
                <a:solidFill>
                  <a:srgbClr val="AEBBD3"/>
                </a:solidFill>
                <a:effectLst/>
                <a:uFillTx/>
                <a:latin typeface="Aptos"/>
              </a:rPr>
              <a:t>RAG chat</a:t>
            </a:r>
            <a:endParaRPr lang="en-US" sz="900" b="0" u="none" strike="noStrike">
              <a:solidFill>
                <a:srgbClr val="FFFFFF"/>
              </a:solidFill>
              <a:effectLst/>
              <a:uFillTx/>
              <a:latin typeface="Arial"/>
            </a:endParaRPr>
          </a:p>
        </p:txBody>
      </p:sp>
      <p:sp>
        <p:nvSpPr>
          <p:cNvPr id="244" name="Rounded Rectangle 11"/>
          <p:cNvSpPr/>
          <p:nvPr/>
        </p:nvSpPr>
        <p:spPr>
          <a:xfrm>
            <a:off x="3502080" y="1993320"/>
            <a:ext cx="2605680" cy="84096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5" name="Rounded Rectangle 12"/>
          <p:cNvSpPr/>
          <p:nvPr/>
        </p:nvSpPr>
        <p:spPr>
          <a:xfrm>
            <a:off x="3648600" y="2157840"/>
            <a:ext cx="594000" cy="292320"/>
          </a:xfrm>
          <a:prstGeom prst="roundRect">
            <a:avLst>
              <a:gd name="adj" fmla="val 16667"/>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46" name="TextBox 13"/>
          <p:cNvSpPr/>
          <p:nvPr/>
        </p:nvSpPr>
        <p:spPr>
          <a:xfrm>
            <a:off x="3684960" y="2176200"/>
            <a:ext cx="52092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POST</a:t>
            </a:r>
            <a:endParaRPr lang="en-US" sz="900" b="0" u="none" strike="noStrike">
              <a:solidFill>
                <a:srgbClr val="FFFFFF"/>
              </a:solidFill>
              <a:effectLst/>
              <a:uFillTx/>
              <a:latin typeface="Arial"/>
            </a:endParaRPr>
          </a:p>
        </p:txBody>
      </p:sp>
      <p:sp>
        <p:nvSpPr>
          <p:cNvPr id="247" name="TextBox 14"/>
          <p:cNvSpPr/>
          <p:nvPr/>
        </p:nvSpPr>
        <p:spPr>
          <a:xfrm>
            <a:off x="4325040" y="2139840"/>
            <a:ext cx="1645560" cy="21924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1" u="none" strike="noStrike">
                <a:solidFill>
                  <a:srgbClr val="F4F7FF"/>
                </a:solidFill>
                <a:effectLst/>
                <a:uFillTx/>
                <a:latin typeface="Aptos"/>
              </a:rPr>
              <a:t>/api/support/chat</a:t>
            </a:r>
            <a:endParaRPr lang="en-US" sz="1200" b="0" u="none" strike="noStrike">
              <a:solidFill>
                <a:srgbClr val="FFFFFF"/>
              </a:solidFill>
              <a:effectLst/>
              <a:uFillTx/>
              <a:latin typeface="Arial"/>
            </a:endParaRPr>
          </a:p>
        </p:txBody>
      </p:sp>
      <p:sp>
        <p:nvSpPr>
          <p:cNvPr id="248" name="TextBox 15"/>
          <p:cNvSpPr/>
          <p:nvPr/>
        </p:nvSpPr>
        <p:spPr>
          <a:xfrm>
            <a:off x="4325040" y="2404800"/>
            <a:ext cx="1645560" cy="18252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900" b="0" u="none" strike="noStrike">
                <a:solidFill>
                  <a:srgbClr val="AEBBD3"/>
                </a:solidFill>
                <a:effectLst/>
                <a:uFillTx/>
                <a:latin typeface="Aptos"/>
              </a:rPr>
              <a:t>Support chat</a:t>
            </a:r>
            <a:endParaRPr lang="en-US" sz="900" b="0" u="none" strike="noStrike">
              <a:solidFill>
                <a:srgbClr val="FFFFFF"/>
              </a:solidFill>
              <a:effectLst/>
              <a:uFillTx/>
              <a:latin typeface="Arial"/>
            </a:endParaRPr>
          </a:p>
        </p:txBody>
      </p:sp>
      <p:sp>
        <p:nvSpPr>
          <p:cNvPr id="249" name="Rounded Rectangle 16"/>
          <p:cNvSpPr/>
          <p:nvPr/>
        </p:nvSpPr>
        <p:spPr>
          <a:xfrm>
            <a:off x="6364080" y="1993320"/>
            <a:ext cx="2605680" cy="84096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0" name="Rounded Rectangle 17"/>
          <p:cNvSpPr/>
          <p:nvPr/>
        </p:nvSpPr>
        <p:spPr>
          <a:xfrm>
            <a:off x="6510600" y="2157840"/>
            <a:ext cx="594000" cy="292320"/>
          </a:xfrm>
          <a:prstGeom prst="roundRect">
            <a:avLst>
              <a:gd name="adj" fmla="val 16667"/>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1" name="TextBox 18"/>
          <p:cNvSpPr/>
          <p:nvPr/>
        </p:nvSpPr>
        <p:spPr>
          <a:xfrm>
            <a:off x="6546960" y="2176200"/>
            <a:ext cx="52092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POST</a:t>
            </a:r>
            <a:endParaRPr lang="en-US" sz="900" b="0" u="none" strike="noStrike">
              <a:solidFill>
                <a:srgbClr val="FFFFFF"/>
              </a:solidFill>
              <a:effectLst/>
              <a:uFillTx/>
              <a:latin typeface="Arial"/>
            </a:endParaRPr>
          </a:p>
        </p:txBody>
      </p:sp>
      <p:sp>
        <p:nvSpPr>
          <p:cNvPr id="252" name="TextBox 19"/>
          <p:cNvSpPr/>
          <p:nvPr/>
        </p:nvSpPr>
        <p:spPr>
          <a:xfrm>
            <a:off x="7187040" y="2139840"/>
            <a:ext cx="1645560" cy="21924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1" u="none" strike="noStrike">
                <a:solidFill>
                  <a:srgbClr val="F4F7FF"/>
                </a:solidFill>
                <a:effectLst/>
                <a:uFillTx/>
                <a:latin typeface="Aptos"/>
              </a:rPr>
              <a:t>/api/chat</a:t>
            </a:r>
            <a:endParaRPr lang="en-US" sz="1200" b="0" u="none" strike="noStrike">
              <a:solidFill>
                <a:srgbClr val="FFFFFF"/>
              </a:solidFill>
              <a:effectLst/>
              <a:uFillTx/>
              <a:latin typeface="Arial"/>
            </a:endParaRPr>
          </a:p>
        </p:txBody>
      </p:sp>
      <p:sp>
        <p:nvSpPr>
          <p:cNvPr id="253" name="TextBox 20"/>
          <p:cNvSpPr/>
          <p:nvPr/>
        </p:nvSpPr>
        <p:spPr>
          <a:xfrm>
            <a:off x="7187040" y="2404800"/>
            <a:ext cx="1645560" cy="18252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900" b="0" u="none" strike="noStrike">
                <a:solidFill>
                  <a:srgbClr val="AEBBD3"/>
                </a:solidFill>
                <a:effectLst/>
                <a:uFillTx/>
                <a:latin typeface="Aptos"/>
              </a:rPr>
              <a:t>Compatibility alias</a:t>
            </a:r>
            <a:endParaRPr lang="en-US" sz="900" b="0" u="none" strike="noStrike">
              <a:solidFill>
                <a:srgbClr val="FFFFFF"/>
              </a:solidFill>
              <a:effectLst/>
              <a:uFillTx/>
              <a:latin typeface="Arial"/>
            </a:endParaRPr>
          </a:p>
        </p:txBody>
      </p:sp>
      <p:sp>
        <p:nvSpPr>
          <p:cNvPr id="254" name="Rounded Rectangle 21"/>
          <p:cNvSpPr/>
          <p:nvPr/>
        </p:nvSpPr>
        <p:spPr>
          <a:xfrm>
            <a:off x="9226440" y="1993320"/>
            <a:ext cx="2605680" cy="84096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5" name="Rounded Rectangle 22"/>
          <p:cNvSpPr/>
          <p:nvPr/>
        </p:nvSpPr>
        <p:spPr>
          <a:xfrm>
            <a:off x="9372600" y="2157840"/>
            <a:ext cx="594000" cy="292320"/>
          </a:xfrm>
          <a:prstGeom prst="roundRect">
            <a:avLst>
              <a:gd name="adj" fmla="val 16667"/>
            </a:avLst>
          </a:prstGeom>
          <a:solidFill>
            <a:srgbClr val="48E0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56" name="TextBox 23"/>
          <p:cNvSpPr/>
          <p:nvPr/>
        </p:nvSpPr>
        <p:spPr>
          <a:xfrm>
            <a:off x="9409320" y="2176200"/>
            <a:ext cx="52092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GET</a:t>
            </a:r>
            <a:endParaRPr lang="en-US" sz="900" b="0" u="none" strike="noStrike">
              <a:solidFill>
                <a:srgbClr val="FFFFFF"/>
              </a:solidFill>
              <a:effectLst/>
              <a:uFillTx/>
              <a:latin typeface="Arial"/>
            </a:endParaRPr>
          </a:p>
        </p:txBody>
      </p:sp>
      <p:sp>
        <p:nvSpPr>
          <p:cNvPr id="257" name="TextBox 24"/>
          <p:cNvSpPr/>
          <p:nvPr/>
        </p:nvSpPr>
        <p:spPr>
          <a:xfrm>
            <a:off x="10049400" y="2139840"/>
            <a:ext cx="1645560" cy="21924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1" u="none" strike="noStrike">
                <a:solidFill>
                  <a:srgbClr val="F4F7FF"/>
                </a:solidFill>
                <a:effectLst/>
                <a:uFillTx/>
                <a:latin typeface="Aptos"/>
              </a:rPr>
              <a:t>/health</a:t>
            </a:r>
            <a:endParaRPr lang="en-US" sz="1200" b="0" u="none" strike="noStrike">
              <a:solidFill>
                <a:srgbClr val="FFFFFF"/>
              </a:solidFill>
              <a:effectLst/>
              <a:uFillTx/>
              <a:latin typeface="Arial"/>
            </a:endParaRPr>
          </a:p>
        </p:txBody>
      </p:sp>
      <p:sp>
        <p:nvSpPr>
          <p:cNvPr id="258" name="TextBox 25"/>
          <p:cNvSpPr/>
          <p:nvPr/>
        </p:nvSpPr>
        <p:spPr>
          <a:xfrm>
            <a:off x="10049400" y="2404800"/>
            <a:ext cx="1645560" cy="18252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900" b="0" u="none" strike="noStrike">
                <a:solidFill>
                  <a:srgbClr val="AEBBD3"/>
                </a:solidFill>
                <a:effectLst/>
                <a:uFillTx/>
                <a:latin typeface="Aptos"/>
              </a:rPr>
              <a:t>Health check</a:t>
            </a:r>
            <a:endParaRPr lang="en-US" sz="900" b="0" u="none" strike="noStrike">
              <a:solidFill>
                <a:srgbClr val="FFFFFF"/>
              </a:solidFill>
              <a:effectLst/>
              <a:uFillTx/>
              <a:latin typeface="Arial"/>
            </a:endParaRPr>
          </a:p>
        </p:txBody>
      </p:sp>
      <p:sp>
        <p:nvSpPr>
          <p:cNvPr id="259" name="Rounded Rectangle 26"/>
          <p:cNvSpPr/>
          <p:nvPr/>
        </p:nvSpPr>
        <p:spPr>
          <a:xfrm>
            <a:off x="822960" y="3703320"/>
            <a:ext cx="1965600" cy="731160"/>
          </a:xfrm>
          <a:prstGeom prst="roundRect">
            <a:avLst>
              <a:gd name="adj" fmla="val 16667"/>
            </a:avLst>
          </a:prstGeom>
          <a:solidFill>
            <a:srgbClr val="1A2641"/>
          </a:solidFill>
          <a:ln w="17780">
            <a:solidFill>
              <a:srgbClr val="42D3E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300" b="1" u="none" strike="noStrike">
                <a:solidFill>
                  <a:srgbClr val="F4F7FF"/>
                </a:solidFill>
                <a:effectLst/>
                <a:uFillTx/>
                <a:latin typeface="Aptos"/>
              </a:rPr>
              <a:t>ChatController</a:t>
            </a:r>
            <a:endParaRPr lang="en-US" sz="1300" b="0" u="none" strike="noStrike">
              <a:solidFill>
                <a:srgbClr val="FFFFFF"/>
              </a:solidFill>
              <a:effectLst/>
              <a:uFillTx/>
              <a:latin typeface="Arial"/>
            </a:endParaRPr>
          </a:p>
        </p:txBody>
      </p:sp>
      <p:sp>
        <p:nvSpPr>
          <p:cNvPr id="260" name="Rounded Rectangle 27"/>
          <p:cNvSpPr/>
          <p:nvPr/>
        </p:nvSpPr>
        <p:spPr>
          <a:xfrm>
            <a:off x="3337560" y="3703320"/>
            <a:ext cx="1828440" cy="731160"/>
          </a:xfrm>
          <a:prstGeom prst="roundRect">
            <a:avLst>
              <a:gd name="adj" fmla="val 16667"/>
            </a:avLst>
          </a:prstGeom>
          <a:solidFill>
            <a:srgbClr val="1A2641"/>
          </a:solidFill>
          <a:ln w="17780">
            <a:solidFill>
              <a:srgbClr val="48E0B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300" b="1" u="none" strike="noStrike">
                <a:solidFill>
                  <a:srgbClr val="F4F7FF"/>
                </a:solidFill>
                <a:effectLst/>
                <a:uFillTx/>
                <a:latin typeface="Aptos"/>
              </a:rPr>
              <a:t>ChatService</a:t>
            </a:r>
            <a:endParaRPr lang="en-US" sz="1300" b="0" u="none" strike="noStrike">
              <a:solidFill>
                <a:srgbClr val="FFFFFF"/>
              </a:solidFill>
              <a:effectLst/>
              <a:uFillTx/>
              <a:latin typeface="Arial"/>
            </a:endParaRPr>
          </a:p>
        </p:txBody>
      </p:sp>
      <p:sp>
        <p:nvSpPr>
          <p:cNvPr id="261" name="Rounded Rectangle 28"/>
          <p:cNvSpPr/>
          <p:nvPr/>
        </p:nvSpPr>
        <p:spPr>
          <a:xfrm>
            <a:off x="5715000" y="3703320"/>
            <a:ext cx="1965600" cy="731160"/>
          </a:xfrm>
          <a:prstGeom prst="roundRect">
            <a:avLst>
              <a:gd name="adj" fmla="val 16667"/>
            </a:avLst>
          </a:prstGeom>
          <a:solidFill>
            <a:srgbClr val="1A2641"/>
          </a:solidFill>
          <a:ln w="17780">
            <a:solidFill>
              <a:srgbClr val="A07D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300" b="1" u="none" strike="noStrike">
                <a:solidFill>
                  <a:srgbClr val="F4F7FF"/>
                </a:solidFill>
                <a:effectLst/>
                <a:uFillTx/>
                <a:latin typeface="Aptos"/>
              </a:rPr>
              <a:t>KongAiGateway</a:t>
            </a:r>
            <a:br>
              <a:rPr sz="1300"/>
            </a:br>
            <a:r>
              <a:rPr lang="en-US" sz="1300" b="1" u="none" strike="noStrike">
                <a:solidFill>
                  <a:srgbClr val="F4F7FF"/>
                </a:solidFill>
                <a:effectLst/>
                <a:uFillTx/>
                <a:latin typeface="Aptos"/>
              </a:rPr>
              <a:t>Client</a:t>
            </a:r>
            <a:endParaRPr lang="en-US" sz="1300" b="0" u="none" strike="noStrike">
              <a:solidFill>
                <a:srgbClr val="FFFFFF"/>
              </a:solidFill>
              <a:effectLst/>
              <a:uFillTx/>
              <a:latin typeface="Arial"/>
            </a:endParaRPr>
          </a:p>
        </p:txBody>
      </p:sp>
      <p:sp>
        <p:nvSpPr>
          <p:cNvPr id="262" name="Rounded Rectangle 29"/>
          <p:cNvSpPr/>
          <p:nvPr/>
        </p:nvSpPr>
        <p:spPr>
          <a:xfrm>
            <a:off x="8229600" y="3703320"/>
            <a:ext cx="1828440" cy="731160"/>
          </a:xfrm>
          <a:prstGeom prst="roundRect">
            <a:avLst>
              <a:gd name="adj" fmla="val 16667"/>
            </a:avLst>
          </a:prstGeom>
          <a:solidFill>
            <a:srgbClr val="1A2641"/>
          </a:solidFill>
          <a:ln w="17780">
            <a:solidFill>
              <a:srgbClr val="42D3E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300" b="1" u="none" strike="noStrike">
                <a:solidFill>
                  <a:srgbClr val="F4F7FF"/>
                </a:solidFill>
                <a:effectLst/>
                <a:uFillTx/>
                <a:latin typeface="Aptos"/>
              </a:rPr>
              <a:t>Kong Gateway</a:t>
            </a:r>
            <a:endParaRPr lang="en-US" sz="1300" b="0" u="none" strike="noStrike">
              <a:solidFill>
                <a:srgbClr val="FFFFFF"/>
              </a:solidFill>
              <a:effectLst/>
              <a:uFillTx/>
              <a:latin typeface="Arial"/>
            </a:endParaRPr>
          </a:p>
        </p:txBody>
      </p:sp>
      <p:cxnSp>
        <p:nvCxnSpPr>
          <p:cNvPr id="263" name="Connector 30"/>
          <p:cNvCxnSpPr/>
          <p:nvPr/>
        </p:nvCxnSpPr>
        <p:spPr>
          <a:xfrm>
            <a:off x="2816280" y="4069080"/>
            <a:ext cx="457560" cy="360"/>
          </a:xfrm>
          <a:prstGeom prst="straightConnector1">
            <a:avLst/>
          </a:prstGeom>
          <a:ln>
            <a:solidFill>
              <a:srgbClr val="42D3E6"/>
            </a:solidFill>
            <a:round/>
          </a:ln>
        </p:spPr>
      </p:cxnSp>
      <p:cxnSp>
        <p:nvCxnSpPr>
          <p:cNvPr id="264" name="Connector 31"/>
          <p:cNvCxnSpPr/>
          <p:nvPr/>
        </p:nvCxnSpPr>
        <p:spPr>
          <a:xfrm>
            <a:off x="5212080" y="4069080"/>
            <a:ext cx="439200" cy="360"/>
          </a:xfrm>
          <a:prstGeom prst="straightConnector1">
            <a:avLst/>
          </a:prstGeom>
          <a:ln>
            <a:solidFill>
              <a:srgbClr val="42D3E6"/>
            </a:solidFill>
            <a:round/>
          </a:ln>
        </p:spPr>
      </p:cxnSp>
      <p:cxnSp>
        <p:nvCxnSpPr>
          <p:cNvPr id="265" name="Connector 32"/>
          <p:cNvCxnSpPr/>
          <p:nvPr/>
        </p:nvCxnSpPr>
        <p:spPr>
          <a:xfrm>
            <a:off x="7726320" y="4069080"/>
            <a:ext cx="439560" cy="360"/>
          </a:xfrm>
          <a:prstGeom prst="straightConnector1">
            <a:avLst/>
          </a:prstGeom>
          <a:ln>
            <a:solidFill>
              <a:srgbClr val="42D3E6"/>
            </a:solidFill>
            <a:round/>
          </a:ln>
        </p:spPr>
      </p:cxnSp>
      <p:sp>
        <p:nvSpPr>
          <p:cNvPr id="266" name="Rounded Rectangle 33"/>
          <p:cNvSpPr/>
          <p:nvPr/>
        </p:nvSpPr>
        <p:spPr>
          <a:xfrm>
            <a:off x="822960" y="4827960"/>
            <a:ext cx="5211720" cy="914040"/>
          </a:xfrm>
          <a:prstGeom prst="roundRect">
            <a:avLst>
              <a:gd name="adj" fmla="val 16667"/>
            </a:avLst>
          </a:prstGeom>
          <a:solidFill>
            <a:srgbClr val="122429"/>
          </a:solidFill>
          <a:ln w="12700">
            <a:solidFill>
              <a:srgbClr val="48E0B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67" name="TextBox 34"/>
          <p:cNvSpPr/>
          <p:nvPr/>
        </p:nvSpPr>
        <p:spPr>
          <a:xfrm>
            <a:off x="1051560" y="5010840"/>
            <a:ext cx="1142640" cy="2008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1" u="none" strike="noStrike">
                <a:solidFill>
                  <a:srgbClr val="48E0B8"/>
                </a:solidFill>
                <a:effectLst/>
                <a:uFillTx/>
                <a:latin typeface="Aptos"/>
              </a:rPr>
              <a:t>LOCAL MODE</a:t>
            </a:r>
            <a:endParaRPr lang="en-US" sz="1000" b="0" u="none" strike="noStrike">
              <a:solidFill>
                <a:srgbClr val="FFFFFF"/>
              </a:solidFill>
              <a:effectLst/>
              <a:uFillTx/>
              <a:latin typeface="Arial"/>
            </a:endParaRPr>
          </a:p>
        </p:txBody>
      </p:sp>
      <p:sp>
        <p:nvSpPr>
          <p:cNvPr id="268" name="TextBox 35"/>
          <p:cNvSpPr/>
          <p:nvPr/>
        </p:nvSpPr>
        <p:spPr>
          <a:xfrm>
            <a:off x="2148840" y="4965120"/>
            <a:ext cx="3611520" cy="3837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100" b="0" u="none" strike="noStrike">
                <a:solidFill>
                  <a:srgbClr val="F4F7FF"/>
                </a:solidFill>
                <a:effectLst/>
                <a:uFillTx/>
                <a:latin typeface="Aptos"/>
              </a:rPr>
              <a:t>Startup indexing + question-time retrieval via KnowledgeContextProvider</a:t>
            </a:r>
            <a:endParaRPr lang="en-US" sz="1100" b="0" u="none" strike="noStrike">
              <a:solidFill>
                <a:srgbClr val="FFFFFF"/>
              </a:solidFill>
              <a:effectLst/>
              <a:uFillTx/>
              <a:latin typeface="Arial"/>
            </a:endParaRPr>
          </a:p>
        </p:txBody>
      </p:sp>
      <p:sp>
        <p:nvSpPr>
          <p:cNvPr id="269" name="Rounded Rectangle 36"/>
          <p:cNvSpPr/>
          <p:nvPr/>
        </p:nvSpPr>
        <p:spPr>
          <a:xfrm>
            <a:off x="6263640" y="4827960"/>
            <a:ext cx="5074560" cy="914040"/>
          </a:xfrm>
          <a:prstGeom prst="roundRect">
            <a:avLst>
              <a:gd name="adj" fmla="val 16667"/>
            </a:avLst>
          </a:prstGeom>
          <a:solidFill>
            <a:srgbClr val="1E1A30"/>
          </a:solidFill>
          <a:ln w="12700">
            <a:solidFill>
              <a:srgbClr val="A07D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70" name="TextBox 37"/>
          <p:cNvSpPr/>
          <p:nvPr/>
        </p:nvSpPr>
        <p:spPr>
          <a:xfrm>
            <a:off x="6492240" y="5010840"/>
            <a:ext cx="1371240" cy="2008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1" u="none" strike="noStrike">
                <a:solidFill>
                  <a:srgbClr val="A07DFF"/>
                </a:solidFill>
                <a:effectLst/>
                <a:uFillTx/>
                <a:latin typeface="Aptos"/>
              </a:rPr>
              <a:t>KONNECT MODE</a:t>
            </a:r>
            <a:endParaRPr lang="en-US" sz="1000" b="0" u="none" strike="noStrike">
              <a:solidFill>
                <a:srgbClr val="FFFFFF"/>
              </a:solidFill>
              <a:effectLst/>
              <a:uFillTx/>
              <a:latin typeface="Arial"/>
            </a:endParaRPr>
          </a:p>
        </p:txBody>
      </p:sp>
      <p:sp>
        <p:nvSpPr>
          <p:cNvPr id="271" name="TextBox 38"/>
          <p:cNvSpPr/>
          <p:nvPr/>
        </p:nvSpPr>
        <p:spPr>
          <a:xfrm>
            <a:off x="7818120" y="4965120"/>
            <a:ext cx="3200040" cy="3837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100" b="0" u="none" strike="noStrike">
                <a:solidFill>
                  <a:srgbClr val="F4F7FF"/>
                </a:solidFill>
                <a:effectLst/>
                <a:uFillTx/>
                <a:latin typeface="Aptos"/>
              </a:rPr>
              <a:t>Retrieval is delegated to Kong's configured RAG plugin</a:t>
            </a:r>
            <a:endParaRPr lang="en-US" sz="1100" b="0" u="none" strike="noStrike">
              <a:solidFill>
                <a:srgbClr val="FFFFFF"/>
              </a:solidFill>
              <a:effectLst/>
              <a:uFillTx/>
              <a:latin typeface="Arial"/>
            </a:endParaRPr>
          </a:p>
        </p:txBody>
      </p:sp>
      <p:sp>
        <p:nvSpPr>
          <p:cNvPr id="272" name="TextBox 39"/>
          <p:cNvSpPr/>
          <p:nvPr/>
        </p:nvSpPr>
        <p:spPr>
          <a:xfrm>
            <a:off x="960120" y="6053400"/>
            <a:ext cx="10240920" cy="255600"/>
          </a:xfrm>
          <a:prstGeom prst="rect">
            <a:avLst/>
          </a:prstGeom>
          <a:noFill/>
          <a:ln w="0">
            <a:noFill/>
          </a:ln>
        </p:spPr>
        <p:style>
          <a:lnRef idx="0"/>
          <a:fillRef idx="0"/>
          <a:effectRef idx="0"/>
          <a:fontRef idx="minor"/>
        </p:style>
        <p:txBody>
          <a:bodyPr lIns="36720" tIns="36720" rIns="36720" bIns="36720" anchor="t">
            <a:spAutoFit/>
          </a:bodyPr>
          <a:p>
            <a:pPr algn="ctr" defTabSz="457200">
              <a:lnSpc>
                <a:spcPct val="100000"/>
              </a:lnSpc>
              <a:spcAft>
                <a:spcPts val="400"/>
              </a:spcAft>
            </a:pPr>
            <a:r>
              <a:rPr lang="en-US" sz="1100" b="0" u="none" strike="noStrike">
                <a:solidFill>
                  <a:srgbClr val="AEBBD3"/>
                </a:solidFill>
                <a:effectLst/>
                <a:uFillTx/>
                <a:latin typeface="Aptos"/>
              </a:rPr>
              <a:t>Validation and gateway failures are explicit; local context includes source titles.</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020"/>
        </a:solidFill>
      </p:bgPr>
    </p:bg>
    <p:spTree>
      <p:nvGrpSpPr>
        <p:cNvPr id="1" name=""/>
        <p:cNvGrpSpPr/>
        <p:nvPr/>
      </p:nvGrpSpPr>
      <p:grpSpPr>
        <a:xfrm>
          <a:off x="0" y="0"/>
          <a:ext cx="0" cy="0"/>
          <a:chOff x="0" y="0"/>
          <a:chExt cx="0" cy="0"/>
        </a:xfrm>
      </p:grpSpPr>
      <p:sp>
        <p:nvSpPr>
          <p:cNvPr id="273" name="TextBox 1"/>
          <p:cNvSpPr/>
          <p:nvPr/>
        </p:nvSpPr>
        <p:spPr>
          <a:xfrm>
            <a:off x="567000" y="320040"/>
            <a:ext cx="4937400" cy="2556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1" u="none" strike="noStrike">
                <a:solidFill>
                  <a:srgbClr val="42D3E6"/>
                </a:solidFill>
                <a:effectLst/>
                <a:uFillTx/>
                <a:latin typeface="Aptos"/>
              </a:rPr>
              <a:t>07 • LOCAL IMPLEMENTATION</a:t>
            </a:r>
            <a:endParaRPr lang="en-US" sz="1000" b="0" u="none" strike="noStrike">
              <a:solidFill>
                <a:srgbClr val="FFFFFF"/>
              </a:solidFill>
              <a:effectLst/>
              <a:uFillTx/>
              <a:latin typeface="Arial"/>
            </a:endParaRPr>
          </a:p>
        </p:txBody>
      </p:sp>
      <p:sp>
        <p:nvSpPr>
          <p:cNvPr id="274" name="TextBox 2"/>
          <p:cNvSpPr/>
          <p:nvPr/>
        </p:nvSpPr>
        <p:spPr>
          <a:xfrm>
            <a:off x="567000" y="658440"/>
            <a:ext cx="10972440" cy="5025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2700" b="1" u="none" strike="noStrike">
                <a:solidFill>
                  <a:srgbClr val="F4F7FF"/>
                </a:solidFill>
                <a:effectLst/>
                <a:uFillTx/>
                <a:latin typeface="Aptos"/>
              </a:rPr>
              <a:t>Local mode: end-to-end RAG without external accounts</a:t>
            </a:r>
            <a:endParaRPr lang="en-US" sz="2700" b="0" u="none" strike="noStrike">
              <a:solidFill>
                <a:srgbClr val="FFFFFF"/>
              </a:solidFill>
              <a:effectLst/>
              <a:uFillTx/>
              <a:latin typeface="Arial"/>
            </a:endParaRPr>
          </a:p>
        </p:txBody>
      </p:sp>
      <p:sp>
        <p:nvSpPr>
          <p:cNvPr id="275" name="TextBox 3"/>
          <p:cNvSpPr/>
          <p:nvPr/>
        </p:nvSpPr>
        <p:spPr>
          <a:xfrm>
            <a:off x="585360" y="1197720"/>
            <a:ext cx="10972440" cy="3837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AEBBD3"/>
                </a:solidFill>
                <a:effectLst/>
                <a:uFillTx/>
                <a:latin typeface="Aptos"/>
              </a:rPr>
              <a:t>A compact development loop using local files, an in-memory index and Ollama models.</a:t>
            </a:r>
            <a:endParaRPr lang="en-US" sz="1200" b="0" u="none" strike="noStrike">
              <a:solidFill>
                <a:srgbClr val="FFFFFF"/>
              </a:solidFill>
              <a:effectLst/>
              <a:uFillTx/>
              <a:latin typeface="Arial"/>
            </a:endParaRPr>
          </a:p>
        </p:txBody>
      </p:sp>
      <p:sp>
        <p:nvSpPr>
          <p:cNvPr id="276" name="Rectangle 4"/>
          <p:cNvSpPr/>
          <p:nvPr/>
        </p:nvSpPr>
        <p:spPr>
          <a:xfrm>
            <a:off x="585360" y="1664280"/>
            <a:ext cx="776880" cy="40680"/>
          </a:xfrm>
          <a:prstGeom prst="rect">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sp>
        <p:nvSpPr>
          <p:cNvPr id="277" name="TextBox 5"/>
          <p:cNvSpPr/>
          <p:nvPr/>
        </p:nvSpPr>
        <p:spPr>
          <a:xfrm>
            <a:off x="585360" y="6510600"/>
            <a:ext cx="6400440" cy="1641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800" b="1" u="none" strike="noStrike">
                <a:solidFill>
                  <a:srgbClr val="AEBBD3"/>
                </a:solidFill>
                <a:effectLst/>
                <a:uFillTx/>
                <a:latin typeface="Aptos"/>
              </a:rPr>
              <a:t>KONG CHATBOT ARCHITECTURE   •   07 / 10</a:t>
            </a:r>
            <a:endParaRPr lang="en-US" sz="800" b="0" u="none" strike="noStrike">
              <a:solidFill>
                <a:srgbClr val="FFFFFF"/>
              </a:solidFill>
              <a:effectLst/>
              <a:uFillTx/>
              <a:latin typeface="Arial"/>
            </a:endParaRPr>
          </a:p>
        </p:txBody>
      </p:sp>
      <p:sp>
        <p:nvSpPr>
          <p:cNvPr id="278" name="Rounded Rectangle 6"/>
          <p:cNvSpPr/>
          <p:nvPr/>
        </p:nvSpPr>
        <p:spPr>
          <a:xfrm>
            <a:off x="594360" y="2395800"/>
            <a:ext cx="1828440" cy="840960"/>
          </a:xfrm>
          <a:prstGeom prst="roundRect">
            <a:avLst>
              <a:gd name="adj" fmla="val 16667"/>
            </a:avLst>
          </a:prstGeom>
          <a:solidFill>
            <a:srgbClr val="1A2641"/>
          </a:solidFill>
          <a:ln w="17780">
            <a:solidFill>
              <a:srgbClr val="42D3E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200" b="1" u="none" strike="noStrike">
                <a:solidFill>
                  <a:srgbClr val="F4F7FF"/>
                </a:solidFill>
                <a:effectLst/>
                <a:uFillTx/>
                <a:latin typeface="Aptos"/>
              </a:rPr>
              <a:t>knowledge/</a:t>
            </a:r>
            <a:br>
              <a:rPr sz="1200"/>
            </a:br>
            <a:r>
              <a:rPr lang="en-US" sz="1200" b="1" u="none" strike="noStrike">
                <a:solidFill>
                  <a:srgbClr val="F4F7FF"/>
                </a:solidFill>
                <a:effectLst/>
                <a:uFillTx/>
                <a:latin typeface="Aptos"/>
              </a:rPr>
              <a:t>Markdown + text</a:t>
            </a:r>
            <a:endParaRPr lang="en-US" sz="1200" b="0" u="none" strike="noStrike">
              <a:solidFill>
                <a:srgbClr val="FFFFFF"/>
              </a:solidFill>
              <a:effectLst/>
              <a:uFillTx/>
              <a:latin typeface="Arial"/>
            </a:endParaRPr>
          </a:p>
        </p:txBody>
      </p:sp>
      <p:sp>
        <p:nvSpPr>
          <p:cNvPr id="279" name="Rounded Rectangle 7"/>
          <p:cNvSpPr/>
          <p:nvPr/>
        </p:nvSpPr>
        <p:spPr>
          <a:xfrm>
            <a:off x="2880360" y="2395800"/>
            <a:ext cx="1828440" cy="840960"/>
          </a:xfrm>
          <a:prstGeom prst="roundRect">
            <a:avLst>
              <a:gd name="adj" fmla="val 16667"/>
            </a:avLst>
          </a:prstGeom>
          <a:solidFill>
            <a:srgbClr val="1A2641"/>
          </a:solidFill>
          <a:ln w="17780">
            <a:solidFill>
              <a:srgbClr val="48E0B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200" b="1" u="none" strike="noStrike">
                <a:solidFill>
                  <a:srgbClr val="F4F7FF"/>
                </a:solidFill>
                <a:effectLst/>
                <a:uFillTx/>
                <a:latin typeface="Aptos"/>
              </a:rPr>
              <a:t>Chunk + embed</a:t>
            </a:r>
            <a:br>
              <a:rPr sz="1200"/>
            </a:br>
            <a:r>
              <a:rPr lang="en-US" sz="1200" b="1" u="none" strike="noStrike">
                <a:solidFill>
                  <a:srgbClr val="F4F7FF"/>
                </a:solidFill>
                <a:effectLst/>
                <a:uFillTx/>
                <a:latin typeface="Aptos"/>
              </a:rPr>
              <a:t>via Ollama</a:t>
            </a:r>
            <a:endParaRPr lang="en-US" sz="1200" b="0" u="none" strike="noStrike">
              <a:solidFill>
                <a:srgbClr val="FFFFFF"/>
              </a:solidFill>
              <a:effectLst/>
              <a:uFillTx/>
              <a:latin typeface="Arial"/>
            </a:endParaRPr>
          </a:p>
        </p:txBody>
      </p:sp>
      <p:sp>
        <p:nvSpPr>
          <p:cNvPr id="280" name="Rounded Rectangle 8"/>
          <p:cNvSpPr/>
          <p:nvPr/>
        </p:nvSpPr>
        <p:spPr>
          <a:xfrm>
            <a:off x="5166360" y="2395800"/>
            <a:ext cx="1828440" cy="840960"/>
          </a:xfrm>
          <a:prstGeom prst="roundRect">
            <a:avLst>
              <a:gd name="adj" fmla="val 16667"/>
            </a:avLst>
          </a:prstGeom>
          <a:solidFill>
            <a:srgbClr val="1A2641"/>
          </a:solidFill>
          <a:ln w="17780">
            <a:solidFill>
              <a:srgbClr val="A07DF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200" b="1" u="none" strike="noStrike">
                <a:solidFill>
                  <a:srgbClr val="F4F7FF"/>
                </a:solidFill>
                <a:effectLst/>
                <a:uFillTx/>
                <a:latin typeface="Aptos"/>
              </a:rPr>
              <a:t>In-memory</a:t>
            </a:r>
            <a:br>
              <a:rPr sz="1200"/>
            </a:br>
            <a:r>
              <a:rPr lang="en-US" sz="1200" b="1" u="none" strike="noStrike">
                <a:solidFill>
                  <a:srgbClr val="F4F7FF"/>
                </a:solidFill>
                <a:effectLst/>
                <a:uFillTx/>
                <a:latin typeface="Aptos"/>
              </a:rPr>
              <a:t>vector index</a:t>
            </a:r>
            <a:endParaRPr lang="en-US" sz="1200" b="0" u="none" strike="noStrike">
              <a:solidFill>
                <a:srgbClr val="FFFFFF"/>
              </a:solidFill>
              <a:effectLst/>
              <a:uFillTx/>
              <a:latin typeface="Arial"/>
            </a:endParaRPr>
          </a:p>
        </p:txBody>
      </p:sp>
      <p:sp>
        <p:nvSpPr>
          <p:cNvPr id="281" name="Rounded Rectangle 9"/>
          <p:cNvSpPr/>
          <p:nvPr/>
        </p:nvSpPr>
        <p:spPr>
          <a:xfrm>
            <a:off x="7452360" y="2395800"/>
            <a:ext cx="1828440" cy="840960"/>
          </a:xfrm>
          <a:prstGeom prst="roundRect">
            <a:avLst>
              <a:gd name="adj" fmla="val 16667"/>
            </a:avLst>
          </a:prstGeom>
          <a:solidFill>
            <a:srgbClr val="1A2641"/>
          </a:solidFill>
          <a:ln w="17780">
            <a:solidFill>
              <a:srgbClr val="42D3E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200" b="1" u="none" strike="noStrike">
                <a:solidFill>
                  <a:srgbClr val="F4F7FF"/>
                </a:solidFill>
                <a:effectLst/>
                <a:uFillTx/>
                <a:latin typeface="Aptos"/>
              </a:rPr>
              <a:t>Kong OSS</a:t>
            </a:r>
            <a:br>
              <a:rPr sz="1200"/>
            </a:br>
            <a:r>
              <a:rPr lang="en-US" sz="1200" b="1" u="none" strike="noStrike">
                <a:solidFill>
                  <a:srgbClr val="F4F7FF"/>
                </a:solidFill>
                <a:effectLst/>
                <a:uFillTx/>
                <a:latin typeface="Aptos"/>
              </a:rPr>
              <a:t>proxy</a:t>
            </a:r>
            <a:endParaRPr lang="en-US" sz="1200" b="0" u="none" strike="noStrike">
              <a:solidFill>
                <a:srgbClr val="FFFFFF"/>
              </a:solidFill>
              <a:effectLst/>
              <a:uFillTx/>
              <a:latin typeface="Arial"/>
            </a:endParaRPr>
          </a:p>
        </p:txBody>
      </p:sp>
      <p:sp>
        <p:nvSpPr>
          <p:cNvPr id="282" name="Rounded Rectangle 10"/>
          <p:cNvSpPr/>
          <p:nvPr/>
        </p:nvSpPr>
        <p:spPr>
          <a:xfrm>
            <a:off x="9738360" y="2395800"/>
            <a:ext cx="1828440" cy="840960"/>
          </a:xfrm>
          <a:prstGeom prst="roundRect">
            <a:avLst>
              <a:gd name="adj" fmla="val 16667"/>
            </a:avLst>
          </a:prstGeom>
          <a:solidFill>
            <a:srgbClr val="1A2641"/>
          </a:solidFill>
          <a:ln w="17780">
            <a:solidFill>
              <a:srgbClr val="48E0B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73080" tIns="36720" rIns="73080" bIns="36720" anchor="ctr">
            <a:noAutofit/>
          </a:bodyPr>
          <a:p>
            <a:pPr algn="ctr" defTabSz="457200">
              <a:lnSpc>
                <a:spcPct val="100000"/>
              </a:lnSpc>
            </a:pPr>
            <a:r>
              <a:rPr lang="en-US" sz="1200" b="1" u="none" strike="noStrike">
                <a:solidFill>
                  <a:srgbClr val="F4F7FF"/>
                </a:solidFill>
                <a:effectLst/>
                <a:uFillTx/>
                <a:latin typeface="Aptos"/>
              </a:rPr>
              <a:t>Ollama chat</a:t>
            </a:r>
            <a:br>
              <a:rPr sz="1200"/>
            </a:br>
            <a:r>
              <a:rPr lang="en-US" sz="1200" b="1" u="none" strike="noStrike">
                <a:solidFill>
                  <a:srgbClr val="F4F7FF"/>
                </a:solidFill>
                <a:effectLst/>
                <a:uFillTx/>
                <a:latin typeface="Aptos"/>
              </a:rPr>
              <a:t>model</a:t>
            </a:r>
            <a:endParaRPr lang="en-US" sz="1200" b="0" u="none" strike="noStrike">
              <a:solidFill>
                <a:srgbClr val="FFFFFF"/>
              </a:solidFill>
              <a:effectLst/>
              <a:uFillTx/>
              <a:latin typeface="Arial"/>
            </a:endParaRPr>
          </a:p>
        </p:txBody>
      </p:sp>
      <p:cxnSp>
        <p:nvCxnSpPr>
          <p:cNvPr id="283" name="Connector 11"/>
          <p:cNvCxnSpPr/>
          <p:nvPr/>
        </p:nvCxnSpPr>
        <p:spPr>
          <a:xfrm>
            <a:off x="2468880" y="2816280"/>
            <a:ext cx="347760" cy="360"/>
          </a:xfrm>
          <a:prstGeom prst="straightConnector1">
            <a:avLst/>
          </a:prstGeom>
          <a:ln>
            <a:solidFill>
              <a:srgbClr val="42D3E6"/>
            </a:solidFill>
            <a:round/>
          </a:ln>
        </p:spPr>
      </p:cxnSp>
      <p:cxnSp>
        <p:nvCxnSpPr>
          <p:cNvPr id="284" name="Connector 12"/>
          <p:cNvCxnSpPr/>
          <p:nvPr/>
        </p:nvCxnSpPr>
        <p:spPr>
          <a:xfrm>
            <a:off x="4754880" y="2816280"/>
            <a:ext cx="347760" cy="360"/>
          </a:xfrm>
          <a:prstGeom prst="straightConnector1">
            <a:avLst/>
          </a:prstGeom>
          <a:ln>
            <a:solidFill>
              <a:srgbClr val="42D3E6"/>
            </a:solidFill>
            <a:round/>
          </a:ln>
        </p:spPr>
      </p:cxnSp>
      <p:cxnSp>
        <p:nvCxnSpPr>
          <p:cNvPr id="285" name="Connector 13"/>
          <p:cNvCxnSpPr/>
          <p:nvPr/>
        </p:nvCxnSpPr>
        <p:spPr>
          <a:xfrm>
            <a:off x="7040880" y="2816280"/>
            <a:ext cx="347760" cy="360"/>
          </a:xfrm>
          <a:prstGeom prst="straightConnector1">
            <a:avLst/>
          </a:prstGeom>
          <a:ln>
            <a:solidFill>
              <a:srgbClr val="42D3E6"/>
            </a:solidFill>
            <a:round/>
          </a:ln>
        </p:spPr>
      </p:cxnSp>
      <p:cxnSp>
        <p:nvCxnSpPr>
          <p:cNvPr id="286" name="Connector 14"/>
          <p:cNvCxnSpPr/>
          <p:nvPr/>
        </p:nvCxnSpPr>
        <p:spPr>
          <a:xfrm>
            <a:off x="9326880" y="2816280"/>
            <a:ext cx="347760" cy="360"/>
          </a:xfrm>
          <a:prstGeom prst="straightConnector1">
            <a:avLst/>
          </a:prstGeom>
          <a:ln>
            <a:solidFill>
              <a:srgbClr val="42D3E6"/>
            </a:solidFill>
            <a:round/>
          </a:ln>
        </p:spPr>
      </p:cxnSp>
      <p:sp>
        <p:nvSpPr>
          <p:cNvPr id="287" name="Rounded Rectangle 15"/>
          <p:cNvSpPr/>
          <p:nvPr/>
        </p:nvSpPr>
        <p:spPr>
          <a:xfrm>
            <a:off x="685800" y="3794760"/>
            <a:ext cx="5166000" cy="159984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8" name="Rounded Rectangle 16"/>
          <p:cNvSpPr/>
          <p:nvPr/>
        </p:nvSpPr>
        <p:spPr>
          <a:xfrm>
            <a:off x="960120" y="4041720"/>
            <a:ext cx="1096920" cy="292320"/>
          </a:xfrm>
          <a:prstGeom prst="roundRect">
            <a:avLst>
              <a:gd name="adj" fmla="val 16667"/>
            </a:avLst>
          </a:prstGeom>
          <a:solidFill>
            <a:srgbClr val="48E0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89" name="TextBox 17"/>
          <p:cNvSpPr/>
          <p:nvPr/>
        </p:nvSpPr>
        <p:spPr>
          <a:xfrm>
            <a:off x="996840" y="4060080"/>
            <a:ext cx="102384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AT STARTUP</a:t>
            </a:r>
            <a:endParaRPr lang="en-US" sz="900" b="0" u="none" strike="noStrike">
              <a:solidFill>
                <a:srgbClr val="FFFFFF"/>
              </a:solidFill>
              <a:effectLst/>
              <a:uFillTx/>
              <a:latin typeface="Arial"/>
            </a:endParaRPr>
          </a:p>
        </p:txBody>
      </p:sp>
      <p:sp>
        <p:nvSpPr>
          <p:cNvPr id="290" name="TextBox 18"/>
          <p:cNvSpPr/>
          <p:nvPr/>
        </p:nvSpPr>
        <p:spPr>
          <a:xfrm>
            <a:off x="960120" y="4526280"/>
            <a:ext cx="4480200" cy="5025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300" b="0" u="none" strike="noStrike">
                <a:solidFill>
                  <a:srgbClr val="F4F7FF"/>
                </a:solidFill>
                <a:effectLst/>
                <a:uFillTx/>
                <a:latin typeface="Aptos"/>
              </a:rPr>
              <a:t>Read mounted, read-only files; split into chunks; embed; build the in-memory index.</a:t>
            </a:r>
            <a:endParaRPr lang="en-US" sz="1300" b="0" u="none" strike="noStrike">
              <a:solidFill>
                <a:srgbClr val="FFFFFF"/>
              </a:solidFill>
              <a:effectLst/>
              <a:uFillTx/>
              <a:latin typeface="Arial"/>
            </a:endParaRPr>
          </a:p>
        </p:txBody>
      </p:sp>
      <p:sp>
        <p:nvSpPr>
          <p:cNvPr id="291" name="Rounded Rectangle 19"/>
          <p:cNvSpPr/>
          <p:nvPr/>
        </p:nvSpPr>
        <p:spPr>
          <a:xfrm>
            <a:off x="6263640" y="3794760"/>
            <a:ext cx="5166000" cy="159984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2" name="Rounded Rectangle 20"/>
          <p:cNvSpPr/>
          <p:nvPr/>
        </p:nvSpPr>
        <p:spPr>
          <a:xfrm>
            <a:off x="6537960" y="4041720"/>
            <a:ext cx="1325520" cy="292320"/>
          </a:xfrm>
          <a:prstGeom prst="roundRect">
            <a:avLst>
              <a:gd name="adj" fmla="val 16667"/>
            </a:avLst>
          </a:prstGeom>
          <a:solidFill>
            <a:srgbClr val="A07D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3" name="TextBox 21"/>
          <p:cNvSpPr/>
          <p:nvPr/>
        </p:nvSpPr>
        <p:spPr>
          <a:xfrm>
            <a:off x="6574680" y="4060080"/>
            <a:ext cx="125244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PER QUESTION</a:t>
            </a:r>
            <a:endParaRPr lang="en-US" sz="900" b="0" u="none" strike="noStrike">
              <a:solidFill>
                <a:srgbClr val="FFFFFF"/>
              </a:solidFill>
              <a:effectLst/>
              <a:uFillTx/>
              <a:latin typeface="Arial"/>
            </a:endParaRPr>
          </a:p>
        </p:txBody>
      </p:sp>
      <p:sp>
        <p:nvSpPr>
          <p:cNvPr id="294" name="TextBox 22"/>
          <p:cNvSpPr/>
          <p:nvPr/>
        </p:nvSpPr>
        <p:spPr>
          <a:xfrm>
            <a:off x="6537960" y="4526280"/>
            <a:ext cx="4480200" cy="5025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300" b="0" u="none" strike="noStrike">
                <a:solidFill>
                  <a:srgbClr val="F4F7FF"/>
                </a:solidFill>
                <a:effectLst/>
                <a:uFillTx/>
                <a:latin typeface="Aptos"/>
              </a:rPr>
              <a:t>Embed query; rank by cosine similarity; send best passages and titles to the chat route.</a:t>
            </a:r>
            <a:endParaRPr lang="en-US" sz="1300" b="0" u="none" strike="noStrike">
              <a:solidFill>
                <a:srgbClr val="FFFFFF"/>
              </a:solidFill>
              <a:effectLst/>
              <a:uFillTx/>
              <a:latin typeface="Arial"/>
            </a:endParaRPr>
          </a:p>
        </p:txBody>
      </p:sp>
      <p:sp>
        <p:nvSpPr>
          <p:cNvPr id="295" name="Rounded Rectangle 23"/>
          <p:cNvSpPr/>
          <p:nvPr/>
        </p:nvSpPr>
        <p:spPr>
          <a:xfrm>
            <a:off x="1097280" y="5715000"/>
            <a:ext cx="10012320" cy="502560"/>
          </a:xfrm>
          <a:prstGeom prst="roundRect">
            <a:avLst>
              <a:gd name="adj" fmla="val 16667"/>
            </a:avLst>
          </a:prstGeom>
          <a:solidFill>
            <a:srgbClr val="271F22"/>
          </a:solidFill>
          <a:ln w="12700">
            <a:solidFill>
              <a:srgbClr val="68493F"/>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296" name="TextBox 24"/>
          <p:cNvSpPr/>
          <p:nvPr/>
        </p:nvSpPr>
        <p:spPr>
          <a:xfrm>
            <a:off x="1325880" y="5843160"/>
            <a:ext cx="9509400" cy="200880"/>
          </a:xfrm>
          <a:prstGeom prst="rect">
            <a:avLst/>
          </a:prstGeom>
          <a:noFill/>
          <a:ln w="0">
            <a:noFill/>
          </a:ln>
        </p:spPr>
        <p:style>
          <a:lnRef idx="0"/>
          <a:fillRef idx="0"/>
          <a:effectRef idx="0"/>
          <a:fontRef idx="minor"/>
        </p:style>
        <p:txBody>
          <a:bodyPr lIns="36720" tIns="36720" rIns="36720" bIns="36720" anchor="t">
            <a:spAutoFit/>
          </a:bodyPr>
          <a:p>
            <a:pPr algn="ctr" defTabSz="457200">
              <a:lnSpc>
                <a:spcPct val="100000"/>
              </a:lnSpc>
              <a:spcAft>
                <a:spcPts val="400"/>
              </a:spcAft>
            </a:pPr>
            <a:r>
              <a:rPr lang="en-US" sz="1100" b="1" u="none" strike="noStrike">
                <a:solidFill>
                  <a:srgbClr val="FFB55B"/>
                </a:solidFill>
                <a:effectLst/>
                <a:uFillTx/>
                <a:latin typeface="Aptos"/>
              </a:rPr>
              <a:t>Operational note: empty corpus or embedding failure prevents startup; restart rebuilds and re-embeds the index.</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020"/>
        </a:solidFill>
      </p:bgPr>
    </p:bg>
    <p:spTree>
      <p:nvGrpSpPr>
        <p:cNvPr id="1" name=""/>
        <p:cNvGrpSpPr/>
        <p:nvPr/>
      </p:nvGrpSpPr>
      <p:grpSpPr>
        <a:xfrm>
          <a:off x="0" y="0"/>
          <a:ext cx="0" cy="0"/>
          <a:chOff x="0" y="0"/>
          <a:chExt cx="0" cy="0"/>
        </a:xfrm>
      </p:grpSpPr>
      <p:sp>
        <p:nvSpPr>
          <p:cNvPr id="297" name="TextBox 1"/>
          <p:cNvSpPr/>
          <p:nvPr/>
        </p:nvSpPr>
        <p:spPr>
          <a:xfrm>
            <a:off x="567000" y="320040"/>
            <a:ext cx="4937400" cy="2556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1" u="none" strike="noStrike">
                <a:solidFill>
                  <a:srgbClr val="42D3E6"/>
                </a:solidFill>
                <a:effectLst/>
                <a:uFillTx/>
                <a:latin typeface="Aptos"/>
              </a:rPr>
              <a:t>08 • REPEATABILITY</a:t>
            </a:r>
            <a:endParaRPr lang="en-US" sz="1000" b="0" u="none" strike="noStrike">
              <a:solidFill>
                <a:srgbClr val="FFFFFF"/>
              </a:solidFill>
              <a:effectLst/>
              <a:uFillTx/>
              <a:latin typeface="Arial"/>
            </a:endParaRPr>
          </a:p>
        </p:txBody>
      </p:sp>
      <p:sp>
        <p:nvSpPr>
          <p:cNvPr id="298" name="TextBox 2"/>
          <p:cNvSpPr/>
          <p:nvPr/>
        </p:nvSpPr>
        <p:spPr>
          <a:xfrm>
            <a:off x="567000" y="658440"/>
            <a:ext cx="10972440" cy="5025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2700" b="1" u="none" strike="noStrike">
                <a:solidFill>
                  <a:srgbClr val="F4F7FF"/>
                </a:solidFill>
                <a:effectLst/>
                <a:uFillTx/>
                <a:latin typeface="Aptos"/>
              </a:rPr>
              <a:t>Infrastructure as Code: repeatable environments</a:t>
            </a:r>
            <a:endParaRPr lang="en-US" sz="2700" b="0" u="none" strike="noStrike">
              <a:solidFill>
                <a:srgbClr val="FFFFFF"/>
              </a:solidFill>
              <a:effectLst/>
              <a:uFillTx/>
              <a:latin typeface="Arial"/>
            </a:endParaRPr>
          </a:p>
        </p:txBody>
      </p:sp>
      <p:sp>
        <p:nvSpPr>
          <p:cNvPr id="299" name="TextBox 3"/>
          <p:cNvSpPr/>
          <p:nvPr/>
        </p:nvSpPr>
        <p:spPr>
          <a:xfrm>
            <a:off x="585360" y="1197720"/>
            <a:ext cx="10972440" cy="3837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AEBBD3"/>
                </a:solidFill>
                <a:effectLst/>
                <a:uFillTx/>
                <a:latin typeface="Aptos"/>
              </a:rPr>
              <a:t>Describe the environment once, review changes, and provision it consistently.</a:t>
            </a:r>
            <a:endParaRPr lang="en-US" sz="1200" b="0" u="none" strike="noStrike">
              <a:solidFill>
                <a:srgbClr val="FFFFFF"/>
              </a:solidFill>
              <a:effectLst/>
              <a:uFillTx/>
              <a:latin typeface="Arial"/>
            </a:endParaRPr>
          </a:p>
        </p:txBody>
      </p:sp>
      <p:sp>
        <p:nvSpPr>
          <p:cNvPr id="300" name="Rectangle 4"/>
          <p:cNvSpPr/>
          <p:nvPr/>
        </p:nvSpPr>
        <p:spPr>
          <a:xfrm>
            <a:off x="585360" y="1664280"/>
            <a:ext cx="776880" cy="40680"/>
          </a:xfrm>
          <a:prstGeom prst="rect">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sp>
        <p:nvSpPr>
          <p:cNvPr id="301" name="TextBox 5"/>
          <p:cNvSpPr/>
          <p:nvPr/>
        </p:nvSpPr>
        <p:spPr>
          <a:xfrm>
            <a:off x="585360" y="6510600"/>
            <a:ext cx="6400440" cy="1641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800" b="1" u="none" strike="noStrike">
                <a:solidFill>
                  <a:srgbClr val="AEBBD3"/>
                </a:solidFill>
                <a:effectLst/>
                <a:uFillTx/>
                <a:latin typeface="Aptos"/>
              </a:rPr>
              <a:t>KONG CHATBOT ARCHITECTURE   •   08 / 10</a:t>
            </a:r>
            <a:endParaRPr lang="en-US" sz="800" b="0" u="none" strike="noStrike">
              <a:solidFill>
                <a:srgbClr val="FFFFFF"/>
              </a:solidFill>
              <a:effectLst/>
              <a:uFillTx/>
              <a:latin typeface="Arial"/>
            </a:endParaRPr>
          </a:p>
        </p:txBody>
      </p:sp>
      <p:sp>
        <p:nvSpPr>
          <p:cNvPr id="302" name="Rounded Rectangle 6"/>
          <p:cNvSpPr/>
          <p:nvPr/>
        </p:nvSpPr>
        <p:spPr>
          <a:xfrm>
            <a:off x="685800" y="2030040"/>
            <a:ext cx="3062880" cy="352008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3" name="Rounded Rectangle 7"/>
          <p:cNvSpPr/>
          <p:nvPr/>
        </p:nvSpPr>
        <p:spPr>
          <a:xfrm>
            <a:off x="960120" y="2304360"/>
            <a:ext cx="1051200" cy="292320"/>
          </a:xfrm>
          <a:prstGeom prst="roundRect">
            <a:avLst>
              <a:gd name="adj" fmla="val 16667"/>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4" name="TextBox 8"/>
          <p:cNvSpPr/>
          <p:nvPr/>
        </p:nvSpPr>
        <p:spPr>
          <a:xfrm>
            <a:off x="996840" y="2322720"/>
            <a:ext cx="97812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COMPOSE</a:t>
            </a:r>
            <a:endParaRPr lang="en-US" sz="900" b="0" u="none" strike="noStrike">
              <a:solidFill>
                <a:srgbClr val="FFFFFF"/>
              </a:solidFill>
              <a:effectLst/>
              <a:uFillTx/>
              <a:latin typeface="Arial"/>
            </a:endParaRPr>
          </a:p>
        </p:txBody>
      </p:sp>
      <p:sp>
        <p:nvSpPr>
          <p:cNvPr id="305" name="TextBox 9"/>
          <p:cNvSpPr/>
          <p:nvPr/>
        </p:nvSpPr>
        <p:spPr>
          <a:xfrm>
            <a:off x="960120" y="2880360"/>
            <a:ext cx="2468520" cy="3196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800" b="1" u="none" strike="noStrike">
                <a:solidFill>
                  <a:srgbClr val="F4F7FF"/>
                </a:solidFill>
                <a:effectLst/>
                <a:uFillTx/>
                <a:latin typeface="Aptos"/>
              </a:rPr>
              <a:t>Container stacks</a:t>
            </a:r>
            <a:endParaRPr lang="en-US" sz="1800" b="0" u="none" strike="noStrike">
              <a:solidFill>
                <a:srgbClr val="FFFFFF"/>
              </a:solidFill>
              <a:effectLst/>
              <a:uFillTx/>
              <a:latin typeface="Arial"/>
            </a:endParaRPr>
          </a:p>
        </p:txBody>
      </p:sp>
      <p:sp>
        <p:nvSpPr>
          <p:cNvPr id="306" name="TextBox 10"/>
          <p:cNvSpPr/>
          <p:nvPr/>
        </p:nvSpPr>
        <p:spPr>
          <a:xfrm>
            <a:off x="960120" y="3429000"/>
            <a:ext cx="2514240" cy="1508400"/>
          </a:xfrm>
          <a:prstGeom prst="rect">
            <a:avLst/>
          </a:prstGeom>
          <a:noFill/>
          <a:ln w="0">
            <a:noFill/>
          </a:ln>
        </p:spPr>
        <p:style>
          <a:lnRef idx="0"/>
          <a:fillRef idx="0"/>
          <a:effectRef idx="0"/>
          <a:fontRef idx="minor"/>
        </p:style>
        <p:txBody>
          <a:bodyPr lIns="45720" tIns="27360" rIns="45720" bIns="27360" anchor="t">
            <a:spAutoFit/>
          </a:bodyPr>
          <a:p>
            <a:pPr defTabSz="457200">
              <a:lnSpc>
                <a:spcPct val="100000"/>
              </a:lnSpc>
              <a:spcAft>
                <a:spcPts val="1001"/>
              </a:spcAft>
            </a:pPr>
            <a:r>
              <a:rPr lang="en-US" sz="1100" b="0" u="none" strike="noStrike">
                <a:solidFill>
                  <a:srgbClr val="42D3E6"/>
                </a:solidFill>
                <a:effectLst/>
                <a:uFillTx/>
                <a:latin typeface="Aptos"/>
              </a:rPr>
              <a:t>●  </a:t>
            </a:r>
            <a:r>
              <a:rPr lang="en-US" sz="1200" b="0" u="none" strike="noStrike">
                <a:solidFill>
                  <a:srgbClr val="F4F7FF"/>
                </a:solidFill>
                <a:effectLst/>
                <a:uFillTx/>
                <a:latin typeface="Aptos"/>
              </a:rPr>
              <a:t>Local and Konnect services</a:t>
            </a:r>
            <a:endParaRPr lang="en-US" sz="1200" b="0" u="none" strike="noStrike">
              <a:solidFill>
                <a:srgbClr val="FFFFFF"/>
              </a:solidFill>
              <a:effectLst/>
              <a:uFillTx/>
              <a:latin typeface="Arial"/>
            </a:endParaRPr>
          </a:p>
          <a:p>
            <a:pPr defTabSz="457200">
              <a:lnSpc>
                <a:spcPct val="100000"/>
              </a:lnSpc>
              <a:spcAft>
                <a:spcPts val="1001"/>
              </a:spcAft>
            </a:pPr>
            <a:r>
              <a:rPr lang="en-US" sz="1100" b="0" u="none" strike="noStrike">
                <a:solidFill>
                  <a:srgbClr val="42D3E6"/>
                </a:solidFill>
                <a:effectLst/>
                <a:uFillTx/>
                <a:latin typeface="Aptos"/>
              </a:rPr>
              <a:t>●  </a:t>
            </a:r>
            <a:r>
              <a:rPr lang="en-US" sz="1200" b="0" u="none" strike="noStrike">
                <a:solidFill>
                  <a:srgbClr val="F4F7FF"/>
                </a:solidFill>
                <a:effectLst/>
                <a:uFillTx/>
                <a:latin typeface="Aptos"/>
              </a:rPr>
              <a:t>Volumes, ports and environment</a:t>
            </a:r>
            <a:endParaRPr lang="en-US" sz="1200" b="0" u="none" strike="noStrike">
              <a:solidFill>
                <a:srgbClr val="FFFFFF"/>
              </a:solidFill>
              <a:effectLst/>
              <a:uFillTx/>
              <a:latin typeface="Arial"/>
            </a:endParaRPr>
          </a:p>
          <a:p>
            <a:pPr defTabSz="457200">
              <a:lnSpc>
                <a:spcPct val="100000"/>
              </a:lnSpc>
              <a:spcAft>
                <a:spcPts val="1001"/>
              </a:spcAft>
            </a:pPr>
            <a:r>
              <a:rPr lang="en-US" sz="1100" b="0" u="none" strike="noStrike">
                <a:solidFill>
                  <a:srgbClr val="42D3E6"/>
                </a:solidFill>
                <a:effectLst/>
                <a:uFillTx/>
                <a:latin typeface="Aptos"/>
              </a:rPr>
              <a:t>●  </a:t>
            </a:r>
            <a:r>
              <a:rPr lang="en-US" sz="1200" b="0" u="none" strike="noStrike">
                <a:solidFill>
                  <a:srgbClr val="F4F7FF"/>
                </a:solidFill>
                <a:effectLst/>
                <a:uFillTx/>
                <a:latin typeface="Aptos"/>
              </a:rPr>
              <a:t>Mode-specific container settings</a:t>
            </a:r>
            <a:endParaRPr lang="en-US" sz="1200" b="0" u="none" strike="noStrike">
              <a:solidFill>
                <a:srgbClr val="FFFFFF"/>
              </a:solidFill>
              <a:effectLst/>
              <a:uFillTx/>
              <a:latin typeface="Arial"/>
            </a:endParaRPr>
          </a:p>
        </p:txBody>
      </p:sp>
      <p:sp>
        <p:nvSpPr>
          <p:cNvPr id="307" name="Rounded Rectangle 11"/>
          <p:cNvSpPr/>
          <p:nvPr/>
        </p:nvSpPr>
        <p:spPr>
          <a:xfrm>
            <a:off x="4526280" y="2030040"/>
            <a:ext cx="3062880" cy="352008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8" name="Rounded Rectangle 12"/>
          <p:cNvSpPr/>
          <p:nvPr/>
        </p:nvSpPr>
        <p:spPr>
          <a:xfrm>
            <a:off x="4800600" y="2304360"/>
            <a:ext cx="1234080" cy="292320"/>
          </a:xfrm>
          <a:prstGeom prst="roundRect">
            <a:avLst>
              <a:gd name="adj" fmla="val 16667"/>
            </a:avLst>
          </a:prstGeom>
          <a:solidFill>
            <a:srgbClr val="A07DFF"/>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09" name="TextBox 13"/>
          <p:cNvSpPr/>
          <p:nvPr/>
        </p:nvSpPr>
        <p:spPr>
          <a:xfrm>
            <a:off x="4837320" y="2322720"/>
            <a:ext cx="116100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TERRAFORM</a:t>
            </a:r>
            <a:endParaRPr lang="en-US" sz="900" b="0" u="none" strike="noStrike">
              <a:solidFill>
                <a:srgbClr val="FFFFFF"/>
              </a:solidFill>
              <a:effectLst/>
              <a:uFillTx/>
              <a:latin typeface="Arial"/>
            </a:endParaRPr>
          </a:p>
        </p:txBody>
      </p:sp>
      <p:sp>
        <p:nvSpPr>
          <p:cNvPr id="310" name="TextBox 14"/>
          <p:cNvSpPr/>
          <p:nvPr/>
        </p:nvSpPr>
        <p:spPr>
          <a:xfrm>
            <a:off x="4800600" y="2880360"/>
            <a:ext cx="2468520" cy="3196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800" b="1" u="none" strike="noStrike">
                <a:solidFill>
                  <a:srgbClr val="F4F7FF"/>
                </a:solidFill>
                <a:effectLst/>
                <a:uFillTx/>
                <a:latin typeface="Aptos"/>
              </a:rPr>
              <a:t>Declarative resources</a:t>
            </a:r>
            <a:endParaRPr lang="en-US" sz="1800" b="0" u="none" strike="noStrike">
              <a:solidFill>
                <a:srgbClr val="FFFFFF"/>
              </a:solidFill>
              <a:effectLst/>
              <a:uFillTx/>
              <a:latin typeface="Arial"/>
            </a:endParaRPr>
          </a:p>
        </p:txBody>
      </p:sp>
      <p:sp>
        <p:nvSpPr>
          <p:cNvPr id="311" name="TextBox 15"/>
          <p:cNvSpPr/>
          <p:nvPr/>
        </p:nvSpPr>
        <p:spPr>
          <a:xfrm>
            <a:off x="4800600" y="3429000"/>
            <a:ext cx="2514240" cy="1508400"/>
          </a:xfrm>
          <a:prstGeom prst="rect">
            <a:avLst/>
          </a:prstGeom>
          <a:noFill/>
          <a:ln w="0">
            <a:noFill/>
          </a:ln>
        </p:spPr>
        <p:style>
          <a:lnRef idx="0"/>
          <a:fillRef idx="0"/>
          <a:effectRef idx="0"/>
          <a:fontRef idx="minor"/>
        </p:style>
        <p:txBody>
          <a:bodyPr lIns="45720" tIns="27360" rIns="45720" bIns="27360" anchor="t">
            <a:spAutoFit/>
          </a:bodyPr>
          <a:p>
            <a:pPr defTabSz="457200">
              <a:lnSpc>
                <a:spcPct val="100000"/>
              </a:lnSpc>
              <a:spcAft>
                <a:spcPts val="1001"/>
              </a:spcAft>
            </a:pPr>
            <a:r>
              <a:rPr lang="en-US" sz="1100" b="0" u="none" strike="noStrike">
                <a:solidFill>
                  <a:srgbClr val="A07DFF"/>
                </a:solidFill>
                <a:effectLst/>
                <a:uFillTx/>
                <a:latin typeface="Aptos"/>
              </a:rPr>
              <a:t>●  </a:t>
            </a:r>
            <a:r>
              <a:rPr lang="en-US" sz="1200" b="0" u="none" strike="noStrike">
                <a:solidFill>
                  <a:srgbClr val="F4F7FF"/>
                </a:solidFill>
                <a:effectLst/>
                <a:uFillTx/>
                <a:latin typeface="Aptos"/>
              </a:rPr>
              <a:t>Docker networks + images</a:t>
            </a:r>
            <a:endParaRPr lang="en-US" sz="1200" b="0" u="none" strike="noStrike">
              <a:solidFill>
                <a:srgbClr val="FFFFFF"/>
              </a:solidFill>
              <a:effectLst/>
              <a:uFillTx/>
              <a:latin typeface="Arial"/>
            </a:endParaRPr>
          </a:p>
          <a:p>
            <a:pPr defTabSz="457200">
              <a:lnSpc>
                <a:spcPct val="100000"/>
              </a:lnSpc>
              <a:spcAft>
                <a:spcPts val="1001"/>
              </a:spcAft>
            </a:pPr>
            <a:r>
              <a:rPr lang="en-US" sz="1100" b="0" u="none" strike="noStrike">
                <a:solidFill>
                  <a:srgbClr val="A07DFF"/>
                </a:solidFill>
                <a:effectLst/>
                <a:uFillTx/>
                <a:latin typeface="Aptos"/>
              </a:rPr>
              <a:t>●  </a:t>
            </a:r>
            <a:r>
              <a:rPr lang="en-US" sz="1200" b="0" u="none" strike="noStrike">
                <a:solidFill>
                  <a:srgbClr val="F4F7FF"/>
                </a:solidFill>
                <a:effectLst/>
                <a:uFillTx/>
                <a:latin typeface="Aptos"/>
              </a:rPr>
              <a:t>Containers, volumes and ports</a:t>
            </a:r>
            <a:endParaRPr lang="en-US" sz="1200" b="0" u="none" strike="noStrike">
              <a:solidFill>
                <a:srgbClr val="FFFFFF"/>
              </a:solidFill>
              <a:effectLst/>
              <a:uFillTx/>
              <a:latin typeface="Arial"/>
            </a:endParaRPr>
          </a:p>
          <a:p>
            <a:pPr defTabSz="457200">
              <a:lnSpc>
                <a:spcPct val="100000"/>
              </a:lnSpc>
              <a:spcAft>
                <a:spcPts val="1001"/>
              </a:spcAft>
            </a:pPr>
            <a:r>
              <a:rPr lang="en-US" sz="1100" b="0" u="none" strike="noStrike">
                <a:solidFill>
                  <a:srgbClr val="A07DFF"/>
                </a:solidFill>
                <a:effectLst/>
                <a:uFillTx/>
                <a:latin typeface="Aptos"/>
              </a:rPr>
              <a:t>●  </a:t>
            </a:r>
            <a:r>
              <a:rPr lang="en-US" sz="1200" b="0" u="none" strike="noStrike">
                <a:solidFill>
                  <a:srgbClr val="F4F7FF"/>
                </a:solidFill>
                <a:effectLst/>
                <a:uFillTx/>
                <a:latin typeface="Aptos"/>
              </a:rPr>
              <a:t>Variable selects local / Konnect</a:t>
            </a:r>
            <a:endParaRPr lang="en-US" sz="1200" b="0" u="none" strike="noStrike">
              <a:solidFill>
                <a:srgbClr val="FFFFFF"/>
              </a:solidFill>
              <a:effectLst/>
              <a:uFillTx/>
              <a:latin typeface="Arial"/>
            </a:endParaRPr>
          </a:p>
        </p:txBody>
      </p:sp>
      <p:sp>
        <p:nvSpPr>
          <p:cNvPr id="312" name="Rounded Rectangle 16"/>
          <p:cNvSpPr/>
          <p:nvPr/>
        </p:nvSpPr>
        <p:spPr>
          <a:xfrm>
            <a:off x="8366760" y="2030040"/>
            <a:ext cx="3062880" cy="3520080"/>
          </a:xfrm>
          <a:prstGeom prst="roundRect">
            <a:avLst>
              <a:gd name="adj" fmla="val 16667"/>
            </a:avLst>
          </a:prstGeom>
          <a:solidFill>
            <a:srgbClr val="112427"/>
          </a:solidFill>
          <a:ln w="12700">
            <a:solidFill>
              <a:srgbClr val="48E0B8"/>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3" name="Rounded Rectangle 17"/>
          <p:cNvSpPr/>
          <p:nvPr/>
        </p:nvSpPr>
        <p:spPr>
          <a:xfrm>
            <a:off x="8641080" y="2304360"/>
            <a:ext cx="1416960" cy="292320"/>
          </a:xfrm>
          <a:prstGeom prst="roundRect">
            <a:avLst>
              <a:gd name="adj" fmla="val 16667"/>
            </a:avLst>
          </a:prstGeom>
          <a:solidFill>
            <a:srgbClr val="48E0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4" name="TextBox 18"/>
          <p:cNvSpPr/>
          <p:nvPr/>
        </p:nvSpPr>
        <p:spPr>
          <a:xfrm>
            <a:off x="8677800" y="2322720"/>
            <a:ext cx="134388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MAKE TARGETS</a:t>
            </a:r>
            <a:endParaRPr lang="en-US" sz="900" b="0" u="none" strike="noStrike">
              <a:solidFill>
                <a:srgbClr val="FFFFFF"/>
              </a:solidFill>
              <a:effectLst/>
              <a:uFillTx/>
              <a:latin typeface="Arial"/>
            </a:endParaRPr>
          </a:p>
        </p:txBody>
      </p:sp>
      <p:sp>
        <p:nvSpPr>
          <p:cNvPr id="315" name="TextBox 19"/>
          <p:cNvSpPr/>
          <p:nvPr/>
        </p:nvSpPr>
        <p:spPr>
          <a:xfrm>
            <a:off x="8641080" y="2880360"/>
            <a:ext cx="2468520" cy="3196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800" b="1" u="none" strike="noStrike">
                <a:solidFill>
                  <a:srgbClr val="F4F7FF"/>
                </a:solidFill>
                <a:effectLst/>
                <a:uFillTx/>
                <a:latin typeface="Aptos"/>
              </a:rPr>
              <a:t>Simple workflows</a:t>
            </a:r>
            <a:endParaRPr lang="en-US" sz="1800" b="0" u="none" strike="noStrike">
              <a:solidFill>
                <a:srgbClr val="FFFFFF"/>
              </a:solidFill>
              <a:effectLst/>
              <a:uFillTx/>
              <a:latin typeface="Arial"/>
            </a:endParaRPr>
          </a:p>
        </p:txBody>
      </p:sp>
      <p:sp>
        <p:nvSpPr>
          <p:cNvPr id="316" name="TextBox 20"/>
          <p:cNvSpPr/>
          <p:nvPr/>
        </p:nvSpPr>
        <p:spPr>
          <a:xfrm>
            <a:off x="8641080" y="3429000"/>
            <a:ext cx="2422800" cy="7768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F4F7FF"/>
                </a:solidFill>
                <a:effectLst/>
                <a:uFillTx/>
                <a:latin typeface="Aptos"/>
              </a:rPr>
              <a:t>make terraform-up</a:t>
            </a:r>
            <a:endParaRPr lang="en-US" sz="1200" b="0" u="none" strike="noStrike">
              <a:solidFill>
                <a:srgbClr val="FFFFFF"/>
              </a:solidFill>
              <a:effectLst/>
              <a:uFillTx/>
              <a:latin typeface="Arial"/>
            </a:endParaRPr>
          </a:p>
          <a:p>
            <a:pPr defTabSz="457200">
              <a:lnSpc>
                <a:spcPct val="100000"/>
              </a:lnSpc>
              <a:spcAft>
                <a:spcPts val="400"/>
              </a:spcAft>
            </a:pPr>
            <a:endParaRPr lang="en-US" sz="1200" b="0" u="none" strike="noStrike">
              <a:solidFill>
                <a:srgbClr val="FFFFFF"/>
              </a:solidFill>
              <a:effectLst/>
              <a:uFillTx/>
              <a:latin typeface="Arial"/>
            </a:endParaRPr>
          </a:p>
          <a:p>
            <a:pPr defTabSz="457200">
              <a:lnSpc>
                <a:spcPct val="100000"/>
              </a:lnSpc>
              <a:spcAft>
                <a:spcPts val="400"/>
              </a:spcAft>
            </a:pPr>
            <a:r>
              <a:rPr lang="en-US" sz="1200" b="0" u="none" strike="noStrike">
                <a:solidFill>
                  <a:srgbClr val="F4F7FF"/>
                </a:solidFill>
                <a:effectLst/>
                <a:uFillTx/>
                <a:latin typeface="Aptos"/>
              </a:rPr>
              <a:t>Apply configuration and wait for API readiness.</a:t>
            </a:r>
            <a:endParaRPr lang="en-US" sz="1200" b="0" u="none" strike="noStrike">
              <a:solidFill>
                <a:srgbClr val="FFFFFF"/>
              </a:solidFill>
              <a:effectLst/>
              <a:uFillTx/>
              <a:latin typeface="Arial"/>
            </a:endParaRPr>
          </a:p>
        </p:txBody>
      </p:sp>
      <p:sp>
        <p:nvSpPr>
          <p:cNvPr id="317" name="TextBox 21"/>
          <p:cNvSpPr/>
          <p:nvPr/>
        </p:nvSpPr>
        <p:spPr>
          <a:xfrm>
            <a:off x="8641080" y="4389120"/>
            <a:ext cx="2422800" cy="7768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F4F7FF"/>
                </a:solidFill>
                <a:effectLst/>
                <a:uFillTx/>
                <a:latin typeface="Aptos"/>
              </a:rPr>
              <a:t>make terraform-down</a:t>
            </a:r>
            <a:endParaRPr lang="en-US" sz="1200" b="0" u="none" strike="noStrike">
              <a:solidFill>
                <a:srgbClr val="FFFFFF"/>
              </a:solidFill>
              <a:effectLst/>
              <a:uFillTx/>
              <a:latin typeface="Arial"/>
            </a:endParaRPr>
          </a:p>
          <a:p>
            <a:pPr defTabSz="457200">
              <a:lnSpc>
                <a:spcPct val="100000"/>
              </a:lnSpc>
              <a:spcAft>
                <a:spcPts val="400"/>
              </a:spcAft>
            </a:pPr>
            <a:endParaRPr lang="en-US" sz="1200" b="0" u="none" strike="noStrike">
              <a:solidFill>
                <a:srgbClr val="FFFFFF"/>
              </a:solidFill>
              <a:effectLst/>
              <a:uFillTx/>
              <a:latin typeface="Arial"/>
            </a:endParaRPr>
          </a:p>
          <a:p>
            <a:pPr defTabSz="457200">
              <a:lnSpc>
                <a:spcPct val="100000"/>
              </a:lnSpc>
              <a:spcAft>
                <a:spcPts val="400"/>
              </a:spcAft>
            </a:pPr>
            <a:r>
              <a:rPr lang="en-US" sz="1200" b="0" u="none" strike="noStrike">
                <a:solidFill>
                  <a:srgbClr val="F4F7FF"/>
                </a:solidFill>
                <a:effectLst/>
                <a:uFillTx/>
                <a:latin typeface="Aptos"/>
              </a:rPr>
              <a:t>Remove Terraform-managed resources.</a:t>
            </a:r>
            <a:endParaRPr lang="en-US" sz="1200" b="0" u="none" strike="noStrike">
              <a:solidFill>
                <a:srgbClr val="FFFFFF"/>
              </a:solidFill>
              <a:effectLst/>
              <a:uFillTx/>
              <a:latin typeface="Arial"/>
            </a:endParaRPr>
          </a:p>
        </p:txBody>
      </p:sp>
      <p:sp>
        <p:nvSpPr>
          <p:cNvPr id="318" name="Rounded Rectangle 22"/>
          <p:cNvSpPr/>
          <p:nvPr/>
        </p:nvSpPr>
        <p:spPr>
          <a:xfrm>
            <a:off x="1005840" y="5779080"/>
            <a:ext cx="10149480" cy="438480"/>
          </a:xfrm>
          <a:prstGeom prst="roundRect">
            <a:avLst>
              <a:gd name="adj" fmla="val 16667"/>
            </a:avLst>
          </a:prstGeom>
          <a:solidFill>
            <a:srgbClr val="26201A"/>
          </a:solidFill>
          <a:ln w="12700">
            <a:solidFill>
              <a:srgbClr val="6E583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19" name="TextBox 23"/>
          <p:cNvSpPr/>
          <p:nvPr/>
        </p:nvSpPr>
        <p:spPr>
          <a:xfrm>
            <a:off x="1234440" y="5879520"/>
            <a:ext cx="9692280" cy="182520"/>
          </a:xfrm>
          <a:prstGeom prst="rect">
            <a:avLst/>
          </a:prstGeom>
          <a:noFill/>
          <a:ln w="0">
            <a:noFill/>
          </a:ln>
        </p:spPr>
        <p:style>
          <a:lnRef idx="0"/>
          <a:fillRef idx="0"/>
          <a:effectRef idx="0"/>
          <a:fontRef idx="minor"/>
        </p:style>
        <p:txBody>
          <a:bodyPr lIns="36720" tIns="36720" rIns="36720" bIns="36720" anchor="t">
            <a:spAutoFit/>
          </a:bodyPr>
          <a:p>
            <a:pPr algn="ctr" defTabSz="457200">
              <a:lnSpc>
                <a:spcPct val="100000"/>
              </a:lnSpc>
              <a:spcAft>
                <a:spcPts val="400"/>
              </a:spcAft>
            </a:pPr>
            <a:r>
              <a:rPr lang="en-US" sz="1100" b="1" u="none" strike="noStrike">
                <a:solidFill>
                  <a:srgbClr val="FFB55B"/>
                </a:solidFill>
                <a:effectLst/>
                <a:uFillTx/>
                <a:latin typeface="Aptos"/>
              </a:rPr>
              <a:t>Run `terraform plan` before apply. Current provider targets Docker; cloud deployment needs platform-specific resources.</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020"/>
        </a:solidFill>
      </p:bgPr>
    </p:bg>
    <p:spTree>
      <p:nvGrpSpPr>
        <p:cNvPr id="1" name=""/>
        <p:cNvGrpSpPr/>
        <p:nvPr/>
      </p:nvGrpSpPr>
      <p:grpSpPr>
        <a:xfrm>
          <a:off x="0" y="0"/>
          <a:ext cx="0" cy="0"/>
          <a:chOff x="0" y="0"/>
          <a:chExt cx="0" cy="0"/>
        </a:xfrm>
      </p:grpSpPr>
      <p:sp>
        <p:nvSpPr>
          <p:cNvPr id="320" name="TextBox 1"/>
          <p:cNvSpPr/>
          <p:nvPr/>
        </p:nvSpPr>
        <p:spPr>
          <a:xfrm>
            <a:off x="567000" y="320040"/>
            <a:ext cx="4937400" cy="2556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1" u="none" strike="noStrike">
                <a:solidFill>
                  <a:srgbClr val="42D3E6"/>
                </a:solidFill>
                <a:effectLst/>
                <a:uFillTx/>
                <a:latin typeface="Aptos"/>
              </a:rPr>
              <a:t>09 • SECURITY &amp; OPERATIONS</a:t>
            </a:r>
            <a:endParaRPr lang="en-US" sz="1000" b="0" u="none" strike="noStrike">
              <a:solidFill>
                <a:srgbClr val="FFFFFF"/>
              </a:solidFill>
              <a:effectLst/>
              <a:uFillTx/>
              <a:latin typeface="Arial"/>
            </a:endParaRPr>
          </a:p>
        </p:txBody>
      </p:sp>
      <p:sp>
        <p:nvSpPr>
          <p:cNvPr id="321" name="TextBox 2"/>
          <p:cNvSpPr/>
          <p:nvPr/>
        </p:nvSpPr>
        <p:spPr>
          <a:xfrm>
            <a:off x="567000" y="658440"/>
            <a:ext cx="10972440" cy="5025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2700" b="1" u="none" strike="noStrike">
                <a:solidFill>
                  <a:srgbClr val="F4F7FF"/>
                </a:solidFill>
                <a:effectLst/>
                <a:uFillTx/>
                <a:latin typeface="Aptos"/>
              </a:rPr>
              <a:t>Operations, trust boundaries, and production gaps</a:t>
            </a:r>
            <a:endParaRPr lang="en-US" sz="2700" b="0" u="none" strike="noStrike">
              <a:solidFill>
                <a:srgbClr val="FFFFFF"/>
              </a:solidFill>
              <a:effectLst/>
              <a:uFillTx/>
              <a:latin typeface="Arial"/>
            </a:endParaRPr>
          </a:p>
        </p:txBody>
      </p:sp>
      <p:sp>
        <p:nvSpPr>
          <p:cNvPr id="322" name="TextBox 3"/>
          <p:cNvSpPr/>
          <p:nvPr/>
        </p:nvSpPr>
        <p:spPr>
          <a:xfrm>
            <a:off x="585360" y="1197720"/>
            <a:ext cx="10972440" cy="3837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AEBBD3"/>
                </a:solidFill>
                <a:effectLst/>
                <a:uFillTx/>
                <a:latin typeface="Aptos"/>
              </a:rPr>
              <a:t>A successful smoke test proves a path works — not that it is production-secure.</a:t>
            </a:r>
            <a:endParaRPr lang="en-US" sz="1200" b="0" u="none" strike="noStrike">
              <a:solidFill>
                <a:srgbClr val="FFFFFF"/>
              </a:solidFill>
              <a:effectLst/>
              <a:uFillTx/>
              <a:latin typeface="Arial"/>
            </a:endParaRPr>
          </a:p>
        </p:txBody>
      </p:sp>
      <p:sp>
        <p:nvSpPr>
          <p:cNvPr id="323" name="Rectangle 4"/>
          <p:cNvSpPr/>
          <p:nvPr/>
        </p:nvSpPr>
        <p:spPr>
          <a:xfrm>
            <a:off x="585360" y="1664280"/>
            <a:ext cx="776880" cy="40680"/>
          </a:xfrm>
          <a:prstGeom prst="rect">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sp>
        <p:nvSpPr>
          <p:cNvPr id="324" name="TextBox 5"/>
          <p:cNvSpPr/>
          <p:nvPr/>
        </p:nvSpPr>
        <p:spPr>
          <a:xfrm>
            <a:off x="585360" y="6510600"/>
            <a:ext cx="6400440" cy="1641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800" b="1" u="none" strike="noStrike">
                <a:solidFill>
                  <a:srgbClr val="AEBBD3"/>
                </a:solidFill>
                <a:effectLst/>
                <a:uFillTx/>
                <a:latin typeface="Aptos"/>
              </a:rPr>
              <a:t>KONG CHATBOT ARCHITECTURE   •   09 / 10</a:t>
            </a:r>
            <a:endParaRPr lang="en-US" sz="800" b="0" u="none" strike="noStrike">
              <a:solidFill>
                <a:srgbClr val="FFFFFF"/>
              </a:solidFill>
              <a:effectLst/>
              <a:uFillTx/>
              <a:latin typeface="Arial"/>
            </a:endParaRPr>
          </a:p>
        </p:txBody>
      </p:sp>
      <p:sp>
        <p:nvSpPr>
          <p:cNvPr id="325" name="Rounded Rectangle 6"/>
          <p:cNvSpPr/>
          <p:nvPr/>
        </p:nvSpPr>
        <p:spPr>
          <a:xfrm>
            <a:off x="640080" y="1993320"/>
            <a:ext cx="5348880" cy="361152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6" name="Rounded Rectangle 7"/>
          <p:cNvSpPr/>
          <p:nvPr/>
        </p:nvSpPr>
        <p:spPr>
          <a:xfrm>
            <a:off x="914400" y="2286000"/>
            <a:ext cx="1737000" cy="292320"/>
          </a:xfrm>
          <a:prstGeom prst="roundRect">
            <a:avLst>
              <a:gd name="adj" fmla="val 16667"/>
            </a:avLst>
          </a:prstGeom>
          <a:solidFill>
            <a:srgbClr val="48E0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27" name="TextBox 8"/>
          <p:cNvSpPr/>
          <p:nvPr/>
        </p:nvSpPr>
        <p:spPr>
          <a:xfrm>
            <a:off x="951120" y="2304360"/>
            <a:ext cx="166392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CURRENT SAFEGUARDS</a:t>
            </a:r>
            <a:endParaRPr lang="en-US" sz="900" b="0" u="none" strike="noStrike">
              <a:solidFill>
                <a:srgbClr val="FFFFFF"/>
              </a:solidFill>
              <a:effectLst/>
              <a:uFillTx/>
              <a:latin typeface="Arial"/>
            </a:endParaRPr>
          </a:p>
        </p:txBody>
      </p:sp>
      <p:sp>
        <p:nvSpPr>
          <p:cNvPr id="328" name="TextBox 9"/>
          <p:cNvSpPr/>
          <p:nvPr/>
        </p:nvSpPr>
        <p:spPr>
          <a:xfrm>
            <a:off x="914400" y="2788920"/>
            <a:ext cx="4708800" cy="2422800"/>
          </a:xfrm>
          <a:prstGeom prst="rect">
            <a:avLst/>
          </a:prstGeom>
          <a:noFill/>
          <a:ln w="0">
            <a:noFill/>
          </a:ln>
        </p:spPr>
        <p:style>
          <a:lnRef idx="0"/>
          <a:fillRef idx="0"/>
          <a:effectRef idx="0"/>
          <a:fontRef idx="minor"/>
        </p:style>
        <p:txBody>
          <a:bodyPr lIns="45720" tIns="27360" rIns="45720" bIns="27360" anchor="t">
            <a:spAutoFit/>
          </a:bodyPr>
          <a:p>
            <a:pPr defTabSz="457200">
              <a:lnSpc>
                <a:spcPct val="100000"/>
              </a:lnSpc>
              <a:spcAft>
                <a:spcPts val="901"/>
              </a:spcAft>
            </a:pPr>
            <a:r>
              <a:rPr lang="en-US" sz="1100" b="0" u="none" strike="noStrike">
                <a:solidFill>
                  <a:srgbClr val="48E0B8"/>
                </a:solidFill>
                <a:effectLst/>
                <a:uFillTx/>
                <a:latin typeface="Aptos"/>
              </a:rPr>
              <a:t>●  </a:t>
            </a:r>
            <a:r>
              <a:rPr lang="en-US" sz="1200" b="1" u="none" strike="noStrike">
                <a:solidFill>
                  <a:srgbClr val="F4F7FF"/>
                </a:solidFill>
                <a:effectLst/>
                <a:uFillTx/>
                <a:latin typeface="Aptos"/>
              </a:rPr>
              <a:t>Loopback binding. </a:t>
            </a:r>
            <a:r>
              <a:rPr lang="en-US" sz="1200" b="0" u="none" strike="noStrike">
                <a:solidFill>
                  <a:srgbClr val="F4F7FF"/>
                </a:solidFill>
                <a:effectLst/>
                <a:uFillTx/>
                <a:latin typeface="Aptos"/>
              </a:rPr>
              <a:t>Local published ports bind to localhost.</a:t>
            </a:r>
            <a:endParaRPr lang="en-US" sz="1200" b="0" u="none" strike="noStrike">
              <a:solidFill>
                <a:srgbClr val="FFFFFF"/>
              </a:solidFill>
              <a:effectLst/>
              <a:uFillTx/>
              <a:latin typeface="Arial"/>
            </a:endParaRPr>
          </a:p>
          <a:p>
            <a:pPr defTabSz="457200">
              <a:lnSpc>
                <a:spcPct val="100000"/>
              </a:lnSpc>
              <a:spcAft>
                <a:spcPts val="901"/>
              </a:spcAft>
            </a:pPr>
            <a:r>
              <a:rPr lang="en-US" sz="1100" b="0" u="none" strike="noStrike">
                <a:solidFill>
                  <a:srgbClr val="48E0B8"/>
                </a:solidFill>
                <a:effectLst/>
                <a:uFillTx/>
                <a:latin typeface="Aptos"/>
              </a:rPr>
              <a:t>●  </a:t>
            </a:r>
            <a:r>
              <a:rPr lang="en-US" sz="1200" b="1" u="none" strike="noStrike">
                <a:solidFill>
                  <a:srgbClr val="F4F7FF"/>
                </a:solidFill>
                <a:effectLst/>
                <a:uFillTx/>
                <a:latin typeface="Aptos"/>
              </a:rPr>
              <a:t>Reduced exposure. </a:t>
            </a:r>
            <a:r>
              <a:rPr lang="en-US" sz="1200" b="0" u="none" strike="noStrike">
                <a:solidFill>
                  <a:srgbClr val="F4F7FF"/>
                </a:solidFill>
                <a:effectLst/>
                <a:uFillTx/>
                <a:latin typeface="Aptos"/>
              </a:rPr>
              <a:t>Admin API and Redis are not published to the host in the provided stacks.</a:t>
            </a:r>
            <a:endParaRPr lang="en-US" sz="1200" b="0" u="none" strike="noStrike">
              <a:solidFill>
                <a:srgbClr val="FFFFFF"/>
              </a:solidFill>
              <a:effectLst/>
              <a:uFillTx/>
              <a:latin typeface="Arial"/>
            </a:endParaRPr>
          </a:p>
          <a:p>
            <a:pPr defTabSz="457200">
              <a:lnSpc>
                <a:spcPct val="100000"/>
              </a:lnSpc>
              <a:spcAft>
                <a:spcPts val="901"/>
              </a:spcAft>
            </a:pPr>
            <a:r>
              <a:rPr lang="en-US" sz="1100" b="0" u="none" strike="noStrike">
                <a:solidFill>
                  <a:srgbClr val="48E0B8"/>
                </a:solidFill>
                <a:effectLst/>
                <a:uFillTx/>
                <a:latin typeface="Aptos"/>
              </a:rPr>
              <a:t>●  </a:t>
            </a:r>
            <a:r>
              <a:rPr lang="en-US" sz="1200" b="1" u="none" strike="noStrike">
                <a:solidFill>
                  <a:srgbClr val="F4F7FF"/>
                </a:solidFill>
                <a:effectLst/>
                <a:uFillTx/>
                <a:latin typeface="Aptos"/>
              </a:rPr>
              <a:t>Explicit trust boundaries. </a:t>
            </a:r>
            <a:r>
              <a:rPr lang="en-US" sz="1200" b="0" u="none" strike="noStrike">
                <a:solidFill>
                  <a:srgbClr val="F4F7FF"/>
                </a:solidFill>
                <a:effectLst/>
                <a:uFillTx/>
                <a:latin typeface="Aptos"/>
              </a:rPr>
              <a:t>Konnect ingestion sends documents to the external embedding provider.</a:t>
            </a:r>
            <a:endParaRPr lang="en-US" sz="1200" b="0" u="none" strike="noStrike">
              <a:solidFill>
                <a:srgbClr val="FFFFFF"/>
              </a:solidFill>
              <a:effectLst/>
              <a:uFillTx/>
              <a:latin typeface="Arial"/>
            </a:endParaRPr>
          </a:p>
          <a:p>
            <a:pPr defTabSz="457200">
              <a:lnSpc>
                <a:spcPct val="100000"/>
              </a:lnSpc>
              <a:spcAft>
                <a:spcPts val="901"/>
              </a:spcAft>
            </a:pPr>
            <a:r>
              <a:rPr lang="en-US" sz="1100" b="0" u="none" strike="noStrike">
                <a:solidFill>
                  <a:srgbClr val="48E0B8"/>
                </a:solidFill>
                <a:effectLst/>
                <a:uFillTx/>
                <a:latin typeface="Aptos"/>
              </a:rPr>
              <a:t>●  </a:t>
            </a:r>
            <a:r>
              <a:rPr lang="en-US" sz="1200" b="1" u="none" strike="noStrike">
                <a:solidFill>
                  <a:srgbClr val="F4F7FF"/>
                </a:solidFill>
                <a:effectLst/>
                <a:uFillTx/>
                <a:latin typeface="Aptos"/>
              </a:rPr>
              <a:t>Private state. </a:t>
            </a:r>
            <a:r>
              <a:rPr lang="en-US" sz="1200" b="0" u="none" strike="noStrike">
                <a:solidFill>
                  <a:srgbClr val="F4F7FF"/>
                </a:solidFill>
                <a:effectLst/>
                <a:uFillTx/>
                <a:latin typeface="Aptos"/>
              </a:rPr>
              <a:t>Terraform state contains the Redis password; protect credentials and certificates.</a:t>
            </a:r>
            <a:endParaRPr lang="en-US" sz="1200" b="0" u="none" strike="noStrike">
              <a:solidFill>
                <a:srgbClr val="FFFFFF"/>
              </a:solidFill>
              <a:effectLst/>
              <a:uFillTx/>
              <a:latin typeface="Arial"/>
            </a:endParaRPr>
          </a:p>
        </p:txBody>
      </p:sp>
      <p:sp>
        <p:nvSpPr>
          <p:cNvPr id="329" name="Rounded Rectangle 10"/>
          <p:cNvSpPr/>
          <p:nvPr/>
        </p:nvSpPr>
        <p:spPr>
          <a:xfrm>
            <a:off x="6263640" y="1993320"/>
            <a:ext cx="5303160" cy="3611520"/>
          </a:xfrm>
          <a:prstGeom prst="roundRect">
            <a:avLst>
              <a:gd name="adj" fmla="val 16667"/>
            </a:avLst>
          </a:prstGeom>
          <a:solidFill>
            <a:srgbClr val="271C24"/>
          </a:solidFill>
          <a:ln w="12700">
            <a:solidFill>
              <a:srgbClr val="704252"/>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0" name="Rounded Rectangle 11"/>
          <p:cNvSpPr/>
          <p:nvPr/>
        </p:nvSpPr>
        <p:spPr>
          <a:xfrm>
            <a:off x="6537960" y="2286000"/>
            <a:ext cx="1737000" cy="292320"/>
          </a:xfrm>
          <a:prstGeom prst="roundRect">
            <a:avLst>
              <a:gd name="adj" fmla="val 16667"/>
            </a:avLst>
          </a:prstGeom>
          <a:solidFill>
            <a:srgbClr val="FF7382"/>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1" name="TextBox 12"/>
          <p:cNvSpPr/>
          <p:nvPr/>
        </p:nvSpPr>
        <p:spPr>
          <a:xfrm>
            <a:off x="6574680" y="2304360"/>
            <a:ext cx="166392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BEFORE EXPOSING IT</a:t>
            </a:r>
            <a:endParaRPr lang="en-US" sz="900" b="0" u="none" strike="noStrike">
              <a:solidFill>
                <a:srgbClr val="FFFFFF"/>
              </a:solidFill>
              <a:effectLst/>
              <a:uFillTx/>
              <a:latin typeface="Arial"/>
            </a:endParaRPr>
          </a:p>
        </p:txBody>
      </p:sp>
      <p:sp>
        <p:nvSpPr>
          <p:cNvPr id="332" name="TextBox 13"/>
          <p:cNvSpPr/>
          <p:nvPr/>
        </p:nvSpPr>
        <p:spPr>
          <a:xfrm>
            <a:off x="6537960" y="2834640"/>
            <a:ext cx="4617360" cy="2011320"/>
          </a:xfrm>
          <a:prstGeom prst="rect">
            <a:avLst/>
          </a:prstGeom>
          <a:noFill/>
          <a:ln w="0">
            <a:noFill/>
          </a:ln>
        </p:spPr>
        <p:style>
          <a:lnRef idx="0"/>
          <a:fillRef idx="0"/>
          <a:effectRef idx="0"/>
          <a:fontRef idx="minor"/>
        </p:style>
        <p:txBody>
          <a:bodyPr lIns="45720" tIns="27360" rIns="45720" bIns="27360" anchor="t">
            <a:spAutoFit/>
          </a:bodyPr>
          <a:p>
            <a:pPr defTabSz="457200">
              <a:lnSpc>
                <a:spcPct val="100000"/>
              </a:lnSpc>
              <a:spcAft>
                <a:spcPts val="1301"/>
              </a:spcAft>
            </a:pPr>
            <a:r>
              <a:rPr lang="en-US" sz="1200" b="0" u="none" strike="noStrike">
                <a:solidFill>
                  <a:srgbClr val="FF7382"/>
                </a:solidFill>
                <a:effectLst/>
                <a:uFillTx/>
                <a:latin typeface="Aptos"/>
              </a:rPr>
              <a:t>●  </a:t>
            </a:r>
            <a:r>
              <a:rPr lang="en-US" sz="1300" b="0" u="none" strike="noStrike">
                <a:solidFill>
                  <a:srgbClr val="F4F7FF"/>
                </a:solidFill>
                <a:effectLst/>
                <a:uFillTx/>
                <a:latin typeface="Aptos"/>
              </a:rPr>
              <a:t>Authentication and authorization</a:t>
            </a:r>
            <a:endParaRPr lang="en-US" sz="1300" b="0" u="none" strike="noStrike">
              <a:solidFill>
                <a:srgbClr val="FFFFFF"/>
              </a:solidFill>
              <a:effectLst/>
              <a:uFillTx/>
              <a:latin typeface="Arial"/>
            </a:endParaRPr>
          </a:p>
          <a:p>
            <a:pPr defTabSz="457200">
              <a:lnSpc>
                <a:spcPct val="100000"/>
              </a:lnSpc>
              <a:spcAft>
                <a:spcPts val="1301"/>
              </a:spcAft>
            </a:pPr>
            <a:r>
              <a:rPr lang="en-US" sz="1200" b="0" u="none" strike="noStrike">
                <a:solidFill>
                  <a:srgbClr val="FF7382"/>
                </a:solidFill>
                <a:effectLst/>
                <a:uFillTx/>
                <a:latin typeface="Aptos"/>
              </a:rPr>
              <a:t>●  </a:t>
            </a:r>
            <a:r>
              <a:rPr lang="en-US" sz="1300" b="0" u="none" strike="noStrike">
                <a:solidFill>
                  <a:srgbClr val="F4F7FF"/>
                </a:solidFill>
                <a:effectLst/>
                <a:uFillTx/>
                <a:latin typeface="Aptos"/>
              </a:rPr>
              <a:t>Tenant-scoped retrieval and access controls</a:t>
            </a:r>
            <a:endParaRPr lang="en-US" sz="1300" b="0" u="none" strike="noStrike">
              <a:solidFill>
                <a:srgbClr val="FFFFFF"/>
              </a:solidFill>
              <a:effectLst/>
              <a:uFillTx/>
              <a:latin typeface="Arial"/>
            </a:endParaRPr>
          </a:p>
          <a:p>
            <a:pPr defTabSz="457200">
              <a:lnSpc>
                <a:spcPct val="100000"/>
              </a:lnSpc>
              <a:spcAft>
                <a:spcPts val="1301"/>
              </a:spcAft>
            </a:pPr>
            <a:r>
              <a:rPr lang="en-US" sz="1200" b="0" u="none" strike="noStrike">
                <a:solidFill>
                  <a:srgbClr val="FF7382"/>
                </a:solidFill>
                <a:effectLst/>
                <a:uFillTx/>
                <a:latin typeface="Aptos"/>
              </a:rPr>
              <a:t>●  </a:t>
            </a:r>
            <a:r>
              <a:rPr lang="en-US" sz="1300" b="0" u="none" strike="noStrike">
                <a:solidFill>
                  <a:srgbClr val="F4F7FF"/>
                </a:solidFill>
                <a:effectLst/>
                <a:uFillTx/>
                <a:latin typeface="Aptos"/>
              </a:rPr>
              <a:t>TLS, secret management and monitoring</a:t>
            </a:r>
            <a:endParaRPr lang="en-US" sz="1300" b="0" u="none" strike="noStrike">
              <a:solidFill>
                <a:srgbClr val="FFFFFF"/>
              </a:solidFill>
              <a:effectLst/>
              <a:uFillTx/>
              <a:latin typeface="Arial"/>
            </a:endParaRPr>
          </a:p>
          <a:p>
            <a:pPr defTabSz="457200">
              <a:lnSpc>
                <a:spcPct val="100000"/>
              </a:lnSpc>
              <a:spcAft>
                <a:spcPts val="1301"/>
              </a:spcAft>
            </a:pPr>
            <a:r>
              <a:rPr lang="en-US" sz="1200" b="0" u="none" strike="noStrike">
                <a:solidFill>
                  <a:srgbClr val="FF7382"/>
                </a:solidFill>
                <a:effectLst/>
                <a:uFillTx/>
                <a:latin typeface="Aptos"/>
              </a:rPr>
              <a:t>●  </a:t>
            </a:r>
            <a:r>
              <a:rPr lang="en-US" sz="1300" b="0" u="none" strike="noStrike">
                <a:solidFill>
                  <a:srgbClr val="F4F7FF"/>
                </a:solidFill>
                <a:effectLst/>
                <a:uFillTx/>
                <a:latin typeface="Aptos"/>
              </a:rPr>
              <a:t>Backups, retention and capacity planning</a:t>
            </a:r>
            <a:endParaRPr lang="en-US" sz="1300" b="0" u="none" strike="noStrike">
              <a:solidFill>
                <a:srgbClr val="FFFFFF"/>
              </a:solidFill>
              <a:effectLst/>
              <a:uFillTx/>
              <a:latin typeface="Arial"/>
            </a:endParaRPr>
          </a:p>
        </p:txBody>
      </p:sp>
      <p:sp>
        <p:nvSpPr>
          <p:cNvPr id="333" name="Rounded Rectangle 14"/>
          <p:cNvSpPr/>
          <p:nvPr/>
        </p:nvSpPr>
        <p:spPr>
          <a:xfrm>
            <a:off x="1097280" y="5806440"/>
            <a:ext cx="10012320" cy="456840"/>
          </a:xfrm>
          <a:prstGeom prst="roundRect">
            <a:avLst>
              <a:gd name="adj" fmla="val 16667"/>
            </a:avLst>
          </a:prstGeom>
          <a:solidFill>
            <a:srgbClr val="2A1E1D"/>
          </a:solidFill>
          <a:ln w="12700">
            <a:solidFill>
              <a:srgbClr val="734E37"/>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34" name="TextBox 15"/>
          <p:cNvSpPr/>
          <p:nvPr/>
        </p:nvSpPr>
        <p:spPr>
          <a:xfrm>
            <a:off x="1325880" y="5925240"/>
            <a:ext cx="9555120" cy="200880"/>
          </a:xfrm>
          <a:prstGeom prst="rect">
            <a:avLst/>
          </a:prstGeom>
          <a:noFill/>
          <a:ln w="0">
            <a:noFill/>
          </a:ln>
        </p:spPr>
        <p:style>
          <a:lnRef idx="0"/>
          <a:fillRef idx="0"/>
          <a:effectRef idx="0"/>
          <a:fontRef idx="minor"/>
        </p:style>
        <p:txBody>
          <a:bodyPr lIns="36720" tIns="36720" rIns="36720" bIns="36720" anchor="t">
            <a:spAutoFit/>
          </a:bodyPr>
          <a:p>
            <a:pPr algn="ctr" defTabSz="457200">
              <a:lnSpc>
                <a:spcPct val="100000"/>
              </a:lnSpc>
              <a:spcAft>
                <a:spcPts val="400"/>
              </a:spcAft>
            </a:pPr>
            <a:r>
              <a:rPr lang="en-US" sz="1100" b="1" u="none" strike="noStrike">
                <a:solidFill>
                  <a:srgbClr val="FFB55B"/>
                </a:solidFill>
                <a:effectLst/>
                <a:uFillTx/>
                <a:latin typeface="Aptos"/>
              </a:rPr>
              <a:t>System prompts and similarity thresholds are not security boundaries; the support prompt is not a moderation plugin.</a:t>
            </a:r>
            <a:endParaRPr lang="en-US" sz="11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020"/>
        </a:solidFill>
      </p:bgPr>
    </p:bg>
    <p:spTree>
      <p:nvGrpSpPr>
        <p:cNvPr id="1" name=""/>
        <p:cNvGrpSpPr/>
        <p:nvPr/>
      </p:nvGrpSpPr>
      <p:grpSpPr>
        <a:xfrm>
          <a:off x="0" y="0"/>
          <a:ext cx="0" cy="0"/>
          <a:chOff x="0" y="0"/>
          <a:chExt cx="0" cy="0"/>
        </a:xfrm>
      </p:grpSpPr>
      <p:sp>
        <p:nvSpPr>
          <p:cNvPr id="335" name="TextBox 1"/>
          <p:cNvSpPr/>
          <p:nvPr/>
        </p:nvSpPr>
        <p:spPr>
          <a:xfrm>
            <a:off x="567000" y="320040"/>
            <a:ext cx="4937400" cy="2556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1" u="none" strike="noStrike">
                <a:solidFill>
                  <a:srgbClr val="42D3E6"/>
                </a:solidFill>
                <a:effectLst/>
                <a:uFillTx/>
                <a:latin typeface="Aptos"/>
              </a:rPr>
              <a:t>10 • WRAP-UP</a:t>
            </a:r>
            <a:endParaRPr lang="en-US" sz="1000" b="0" u="none" strike="noStrike">
              <a:solidFill>
                <a:srgbClr val="FFFFFF"/>
              </a:solidFill>
              <a:effectLst/>
              <a:uFillTx/>
              <a:latin typeface="Arial"/>
            </a:endParaRPr>
          </a:p>
        </p:txBody>
      </p:sp>
      <p:sp>
        <p:nvSpPr>
          <p:cNvPr id="336" name="TextBox 2"/>
          <p:cNvSpPr/>
          <p:nvPr/>
        </p:nvSpPr>
        <p:spPr>
          <a:xfrm>
            <a:off x="567000" y="658440"/>
            <a:ext cx="10972440" cy="5025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2700" b="1" u="none" strike="noStrike">
                <a:solidFill>
                  <a:srgbClr val="F4F7FF"/>
                </a:solidFill>
                <a:effectLst/>
                <a:uFillTx/>
                <a:latin typeface="Aptos"/>
              </a:rPr>
              <a:t>Takeaways and a practical walkthrough</a:t>
            </a:r>
            <a:endParaRPr lang="en-US" sz="2700" b="0" u="none" strike="noStrike">
              <a:solidFill>
                <a:srgbClr val="FFFFFF"/>
              </a:solidFill>
              <a:effectLst/>
              <a:uFillTx/>
              <a:latin typeface="Arial"/>
            </a:endParaRPr>
          </a:p>
        </p:txBody>
      </p:sp>
      <p:sp>
        <p:nvSpPr>
          <p:cNvPr id="337" name="TextBox 3"/>
          <p:cNvSpPr/>
          <p:nvPr/>
        </p:nvSpPr>
        <p:spPr>
          <a:xfrm>
            <a:off x="585360" y="1197720"/>
            <a:ext cx="10972440" cy="3837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200" b="0" u="none" strike="noStrike">
                <a:solidFill>
                  <a:srgbClr val="AEBBD3"/>
                </a:solidFill>
                <a:effectLst/>
                <a:uFillTx/>
                <a:latin typeface="Aptos"/>
              </a:rPr>
              <a:t>Keep the client API consistent while making retrieval and model connectivity selectable.</a:t>
            </a:r>
            <a:endParaRPr lang="en-US" sz="1200" b="0" u="none" strike="noStrike">
              <a:solidFill>
                <a:srgbClr val="FFFFFF"/>
              </a:solidFill>
              <a:effectLst/>
              <a:uFillTx/>
              <a:latin typeface="Arial"/>
            </a:endParaRPr>
          </a:p>
        </p:txBody>
      </p:sp>
      <p:sp>
        <p:nvSpPr>
          <p:cNvPr id="338" name="Rectangle 4"/>
          <p:cNvSpPr/>
          <p:nvPr/>
        </p:nvSpPr>
        <p:spPr>
          <a:xfrm>
            <a:off x="585360" y="1664280"/>
            <a:ext cx="776880" cy="40680"/>
          </a:xfrm>
          <a:prstGeom prst="rect">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sp>
        <p:nvSpPr>
          <p:cNvPr id="339" name="TextBox 5"/>
          <p:cNvSpPr/>
          <p:nvPr/>
        </p:nvSpPr>
        <p:spPr>
          <a:xfrm>
            <a:off x="585360" y="6510600"/>
            <a:ext cx="6400440" cy="1641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800" b="1" u="none" strike="noStrike">
                <a:solidFill>
                  <a:srgbClr val="AEBBD3"/>
                </a:solidFill>
                <a:effectLst/>
                <a:uFillTx/>
                <a:latin typeface="Aptos"/>
              </a:rPr>
              <a:t>KONG CHATBOT ARCHITECTURE   •   10 / 10</a:t>
            </a:r>
            <a:endParaRPr lang="en-US" sz="800" b="0" u="none" strike="noStrike">
              <a:solidFill>
                <a:srgbClr val="FFFFFF"/>
              </a:solidFill>
              <a:effectLst/>
              <a:uFillTx/>
              <a:latin typeface="Arial"/>
            </a:endParaRPr>
          </a:p>
        </p:txBody>
      </p:sp>
      <p:sp>
        <p:nvSpPr>
          <p:cNvPr id="340" name="Rounded Rectangle 6"/>
          <p:cNvSpPr/>
          <p:nvPr/>
        </p:nvSpPr>
        <p:spPr>
          <a:xfrm>
            <a:off x="685800" y="1965960"/>
            <a:ext cx="5623200" cy="56664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1" name="TextBox 7"/>
          <p:cNvSpPr/>
          <p:nvPr/>
        </p:nvSpPr>
        <p:spPr>
          <a:xfrm>
            <a:off x="914400" y="2103120"/>
            <a:ext cx="1691280" cy="21924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300" b="1" u="none" strike="noStrike">
                <a:solidFill>
                  <a:srgbClr val="42D3E6"/>
                </a:solidFill>
                <a:effectLst/>
                <a:uFillTx/>
                <a:latin typeface="Aptos"/>
              </a:rPr>
              <a:t>RAG</a:t>
            </a:r>
            <a:endParaRPr lang="en-US" sz="1300" b="0" u="none" strike="noStrike">
              <a:solidFill>
                <a:srgbClr val="FFFFFF"/>
              </a:solidFill>
              <a:effectLst/>
              <a:uFillTx/>
              <a:latin typeface="Arial"/>
            </a:endParaRPr>
          </a:p>
        </p:txBody>
      </p:sp>
      <p:sp>
        <p:nvSpPr>
          <p:cNvPr id="342" name="TextBox 8"/>
          <p:cNvSpPr/>
          <p:nvPr/>
        </p:nvSpPr>
        <p:spPr>
          <a:xfrm>
            <a:off x="2560320" y="2066400"/>
            <a:ext cx="3474360" cy="3564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100" b="0" u="none" strike="noStrike">
                <a:solidFill>
                  <a:srgbClr val="F4F7FF"/>
                </a:solidFill>
                <a:effectLst/>
                <a:uFillTx/>
                <a:latin typeface="Aptos"/>
              </a:rPr>
              <a:t>supplies project knowledge and makes source-grounded answers easier to trace.</a:t>
            </a:r>
            <a:endParaRPr lang="en-US" sz="1100" b="0" u="none" strike="noStrike">
              <a:solidFill>
                <a:srgbClr val="FFFFFF"/>
              </a:solidFill>
              <a:effectLst/>
              <a:uFillTx/>
              <a:latin typeface="Arial"/>
            </a:endParaRPr>
          </a:p>
        </p:txBody>
      </p:sp>
      <p:sp>
        <p:nvSpPr>
          <p:cNvPr id="343" name="Rounded Rectangle 9"/>
          <p:cNvSpPr/>
          <p:nvPr/>
        </p:nvSpPr>
        <p:spPr>
          <a:xfrm>
            <a:off x="685800" y="2679120"/>
            <a:ext cx="5623200" cy="56664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4" name="TextBox 10"/>
          <p:cNvSpPr/>
          <p:nvPr/>
        </p:nvSpPr>
        <p:spPr>
          <a:xfrm>
            <a:off x="914400" y="2816280"/>
            <a:ext cx="1691280" cy="21924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300" b="1" u="none" strike="noStrike">
                <a:solidFill>
                  <a:srgbClr val="A07DFF"/>
                </a:solidFill>
                <a:effectLst/>
                <a:uFillTx/>
                <a:latin typeface="Aptos"/>
              </a:rPr>
              <a:t>Kong Gateway</a:t>
            </a:r>
            <a:endParaRPr lang="en-US" sz="1300" b="0" u="none" strike="noStrike">
              <a:solidFill>
                <a:srgbClr val="FFFFFF"/>
              </a:solidFill>
              <a:effectLst/>
              <a:uFillTx/>
              <a:latin typeface="Arial"/>
            </a:endParaRPr>
          </a:p>
        </p:txBody>
      </p:sp>
      <p:sp>
        <p:nvSpPr>
          <p:cNvPr id="345" name="TextBox 11"/>
          <p:cNvSpPr/>
          <p:nvPr/>
        </p:nvSpPr>
        <p:spPr>
          <a:xfrm>
            <a:off x="2560320" y="2779920"/>
            <a:ext cx="3474360" cy="3564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100" b="0" u="none" strike="noStrike">
                <a:solidFill>
                  <a:srgbClr val="F4F7FF"/>
                </a:solidFill>
                <a:effectLst/>
                <a:uFillTx/>
                <a:latin typeface="Aptos"/>
              </a:rPr>
              <a:t>is the shared traffic boundary; Konnect adds centrally managed AI Gateway plugins.</a:t>
            </a:r>
            <a:endParaRPr lang="en-US" sz="1100" b="0" u="none" strike="noStrike">
              <a:solidFill>
                <a:srgbClr val="FFFFFF"/>
              </a:solidFill>
              <a:effectLst/>
              <a:uFillTx/>
              <a:latin typeface="Arial"/>
            </a:endParaRPr>
          </a:p>
        </p:txBody>
      </p:sp>
      <p:sp>
        <p:nvSpPr>
          <p:cNvPr id="346" name="Rounded Rectangle 12"/>
          <p:cNvSpPr/>
          <p:nvPr/>
        </p:nvSpPr>
        <p:spPr>
          <a:xfrm>
            <a:off x="685800" y="3392280"/>
            <a:ext cx="5623200" cy="56664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47" name="TextBox 13"/>
          <p:cNvSpPr/>
          <p:nvPr/>
        </p:nvSpPr>
        <p:spPr>
          <a:xfrm>
            <a:off x="914400" y="3529440"/>
            <a:ext cx="1691280" cy="21924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300" b="1" u="none" strike="noStrike">
                <a:solidFill>
                  <a:srgbClr val="42D3E6"/>
                </a:solidFill>
                <a:effectLst/>
                <a:uFillTx/>
                <a:latin typeface="Aptos"/>
              </a:rPr>
              <a:t>Spring Boot</a:t>
            </a:r>
            <a:endParaRPr lang="en-US" sz="1300" b="0" u="none" strike="noStrike">
              <a:solidFill>
                <a:srgbClr val="FFFFFF"/>
              </a:solidFill>
              <a:effectLst/>
              <a:uFillTx/>
              <a:latin typeface="Arial"/>
            </a:endParaRPr>
          </a:p>
        </p:txBody>
      </p:sp>
      <p:sp>
        <p:nvSpPr>
          <p:cNvPr id="348" name="TextBox 14"/>
          <p:cNvSpPr/>
          <p:nvPr/>
        </p:nvSpPr>
        <p:spPr>
          <a:xfrm>
            <a:off x="2560320" y="3493080"/>
            <a:ext cx="3474360" cy="3564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100" b="0" u="none" strike="noStrike">
                <a:solidFill>
                  <a:srgbClr val="F4F7FF"/>
                </a:solidFill>
                <a:effectLst/>
                <a:uFillTx/>
                <a:latin typeface="Aptos"/>
              </a:rPr>
              <a:t>owns the stable API and coordinates chat behavior across both modes.</a:t>
            </a:r>
            <a:endParaRPr lang="en-US" sz="1100" b="0" u="none" strike="noStrike">
              <a:solidFill>
                <a:srgbClr val="FFFFFF"/>
              </a:solidFill>
              <a:effectLst/>
              <a:uFillTx/>
              <a:latin typeface="Arial"/>
            </a:endParaRPr>
          </a:p>
        </p:txBody>
      </p:sp>
      <p:sp>
        <p:nvSpPr>
          <p:cNvPr id="349" name="Rounded Rectangle 15"/>
          <p:cNvSpPr/>
          <p:nvPr/>
        </p:nvSpPr>
        <p:spPr>
          <a:xfrm>
            <a:off x="685800" y="4105800"/>
            <a:ext cx="5623200" cy="56664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0" name="TextBox 16"/>
          <p:cNvSpPr/>
          <p:nvPr/>
        </p:nvSpPr>
        <p:spPr>
          <a:xfrm>
            <a:off x="914400" y="4242960"/>
            <a:ext cx="1691280" cy="21924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300" b="1" u="none" strike="noStrike">
                <a:solidFill>
                  <a:srgbClr val="A07DFF"/>
                </a:solidFill>
                <a:effectLst/>
                <a:uFillTx/>
                <a:latin typeface="Aptos"/>
              </a:rPr>
              <a:t>Infrastructure as Code</a:t>
            </a:r>
            <a:endParaRPr lang="en-US" sz="1300" b="0" u="none" strike="noStrike">
              <a:solidFill>
                <a:srgbClr val="FFFFFF"/>
              </a:solidFill>
              <a:effectLst/>
              <a:uFillTx/>
              <a:latin typeface="Arial"/>
            </a:endParaRPr>
          </a:p>
        </p:txBody>
      </p:sp>
      <p:sp>
        <p:nvSpPr>
          <p:cNvPr id="351" name="TextBox 17"/>
          <p:cNvSpPr/>
          <p:nvPr/>
        </p:nvSpPr>
        <p:spPr>
          <a:xfrm>
            <a:off x="2560320" y="4206240"/>
            <a:ext cx="3474360" cy="35640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100" b="0" u="none" strike="noStrike">
                <a:solidFill>
                  <a:srgbClr val="F4F7FF"/>
                </a:solidFill>
                <a:effectLst/>
                <a:uFillTx/>
                <a:latin typeface="Aptos"/>
              </a:rPr>
              <a:t>captures repeatable development setup — production still needs platform-specific controls.</a:t>
            </a:r>
            <a:endParaRPr lang="en-US" sz="1100" b="0" u="none" strike="noStrike">
              <a:solidFill>
                <a:srgbClr val="FFFFFF"/>
              </a:solidFill>
              <a:effectLst/>
              <a:uFillTx/>
              <a:latin typeface="Arial"/>
            </a:endParaRPr>
          </a:p>
        </p:txBody>
      </p:sp>
      <p:sp>
        <p:nvSpPr>
          <p:cNvPr id="352" name="Rounded Rectangle 18"/>
          <p:cNvSpPr/>
          <p:nvPr/>
        </p:nvSpPr>
        <p:spPr>
          <a:xfrm>
            <a:off x="6720840" y="1965960"/>
            <a:ext cx="4800240" cy="3611520"/>
          </a:xfrm>
          <a:prstGeom prst="roundRect">
            <a:avLst>
              <a:gd name="adj" fmla="val 16667"/>
            </a:avLst>
          </a:prstGeom>
          <a:solidFill>
            <a:srgbClr val="101F2B"/>
          </a:solidFill>
          <a:ln w="12700">
            <a:solidFill>
              <a:srgbClr val="42D3E6"/>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3" name="Rounded Rectangle 19"/>
          <p:cNvSpPr/>
          <p:nvPr/>
        </p:nvSpPr>
        <p:spPr>
          <a:xfrm>
            <a:off x="7040880" y="2267640"/>
            <a:ext cx="1096920" cy="292320"/>
          </a:xfrm>
          <a:prstGeom prst="roundRect">
            <a:avLst>
              <a:gd name="adj" fmla="val 16667"/>
            </a:avLst>
          </a:prstGeom>
          <a:solidFill>
            <a:srgbClr val="48E0B8"/>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54" name="TextBox 20"/>
          <p:cNvSpPr/>
          <p:nvPr/>
        </p:nvSpPr>
        <p:spPr>
          <a:xfrm>
            <a:off x="7077600" y="2286000"/>
            <a:ext cx="1023840" cy="228240"/>
          </a:xfrm>
          <a:prstGeom prst="rect">
            <a:avLst/>
          </a:prstGeom>
          <a:noFill/>
          <a:ln w="0">
            <a:noFill/>
          </a:ln>
        </p:spPr>
        <p:style>
          <a:lnRef idx="0"/>
          <a:fillRef idx="0"/>
          <a:effectRef idx="0"/>
          <a:fontRef idx="minor"/>
        </p:style>
        <p:txBody>
          <a:bodyPr lIns="9000" tIns="9000" rIns="9000" bIns="9000" anchor="ctr">
            <a:spAutoFit/>
          </a:bodyPr>
          <a:p>
            <a:pPr algn="ctr" defTabSz="457200">
              <a:lnSpc>
                <a:spcPct val="100000"/>
              </a:lnSpc>
              <a:spcAft>
                <a:spcPts val="400"/>
              </a:spcAft>
            </a:pPr>
            <a:r>
              <a:rPr lang="en-US" sz="900" b="1" u="none" strike="noStrike">
                <a:solidFill>
                  <a:srgbClr val="0A1020"/>
                </a:solidFill>
                <a:effectLst/>
                <a:uFillTx/>
                <a:latin typeface="Aptos"/>
              </a:rPr>
              <a:t>LIVE DEMO</a:t>
            </a:r>
            <a:endParaRPr lang="en-US" sz="900" b="0" u="none" strike="noStrike">
              <a:solidFill>
                <a:srgbClr val="FFFFFF"/>
              </a:solidFill>
              <a:effectLst/>
              <a:uFillTx/>
              <a:latin typeface="Arial"/>
            </a:endParaRPr>
          </a:p>
        </p:txBody>
      </p:sp>
      <p:sp>
        <p:nvSpPr>
          <p:cNvPr id="355" name="TextBox 21"/>
          <p:cNvSpPr/>
          <p:nvPr/>
        </p:nvSpPr>
        <p:spPr>
          <a:xfrm>
            <a:off x="7059240" y="2788920"/>
            <a:ext cx="3840120" cy="2739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500" b="1" u="none" strike="noStrike">
                <a:solidFill>
                  <a:srgbClr val="F4F7FF"/>
                </a:solidFill>
                <a:effectLst/>
                <a:uFillTx/>
                <a:latin typeface="Aptos"/>
              </a:rPr>
              <a:t>1  Start the local stack</a:t>
            </a:r>
            <a:endParaRPr lang="en-US" sz="1500" b="0" u="none" strike="noStrike">
              <a:solidFill>
                <a:srgbClr val="FFFFFF"/>
              </a:solidFill>
              <a:effectLst/>
              <a:uFillTx/>
              <a:latin typeface="Arial"/>
            </a:endParaRPr>
          </a:p>
        </p:txBody>
      </p:sp>
      <p:sp>
        <p:nvSpPr>
          <p:cNvPr id="356" name="TextBox 22"/>
          <p:cNvSpPr/>
          <p:nvPr/>
        </p:nvSpPr>
        <p:spPr>
          <a:xfrm>
            <a:off x="7242120" y="3127320"/>
            <a:ext cx="3565800" cy="3196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600" b="1" u="none" strike="noStrike">
                <a:solidFill>
                  <a:srgbClr val="48E0B8"/>
                </a:solidFill>
                <a:effectLst/>
                <a:uFillTx/>
                <a:latin typeface="Aptos Mono"/>
              </a:rPr>
              <a:t>make up</a:t>
            </a:r>
            <a:endParaRPr lang="en-US" sz="1600" b="0" u="none" strike="noStrike">
              <a:solidFill>
                <a:srgbClr val="FFFFFF"/>
              </a:solidFill>
              <a:effectLst/>
              <a:uFillTx/>
              <a:latin typeface="Arial"/>
            </a:endParaRPr>
          </a:p>
        </p:txBody>
      </p:sp>
      <p:sp>
        <p:nvSpPr>
          <p:cNvPr id="357" name="TextBox 23"/>
          <p:cNvSpPr/>
          <p:nvPr/>
        </p:nvSpPr>
        <p:spPr>
          <a:xfrm>
            <a:off x="7059240" y="3657600"/>
            <a:ext cx="3977280" cy="2739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400" b="1" u="none" strike="noStrike">
                <a:solidFill>
                  <a:srgbClr val="F4F7FF"/>
                </a:solidFill>
                <a:effectLst/>
                <a:uFillTx/>
                <a:latin typeface="Aptos"/>
              </a:rPr>
              <a:t>2  Ask about the release checklist</a:t>
            </a:r>
            <a:endParaRPr lang="en-US" sz="1400" b="0" u="none" strike="noStrike">
              <a:solidFill>
                <a:srgbClr val="FFFFFF"/>
              </a:solidFill>
              <a:effectLst/>
              <a:uFillTx/>
              <a:latin typeface="Arial"/>
            </a:endParaRPr>
          </a:p>
        </p:txBody>
      </p:sp>
      <p:sp>
        <p:nvSpPr>
          <p:cNvPr id="358" name="TextBox 24"/>
          <p:cNvSpPr/>
          <p:nvPr/>
        </p:nvSpPr>
        <p:spPr>
          <a:xfrm>
            <a:off x="7242120" y="4005000"/>
            <a:ext cx="3565800" cy="2739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400" b="1" u="none" strike="noStrike">
                <a:solidFill>
                  <a:srgbClr val="42D3E6"/>
                </a:solidFill>
                <a:effectLst/>
                <a:uFillTx/>
                <a:latin typeface="Aptos Mono"/>
              </a:rPr>
              <a:t>POST /api/rag/chat</a:t>
            </a:r>
            <a:endParaRPr lang="en-US" sz="1400" b="0" u="none" strike="noStrike">
              <a:solidFill>
                <a:srgbClr val="FFFFFF"/>
              </a:solidFill>
              <a:effectLst/>
              <a:uFillTx/>
              <a:latin typeface="Arial"/>
            </a:endParaRPr>
          </a:p>
        </p:txBody>
      </p:sp>
      <p:sp>
        <p:nvSpPr>
          <p:cNvPr id="359" name="TextBox 25"/>
          <p:cNvSpPr/>
          <p:nvPr/>
        </p:nvSpPr>
        <p:spPr>
          <a:xfrm>
            <a:off x="7059240" y="4480560"/>
            <a:ext cx="3931560" cy="2739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400" b="1" u="none" strike="noStrike">
                <a:solidFill>
                  <a:srgbClr val="F4F7FF"/>
                </a:solidFill>
                <a:effectLst/>
                <a:uFillTx/>
                <a:latin typeface="Aptos"/>
              </a:rPr>
              <a:t>3  Contrast local vs. Konnect</a:t>
            </a:r>
            <a:endParaRPr lang="en-US" sz="1400" b="0" u="none" strike="noStrike">
              <a:solidFill>
                <a:srgbClr val="FFFFFF"/>
              </a:solidFill>
              <a:effectLst/>
              <a:uFillTx/>
              <a:latin typeface="Arial"/>
            </a:endParaRPr>
          </a:p>
        </p:txBody>
      </p:sp>
      <p:sp>
        <p:nvSpPr>
          <p:cNvPr id="360" name="TextBox 26"/>
          <p:cNvSpPr/>
          <p:nvPr/>
        </p:nvSpPr>
        <p:spPr>
          <a:xfrm>
            <a:off x="7242120" y="4892040"/>
            <a:ext cx="3885840" cy="43848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1000" b="0" u="none" strike="noStrike">
                <a:solidFill>
                  <a:srgbClr val="AEBBD3"/>
                </a:solidFill>
                <a:effectLst/>
                <a:uFillTx/>
                <a:latin typeface="Aptos Mono"/>
              </a:rPr>
              <a:t>{"message":"What is the project release checklist?"}</a:t>
            </a:r>
            <a:endParaRPr lang="en-US" sz="1000" b="0" u="none" strike="noStrike">
              <a:solidFill>
                <a:srgbClr val="FFFFFF"/>
              </a:solidFill>
              <a:effectLst/>
              <a:uFillTx/>
              <a:latin typeface="Arial"/>
            </a:endParaRPr>
          </a:p>
        </p:txBody>
      </p:sp>
      <p:sp>
        <p:nvSpPr>
          <p:cNvPr id="361" name="TextBox 27"/>
          <p:cNvSpPr/>
          <p:nvPr/>
        </p:nvSpPr>
        <p:spPr>
          <a:xfrm>
            <a:off x="777240" y="5961960"/>
            <a:ext cx="10698120" cy="383760"/>
          </a:xfrm>
          <a:prstGeom prst="rect">
            <a:avLst/>
          </a:prstGeom>
          <a:noFill/>
          <a:ln w="0">
            <a:noFill/>
          </a:ln>
        </p:spPr>
        <p:style>
          <a:lnRef idx="0"/>
          <a:fillRef idx="0"/>
          <a:effectRef idx="0"/>
          <a:fontRef idx="minor"/>
        </p:style>
        <p:txBody>
          <a:bodyPr lIns="36720" tIns="36720" rIns="36720" bIns="36720" anchor="t">
            <a:spAutoFit/>
          </a:bodyPr>
          <a:p>
            <a:pPr algn="ctr" defTabSz="457200">
              <a:lnSpc>
                <a:spcPct val="100000"/>
              </a:lnSpc>
              <a:spcAft>
                <a:spcPts val="400"/>
              </a:spcAft>
            </a:pPr>
            <a:r>
              <a:rPr lang="en-US" sz="900" b="0" u="none" strike="noStrike">
                <a:solidFill>
                  <a:srgbClr val="AEBBD3"/>
                </a:solidFill>
                <a:effectLst/>
                <a:uFillTx/>
                <a:latin typeface="Aptos"/>
              </a:rPr>
              <a:t>Project references: README.md • knowledge/local-mode.md • src/main/kotlin/org/jesperancinha/kong/chatbot/ • compose*.yaml • kong/local.yaml • terraform/ • scripts/configure-konnect.sh</a:t>
            </a:r>
            <a:endParaRPr lang="en-US" sz="9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0A1020"/>
        </a:solidFill>
      </p:bgPr>
    </p:bg>
    <p:spTree>
      <p:nvGrpSpPr>
        <p:cNvPr id="1" name=""/>
        <p:cNvGrpSpPr/>
        <p:nvPr/>
      </p:nvGrpSpPr>
      <p:grpSpPr>
        <a:xfrm>
          <a:off x="0" y="0"/>
          <a:ext cx="0" cy="0"/>
          <a:chOff x="0" y="0"/>
          <a:chExt cx="0" cy="0"/>
        </a:xfrm>
      </p:grpSpPr>
      <p:sp>
        <p:nvSpPr>
          <p:cNvPr id="362" name="TextBox 1"/>
          <p:cNvSpPr/>
          <p:nvPr/>
        </p:nvSpPr>
        <p:spPr>
          <a:xfrm>
            <a:off x="567000" y="320040"/>
            <a:ext cx="4937400" cy="22752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nl-NL" sz="1000" b="1" u="none" strike="noStrike">
                <a:solidFill>
                  <a:srgbClr val="42D3E6"/>
                </a:solidFill>
                <a:effectLst/>
                <a:uFillTx/>
                <a:latin typeface="Aptos"/>
              </a:rPr>
              <a:t>Bedankt!</a:t>
            </a:r>
            <a:endParaRPr lang="en-US" sz="1000" b="0" u="none" strike="noStrike">
              <a:solidFill>
                <a:srgbClr val="FFFFFF"/>
              </a:solidFill>
              <a:effectLst/>
              <a:uFillTx/>
              <a:latin typeface="Arial"/>
            </a:endParaRPr>
          </a:p>
        </p:txBody>
      </p:sp>
      <p:sp>
        <p:nvSpPr>
          <p:cNvPr id="363" name="TextBox 2"/>
          <p:cNvSpPr/>
          <p:nvPr/>
        </p:nvSpPr>
        <p:spPr>
          <a:xfrm>
            <a:off x="567000" y="658440"/>
            <a:ext cx="10972440" cy="5025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nl-NL" sz="2700" b="1" u="none" strike="noStrike">
                <a:solidFill>
                  <a:srgbClr val="F4F7FF"/>
                </a:solidFill>
                <a:effectLst/>
                <a:uFillTx/>
                <a:latin typeface="Aptos"/>
              </a:rPr>
              <a:t>Bedankt!</a:t>
            </a:r>
            <a:endParaRPr lang="en-US" sz="2700" b="0" u="none" strike="noStrike">
              <a:solidFill>
                <a:srgbClr val="FFFFFF"/>
              </a:solidFill>
              <a:effectLst/>
              <a:uFillTx/>
              <a:latin typeface="Arial"/>
            </a:endParaRPr>
          </a:p>
        </p:txBody>
      </p:sp>
      <p:sp>
        <p:nvSpPr>
          <p:cNvPr id="364" name="TextBox 3"/>
          <p:cNvSpPr/>
          <p:nvPr/>
        </p:nvSpPr>
        <p:spPr>
          <a:xfrm>
            <a:off x="585360" y="1197720"/>
            <a:ext cx="10972440" cy="25812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nl-NL" sz="1200" b="0" u="none" strike="noStrike">
                <a:solidFill>
                  <a:srgbClr val="AEBBD3"/>
                </a:solidFill>
                <a:effectLst/>
                <a:uFillTx/>
                <a:latin typeface="Aptos"/>
              </a:rPr>
              <a:t>Hoe combineer je API Gateway, IaC, Spring bij ontwikkeling van een RAG-chatbot</a:t>
            </a:r>
            <a:endParaRPr lang="en-US" sz="1200" b="0" u="none" strike="noStrike">
              <a:solidFill>
                <a:srgbClr val="FFFFFF"/>
              </a:solidFill>
              <a:effectLst/>
              <a:uFillTx/>
              <a:latin typeface="Arial"/>
            </a:endParaRPr>
          </a:p>
        </p:txBody>
      </p:sp>
      <p:sp>
        <p:nvSpPr>
          <p:cNvPr id="365" name="Rectangle 4"/>
          <p:cNvSpPr/>
          <p:nvPr/>
        </p:nvSpPr>
        <p:spPr>
          <a:xfrm>
            <a:off x="585360" y="1664280"/>
            <a:ext cx="776880" cy="40680"/>
          </a:xfrm>
          <a:prstGeom prst="rect">
            <a:avLst/>
          </a:prstGeom>
          <a:solidFill>
            <a:srgbClr val="42D3E6"/>
          </a:solidFill>
          <a:ln>
            <a:noFill/>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3960" rIns="90000" bIns="-3960" anchor="ctr">
            <a:noAutofit/>
          </a:bodyPr>
          <a:p>
            <a:endParaRPr lang="en-US" sz="1800" b="0" u="none" strike="noStrike">
              <a:solidFill>
                <a:schemeClr val="lt1"/>
              </a:solidFill>
              <a:effectLst/>
              <a:uFillTx/>
              <a:latin typeface="Calibri"/>
            </a:endParaRPr>
          </a:p>
        </p:txBody>
      </p:sp>
      <p:sp>
        <p:nvSpPr>
          <p:cNvPr id="366" name="TextBox 5"/>
          <p:cNvSpPr/>
          <p:nvPr/>
        </p:nvSpPr>
        <p:spPr>
          <a:xfrm>
            <a:off x="585360" y="6510600"/>
            <a:ext cx="6400440" cy="164160"/>
          </a:xfrm>
          <a:prstGeom prst="rect">
            <a:avLst/>
          </a:prstGeom>
          <a:noFill/>
          <a:ln w="0">
            <a:noFill/>
          </a:ln>
        </p:spPr>
        <p:style>
          <a:lnRef idx="0"/>
          <a:fillRef idx="0"/>
          <a:effectRef idx="0"/>
          <a:fontRef idx="minor"/>
        </p:style>
        <p:txBody>
          <a:bodyPr lIns="36720" tIns="36720" rIns="36720" bIns="36720" anchor="t">
            <a:spAutoFit/>
          </a:bodyPr>
          <a:p>
            <a:pPr defTabSz="457200">
              <a:lnSpc>
                <a:spcPct val="100000"/>
              </a:lnSpc>
              <a:spcAft>
                <a:spcPts val="400"/>
              </a:spcAft>
            </a:pPr>
            <a:r>
              <a:rPr lang="en-US" sz="800" b="1" u="none" strike="noStrike">
                <a:solidFill>
                  <a:srgbClr val="AEBBD3"/>
                </a:solidFill>
                <a:effectLst/>
                <a:uFillTx/>
                <a:latin typeface="Aptos"/>
              </a:rPr>
              <a:t>KONG CHATBOT ARCHITECTURE   •   01 / 10</a:t>
            </a:r>
            <a:endParaRPr lang="en-US" sz="800" b="0" u="none" strike="noStrike">
              <a:solidFill>
                <a:srgbClr val="FFFFFF"/>
              </a:solidFill>
              <a:effectLst/>
              <a:uFillTx/>
              <a:latin typeface="Arial"/>
            </a:endParaRPr>
          </a:p>
        </p:txBody>
      </p:sp>
      <p:sp>
        <p:nvSpPr>
          <p:cNvPr id="367" name="Rounded Rectangle 6"/>
          <p:cNvSpPr/>
          <p:nvPr/>
        </p:nvSpPr>
        <p:spPr>
          <a:xfrm>
            <a:off x="623160" y="1913040"/>
            <a:ext cx="10945080" cy="3977280"/>
          </a:xfrm>
          <a:prstGeom prst="roundRect">
            <a:avLst>
              <a:gd name="adj" fmla="val 16667"/>
            </a:avLst>
          </a:prstGeom>
          <a:solidFill>
            <a:srgbClr val="141D33"/>
          </a:solidFill>
          <a:ln w="12700">
            <a:solidFill>
              <a:srgbClr val="1A2641"/>
            </a:solidFill>
            <a:round/>
          </a:ln>
          <a:effectLst>
            <a:outerShdw blurRad="39960" dir="5400000" dist="23040" rotWithShape="0">
              <a:srgbClr val="000000">
                <a:alpha val="35000"/>
              </a:srgbClr>
            </a:outerShdw>
          </a:effectLst>
        </p:spPr>
        <p:style>
          <a:lnRef idx="1">
            <a:schemeClr val="accent1"/>
          </a:lnRef>
          <a:fillRef idx="3">
            <a:schemeClr val="accent1"/>
          </a:fillRef>
          <a:effectRef idx="2">
            <a:schemeClr val="accent1"/>
          </a:effectRef>
          <a:fontRef idx="minor"/>
        </p:style>
        <p:txBody>
          <a:bodyPr lIns="90000" tIns="45000" rIns="90000" bIns="45000" anchor="ctr">
            <a:noAutofit/>
          </a:bodyPr>
          <a:p>
            <a:endParaRPr lang="en-US" sz="1800" b="0" u="none" strike="noStrike">
              <a:solidFill>
                <a:schemeClr val="lt1"/>
              </a:solidFill>
              <a:effectLst/>
              <a:uFillTx/>
              <a:latin typeface="Calibri"/>
            </a:endParaRPr>
          </a:p>
        </p:txBody>
      </p:sp>
      <p:sp>
        <p:nvSpPr>
          <p:cNvPr id="368" name="TextBox 7"/>
          <p:cNvSpPr/>
          <p:nvPr/>
        </p:nvSpPr>
        <p:spPr>
          <a:xfrm>
            <a:off x="945720" y="2489400"/>
            <a:ext cx="10300320" cy="2824920"/>
          </a:xfrm>
          <a:prstGeom prst="rect">
            <a:avLst/>
          </a:prstGeom>
          <a:noFill/>
          <a:ln w="0">
            <a:noFill/>
          </a:ln>
        </p:spPr>
        <p:style>
          <a:lnRef idx="0"/>
          <a:fillRef idx="0"/>
          <a:effectRef idx="0"/>
          <a:fontRef idx="minor"/>
        </p:style>
        <p:txBody>
          <a:bodyPr lIns="45720" tIns="27360" rIns="45720" bIns="27360" anchor="t">
            <a:spAutoFit/>
          </a:bodyPr>
          <a:p>
            <a:pPr defTabSz="457200">
              <a:lnSpc>
                <a:spcPct val="100000"/>
              </a:lnSpc>
            </a:pPr>
            <a:r>
              <a:rPr lang="nl-NL" sz="1800" b="1" u="none" strike="noStrike">
                <a:solidFill>
                  <a:schemeClr val="lt1"/>
                </a:solidFill>
                <a:effectLst/>
                <a:uFillTx/>
                <a:latin typeface="Calibri"/>
              </a:rPr>
              <a:t>Build a RAG Chatbot with Kong AI Gateway</a:t>
            </a:r>
            <a:br>
              <a:rPr sz="1800"/>
            </a:br>
            <a:r>
              <a:rPr lang="nl-NL" sz="1800" b="1" u="none" strike="noStrike">
                <a:solidFill>
                  <a:schemeClr val="lt1"/>
                </a:solidFill>
                <a:effectLst/>
                <a:uFillTx/>
                <a:latin typeface="Calibri"/>
              </a:rPr>
              <a:t>Explore the project behind this presentation.</a:t>
            </a:r>
            <a:br>
              <a:rPr sz="1800"/>
            </a:br>
            <a:r>
              <a:rPr lang="nl-NL" sz="1800" b="1" u="none" strike="noStrike">
                <a:solidFill>
                  <a:schemeClr val="lt1"/>
                </a:solidFill>
                <a:effectLst/>
                <a:uFillTx/>
                <a:latin typeface="Calibri"/>
              </a:rPr>
              <a:t>- Retrieval-Augmented Generation (RAG)</a:t>
            </a:r>
            <a:br>
              <a:rPr sz="1800"/>
            </a:br>
            <a:r>
              <a:rPr lang="nl-NL" sz="1800" b="1" u="none" strike="noStrike">
                <a:solidFill>
                  <a:schemeClr val="lt1"/>
                </a:solidFill>
                <a:effectLst/>
                <a:uFillTx/>
                <a:latin typeface="Calibri"/>
              </a:rPr>
              <a:t>- Application and gateway integration</a:t>
            </a:r>
            <a:br>
              <a:rPr sz="1800"/>
            </a:br>
            <a:r>
              <a:rPr lang="nl-NL" sz="1800" b="1" u="none" strike="noStrike">
                <a:solidFill>
                  <a:schemeClr val="lt1"/>
                </a:solidFill>
                <a:effectLst/>
                <a:uFillTx/>
                <a:latin typeface="Calibri"/>
              </a:rPr>
              <a:t>- Kotlin and Spring Boot</a:t>
            </a:r>
            <a:br>
              <a:rPr sz="1800"/>
            </a:br>
            <a:r>
              <a:rPr lang="nl-NL" sz="1800" b="1" u="none" strike="noStrike">
                <a:solidFill>
                  <a:schemeClr val="lt1"/>
                </a:solidFill>
                <a:effectLst/>
                <a:uFillTx/>
                <a:latin typeface="Calibri"/>
              </a:rPr>
              <a:t>- Practical implementation and deployment</a:t>
            </a:r>
            <a:br>
              <a:rPr sz="1800"/>
            </a:br>
            <a:br>
              <a:rPr sz="1800"/>
            </a:br>
            <a:r>
              <a:rPr lang="nl-NL" sz="1800" b="1" u="none" strike="noStrike">
                <a:solidFill>
                  <a:schemeClr val="lt1"/>
                </a:solidFill>
                <a:effectLst/>
                <a:uFillTx/>
                <a:latin typeface="Calibri"/>
              </a:rPr>
              <a:t>Explore the code on GitHub</a:t>
            </a:r>
            <a:br>
              <a:rPr sz="1800"/>
            </a:br>
            <a:br>
              <a:rPr sz="1800"/>
            </a:br>
            <a:r>
              <a:rPr lang="nl-NL" sz="1800" b="1" u="none" strike="noStrike">
                <a:solidFill>
                  <a:schemeClr val="lt1"/>
                </a:solidFill>
                <a:effectLst/>
                <a:uFillTx/>
                <a:latin typeface="Calibri"/>
              </a:rPr>
              <a:t>https://github.com/jesperancinha/kong-chatbot</a:t>
            </a:r>
            <a:endParaRPr lang="en-US" sz="1800" b="0" u="none" strike="noStrike">
              <a:solidFill>
                <a:srgbClr val="FFFFFF"/>
              </a:solidFill>
              <a:effectLst/>
              <a:uFillTx/>
              <a:latin typeface="Arial"/>
            </a:endParaRPr>
          </a:p>
        </p:txBody>
      </p:sp>
    </p:spTree>
  </p:cSld>
  <mc:AlternateContent>
    <mc:Choice Requires="p14">
      <p:transition spd="slow" p14:dur="2000"/>
    </mc:Choice>
    <mc:Fallback>
      <p:transition spd="slow"/>
    </mc:Fallback>
  </mc:AlternateContent>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pitchFamily="0" charset="1"/>
        <a:ea typeface=""/>
        <a:cs typeface=""/>
      </a:majorFont>
      <a:minorFont>
        <a:latin typeface="Calibri" pitchFamily="0" charset="1"/>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l="0" t="0" r="0" b="0"/>
        </a:gradFill>
        <a:gradFill>
          <a:gsLst>
            <a:gs pos="0">
              <a:schemeClr val="phClr">
                <a:tint val="100000"/>
                <a:shade val="100000"/>
              </a:schemeClr>
            </a:gs>
            <a:gs pos="100000">
              <a:schemeClr val="phClr">
                <a:tint val="50000"/>
                <a:shade val="100000"/>
              </a:schemeClr>
            </a:gs>
          </a:gsLst>
          <a:lin ang="16200000" scaled="0"/>
          <a:tileRect l="0" t="0" r="0" b="0"/>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l="0" t="0" r="0" b="0"/>
        </a:gradFill>
        <a:gradFill>
          <a:gsLst>
            <a:gs pos="0">
              <a:schemeClr val="phClr">
                <a:tint val="80000"/>
              </a:schemeClr>
            </a:gs>
            <a:gs pos="100000">
              <a:schemeClr val="phClr">
                <a:shade val="30000"/>
              </a:schemeClr>
            </a:gs>
          </a:gsLst>
          <a:path path="circle">
            <a:fillToRect l="50000" t="50000" r="50000" b="50000"/>
          </a:path>
          <a:tileRect l="0" t="0" r="0" b="0"/>
        </a:gradFill>
      </a:bgFillStyleLst>
    </a:fmtScheme>
  </a:themeElements>
</a:theme>
</file>

<file path=ppt/theme/theme12.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24</TotalTime>
  <Application>LibreOffice/26.2.6.3$Linux_X86_64 LibreOffice_project/620$Build-3</Application>
  <AppVersion>15.0000</AppVersion>
  <Words>2347</Words>
  <Paragraphs>208</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2013-01-27T09:14:16Z</dcterms:created>
  <dc:creator>OpenAI</dc:creator>
  <dc:description>generated using python-pptx</dc:description>
  <cp:keywords>Kong RAG Spring Boot Kotlin Konnect Terraform Ollama OpenAI</cp:keywords>
  <dc:language>en-US</dc:language>
  <cp:lastModifiedBy/>
  <dcterms:modified xsi:type="dcterms:W3CDTF">2026-10-25T18:48:21Z</dcterms:modified>
  <cp:revision>5</cp:revision>
  <dc:subject>RAG chatbot architecture: local and Konnect deployment modes</dc:subject>
  <dc:title>Kong Chatbot Architecture</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lassificationContentMarkingFooterLocations">
    <vt:lpwstr>Office Theme:10</vt:lpwstr>
  </property>
  <property fmtid="{D5CDD505-2E9C-101B-9397-08002B2CF9AE}" pid="3" name="ClassificationContentMarkingFooterText">
    <vt:lpwstr>Intern</vt:lpwstr>
  </property>
  <property fmtid="{D5CDD505-2E9C-101B-9397-08002B2CF9AE}" pid="4" name="ClassificationContentMarkingHeaderLocations">
    <vt:lpwstr>Office Theme:9</vt:lpwstr>
  </property>
  <property fmtid="{D5CDD505-2E9C-101B-9397-08002B2CF9AE}" pid="5" name="ClassificationContentMarkingHeaderText">
    <vt:lpwstr>Intern</vt:lpwstr>
  </property>
  <property fmtid="{D5CDD505-2E9C-101B-9397-08002B2CF9AE}" pid="6" name="MSIP_Label_fecb8965-26fb-4a97-9513-50d88672d46c_ActionId">
    <vt:lpwstr>59669667-8697-41d5-a3a6-57bc08da4061</vt:lpwstr>
  </property>
  <property fmtid="{D5CDD505-2E9C-101B-9397-08002B2CF9AE}" pid="7" name="MSIP_Label_fecb8965-26fb-4a97-9513-50d88672d46c_ContentBits">
    <vt:lpwstr>3</vt:lpwstr>
  </property>
  <property fmtid="{D5CDD505-2E9C-101B-9397-08002B2CF9AE}" pid="8" name="MSIP_Label_fecb8965-26fb-4a97-9513-50d88672d46c_Enabled">
    <vt:lpwstr>true</vt:lpwstr>
  </property>
  <property fmtid="{D5CDD505-2E9C-101B-9397-08002B2CF9AE}" pid="9" name="MSIP_Label_fecb8965-26fb-4a97-9513-50d88672d46c_Method">
    <vt:lpwstr>Standard</vt:lpwstr>
  </property>
  <property fmtid="{D5CDD505-2E9C-101B-9397-08002B2CF9AE}" pid="10" name="MSIP_Label_fecb8965-26fb-4a97-9513-50d88672d46c_Name">
    <vt:lpwstr>fecb8965-26fb-4a97-9513-50d88672d46c</vt:lpwstr>
  </property>
  <property fmtid="{D5CDD505-2E9C-101B-9397-08002B2CF9AE}" pid="11" name="MSIP_Label_fecb8965-26fb-4a97-9513-50d88672d46c_SetDate">
    <vt:lpwstr>2026-10-25T17:23:31Z</vt:lpwstr>
  </property>
  <property fmtid="{D5CDD505-2E9C-101B-9397-08002B2CF9AE}" pid="12" name="MSIP_Label_fecb8965-26fb-4a97-9513-50d88672d46c_SiteId">
    <vt:lpwstr>64458159-0d9a-4d84-966f-1a13c0ac7a34</vt:lpwstr>
  </property>
  <property fmtid="{D5CDD505-2E9C-101B-9397-08002B2CF9AE}" pid="13" name="MSIP_Label_fecb8965-26fb-4a97-9513-50d88672d46c_Tag">
    <vt:lpwstr>50, 3, 0, 1</vt:lpwstr>
  </property>
  <property fmtid="{D5CDD505-2E9C-101B-9397-08002B2CF9AE}" pid="14" name="Notes">
    <vt:i4>13</vt:i4>
  </property>
  <property fmtid="{D5CDD505-2E9C-101B-9397-08002B2CF9AE}" pid="15" name="PresentationFormat">
    <vt:lpwstr>Breedbeeld</vt:lpwstr>
  </property>
  <property fmtid="{D5CDD505-2E9C-101B-9397-08002B2CF9AE}" pid="16" name="Slides">
    <vt:i4>13</vt:i4>
  </property>
</Properties>
</file>